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58" r:id="rId5"/>
    <p:sldId id="286" r:id="rId6"/>
    <p:sldId id="287" r:id="rId7"/>
    <p:sldId id="288" r:id="rId8"/>
    <p:sldId id="267" r:id="rId9"/>
    <p:sldId id="271" r:id="rId10"/>
    <p:sldId id="273" r:id="rId11"/>
    <p:sldId id="265" r:id="rId12"/>
    <p:sldId id="289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e74ywXQ3WAx+gcgni+w7nXBvl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309EC6-4351-4FEB-B555-EB4D28657BB4}" v="25" dt="2025-11-10T04:33:11.518"/>
  </p1510:revLst>
</p1510:revInfo>
</file>

<file path=ppt/tableStyles.xml><?xml version="1.0" encoding="utf-8"?>
<a:tblStyleLst xmlns:a="http://schemas.openxmlformats.org/drawingml/2006/main" def="{70602FFC-E6F1-48FD-B3E5-CC246D8D6623}">
  <a:tblStyle styleId="{70602FFC-E6F1-48FD-B3E5-CC246D8D6623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5F8F902-6029-4759-B95E-2553FD537B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191AB95-B52D-2B6C-D389-383828B1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A3221B2-AAC7-8170-74AB-D5FF080F7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F483479-7950-9572-D9CC-6101B198A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479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1E31A4E-519E-1A97-902E-87F6DA97E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E9C21F3-FACF-E57C-9C96-5C9C15980F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D7DDF0E-75CD-5010-1E94-47FF61FFF4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95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8B5ADD9-AC45-8F38-45EC-D34EEAFC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A620089-54D5-078E-EA3B-586CEF662D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D1564D9-F6F8-69E3-13BB-E4A8CEC7B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472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2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2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2"/>
          <p:cNvPicPr preferRelativeResize="0"/>
          <p:nvPr/>
        </p:nvPicPr>
        <p:blipFill rotWithShape="1">
          <a:blip r:embed="rId11">
            <a:alphaModFix/>
          </a:blip>
          <a:srcRect b="18045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2400" dirty="0"/>
              <a:t>Smart Traffic Management System for Urban Congestion </a:t>
            </a: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US" sz="1800" dirty="0">
                <a:latin typeface="Cambria"/>
                <a:ea typeface="Cambria"/>
                <a:cs typeface="Cambria"/>
                <a:sym typeface="Cambria"/>
              </a:rPr>
              <a:t>Batch Number:</a:t>
            </a: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CSE_14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882128" y="2754072"/>
            <a:ext cx="4309872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100" b="1" u="sng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Under the Supervision of,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Ms. Kummara Sruthi</a:t>
            </a:r>
            <a:endParaRPr sz="1600" b="1" i="0" u="none" strike="noStrike" cap="none" dirty="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600" b="1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Assistant Professor</a:t>
            </a:r>
            <a:endParaRPr lang="en-US" sz="1600" b="1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School of Computer Science and Engineering</a:t>
            </a:r>
            <a:endParaRPr sz="16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</a:t>
            </a:r>
            <a:endParaRPr sz="16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0" name="Google Shape;90;p1"/>
          <p:cNvGraphicFramePr/>
          <p:nvPr>
            <p:extLst>
              <p:ext uri="{D42A27DB-BD31-4B8C-83A1-F6EECF244321}">
                <p14:modId xmlns:p14="http://schemas.microsoft.com/office/powerpoint/2010/main" val="2023123589"/>
              </p:ext>
            </p:extLst>
          </p:nvPr>
        </p:nvGraphicFramePr>
        <p:xfrm>
          <a:off x="553347" y="2793576"/>
          <a:ext cx="6825861" cy="14630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138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7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034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20221CSE0234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Syed Thousif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20221CSE0217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Gajjula Ashok Vardhan Reddy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20221CSE0211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 dirty="0"/>
                        <a:t>Kambam Nithin Kumar Reddy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CSE 7302</a:t>
            </a:r>
            <a:r>
              <a:rPr lang="en-US" sz="18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- </a:t>
            </a:r>
            <a:r>
              <a:rPr lang="en-US" sz="1800" b="1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University</a:t>
            </a:r>
            <a:r>
              <a:rPr lang="en-US" sz="18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 Project</a:t>
            </a:r>
            <a:endParaRPr sz="18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0" y="4619932"/>
            <a:ext cx="122499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Program: C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SE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lang="en-US" sz="18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Computer Science and Engineering 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HOD: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</a:t>
            </a:r>
            <a:r>
              <a:rPr lang="en-IN" sz="18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Asif Mohammed, Dr. Blessed Prince</a:t>
            </a:r>
            <a:endParaRPr dirty="0">
              <a:solidFill>
                <a:schemeClr val="dk1"/>
              </a:solidFill>
            </a:endParaRPr>
          </a:p>
          <a:p>
            <a:pPr lvl="0"/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 Project Coordinator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Jayavadivel Ravi</a:t>
            </a:r>
            <a:r>
              <a:rPr lang="en-IN" sz="1800" b="1" dirty="0"/>
              <a:t>, </a:t>
            </a:r>
            <a:r>
              <a:rPr lang="en-US" sz="1800" b="1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Mr. Muthuraju V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Sampath A K , Dr. Geetha A </a:t>
            </a:r>
            <a:endParaRPr sz="1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57460" y="1004157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Analysis and Design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Source Code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Technologies used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Timeline </a:t>
            </a:r>
            <a:r>
              <a:rPr lang="en-US" sz="7200" dirty="0">
                <a:latin typeface="Cambria"/>
                <a:ea typeface="Cambria"/>
                <a:cs typeface="Cambria"/>
                <a:sym typeface="Cambria"/>
              </a:rPr>
              <a:t>of the Project (Gantt Chart)</a:t>
            </a:r>
            <a:endParaRPr lang="en-US" sz="72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7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Abstract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48929" y="1170039"/>
            <a:ext cx="10989310" cy="4959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07884-FF29-959E-8002-7D546D99B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C3D8295-A843-4E6A-2B03-F8A47E4C9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093" y="1039828"/>
            <a:ext cx="11296146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Increasing traffic congestion and inefficient parking are major challenges in urban areas due to rapid vehicle growth.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Traditional traffic control systems are static and unable to handle real-time traffic conditions effectively.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The proposed Smart AI-Based Traffic and Parking Management System uses machine learning and computer vision technologies.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The system analyzes historical and live traffic data to predict congestion and optimize traffic flow.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Computer vision is used to detect available parking slots in real time.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Users can reserve parking spaces in advance, reducing unnecessary vehicle movement.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The system provides priority routing and signal optimization for emergency vehicles.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Overall, the proposed solution improves traffic efficiency, reduces congestion, enhances parking utilization, and supports smart city transportation initiatives.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4296697" y="255086"/>
            <a:ext cx="8727768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3200" u="sng" dirty="0">
                <a:latin typeface="Cambria"/>
                <a:ea typeface="Cambria"/>
                <a:cs typeface="Cambria"/>
                <a:sym typeface="Cambria"/>
              </a:rPr>
              <a:t> Objectives</a:t>
            </a: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629882" y="845574"/>
            <a:ext cx="10668000" cy="5348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39FA3-3B8F-5F22-7D8A-21BE73B45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3111"/>
            <a:ext cx="2295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4F109A-B1AC-83FD-7B19-258CF8B8F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8" y="1050750"/>
            <a:ext cx="10668000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To ensure high camera quality for capturing clear and detailed visuals under different lighting and weather conditions.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To enable real-time (dynamic time) monitoring for instant detection, processing, and response to on-road situations.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To provide intelligent security alerts by automatically identifying suspicious activities or abnormal events.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To accurately detect and prioritize emergency vehicles (ambulance, fire engine, police) for faster response and traffic management.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/>
              <a:t>To enhance public safety and emergency response efficiency through automated monitoring and alert mechanisms.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BA0189-5B52-CD64-45E9-564FDDD15D51}"/>
              </a:ext>
            </a:extLst>
          </p:cNvPr>
          <p:cNvSpPr txBox="1"/>
          <p:nvPr/>
        </p:nvSpPr>
        <p:spPr>
          <a:xfrm>
            <a:off x="3696929" y="0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  <a:spcBef>
                <a:spcPts val="0"/>
              </a:spcBef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Analysis and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649CD7-E90E-0350-DF70-C406DBACC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28" y="1083424"/>
            <a:ext cx="10070997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/>
              <a:t>Analysis</a:t>
            </a:r>
          </a:p>
          <a:p>
            <a:r>
              <a:rPr lang="en-US" sz="2000" dirty="0"/>
              <a:t>Identified issues: traffic congestion, parking shortage, static signal timing.</a:t>
            </a:r>
          </a:p>
          <a:p>
            <a:r>
              <a:rPr lang="en-US" sz="2000" dirty="0"/>
              <a:t>Existing systems lack real-time prediction and integrated parking solutions.</a:t>
            </a:r>
          </a:p>
          <a:p>
            <a:r>
              <a:rPr lang="en-US" sz="2000" dirty="0"/>
              <a:t>Requires AI-based prediction, smart signal control, and live parking updates.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/>
              <a:t>Design</a:t>
            </a:r>
          </a:p>
          <a:p>
            <a:r>
              <a:rPr lang="en-US" sz="2000" b="1" dirty="0"/>
              <a:t>Data Collection:</a:t>
            </a:r>
            <a:r>
              <a:rPr lang="en-US" sz="2000" dirty="0"/>
              <a:t> IoT sensors, cameras, GPS, historical data.</a:t>
            </a:r>
          </a:p>
          <a:p>
            <a:r>
              <a:rPr lang="en-US" sz="2000" b="1" dirty="0"/>
              <a:t>Processing &amp; Prediction:</a:t>
            </a:r>
            <a:r>
              <a:rPr lang="en-US" sz="2000" dirty="0"/>
              <a:t> Random Forest for congestion forecasting.</a:t>
            </a:r>
          </a:p>
          <a:p>
            <a:r>
              <a:rPr lang="en-US" sz="2000" b="1" dirty="0"/>
              <a:t>Parking Module:</a:t>
            </a:r>
            <a:r>
              <a:rPr lang="en-US" sz="2000" dirty="0"/>
              <a:t> Computer vision for slot detection.</a:t>
            </a:r>
          </a:p>
          <a:p>
            <a:r>
              <a:rPr lang="en-US" sz="2000" b="1" dirty="0"/>
              <a:t>Control System:</a:t>
            </a:r>
            <a:r>
              <a:rPr lang="en-US" sz="2000" dirty="0"/>
              <a:t> Dynamic signal optimization &amp; emergency priority.</a:t>
            </a:r>
          </a:p>
          <a:p>
            <a:r>
              <a:rPr lang="en-US" sz="2000" b="1" dirty="0"/>
              <a:t>Interface:</a:t>
            </a:r>
            <a:r>
              <a:rPr lang="en-US" sz="2000" dirty="0"/>
              <a:t> Real-time updates for users and admin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37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114B4-E9CF-32EB-6860-EA2C687E1907}"/>
              </a:ext>
            </a:extLst>
          </p:cNvPr>
          <p:cNvSpPr txBox="1"/>
          <p:nvPr/>
        </p:nvSpPr>
        <p:spPr>
          <a:xfrm>
            <a:off x="1140541" y="1238864"/>
            <a:ext cx="2823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b="1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848B6-7F84-97B9-C316-DF33289B0AE4}"/>
              </a:ext>
            </a:extLst>
          </p:cNvPr>
          <p:cNvSpPr txBox="1"/>
          <p:nvPr/>
        </p:nvSpPr>
        <p:spPr>
          <a:xfrm>
            <a:off x="3696930" y="-70855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  <a:spcBef>
                <a:spcPts val="0"/>
              </a:spcBef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Analysis and 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CD829E-24E3-63EC-B8A2-29CEFEA13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874" y="1060710"/>
            <a:ext cx="5061253" cy="505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2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B41BA-2307-446C-E99A-29A55331D919}"/>
              </a:ext>
            </a:extLst>
          </p:cNvPr>
          <p:cNvSpPr txBox="1"/>
          <p:nvPr/>
        </p:nvSpPr>
        <p:spPr>
          <a:xfrm>
            <a:off x="3696930" y="-70855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Source Code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8813B52-A905-5D3D-6DE4-5F0E47D59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072" y="920621"/>
            <a:ext cx="936185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Main File:</a:t>
            </a:r>
            <a:br>
              <a:rPr lang="en-IN" sz="2000" dirty="0"/>
            </a:br>
            <a:r>
              <a:rPr lang="en-IN" sz="2000" dirty="0"/>
              <a:t>• traffic.py – Contains Flask routes, ML logic, parking detection, and templates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Flask Routes:</a:t>
            </a:r>
            <a:br>
              <a:rPr lang="en-IN" sz="2000" dirty="0"/>
            </a:br>
            <a:r>
              <a:rPr lang="en-IN" sz="2000" dirty="0"/>
              <a:t>• /register, /login, /logout – User management</a:t>
            </a:r>
            <a:br>
              <a:rPr lang="en-IN" sz="2000" dirty="0"/>
            </a:br>
            <a:r>
              <a:rPr lang="en-IN" sz="2000" dirty="0"/>
              <a:t>• / – Dashboard (traffic + parking status)</a:t>
            </a:r>
            <a:br>
              <a:rPr lang="en-IN" sz="2000" dirty="0"/>
            </a:br>
            <a:r>
              <a:rPr lang="en-IN" sz="2000" dirty="0"/>
              <a:t>• /predict – Traffic congestion prediction</a:t>
            </a:r>
            <a:br>
              <a:rPr lang="en-IN" sz="2000" dirty="0"/>
            </a:br>
            <a:r>
              <a:rPr lang="en-IN" sz="2000" dirty="0"/>
              <a:t>• /parking_status – Parking slot detection</a:t>
            </a:r>
            <a:br>
              <a:rPr lang="en-IN" sz="2000" dirty="0"/>
            </a:br>
            <a:r>
              <a:rPr lang="en-IN" sz="2000" dirty="0"/>
              <a:t>• /user_history – View previous predictions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Core Functions:</a:t>
            </a:r>
            <a:br>
              <a:rPr lang="en-IN" sz="2000" dirty="0"/>
            </a:br>
            <a:r>
              <a:rPr lang="en-IN" sz="2000" dirty="0"/>
              <a:t>• load_traffic_model() – Load trained Random Forest model</a:t>
            </a:r>
            <a:br>
              <a:rPr lang="en-IN" sz="2000" dirty="0"/>
            </a:br>
            <a:r>
              <a:rPr lang="en-IN" sz="2000" dirty="0"/>
              <a:t>• predict_congestion() – Predict traffic level</a:t>
            </a:r>
            <a:br>
              <a:rPr lang="en-IN" sz="2000" dirty="0"/>
            </a:br>
            <a:r>
              <a:rPr lang="en-IN" sz="2000" dirty="0"/>
              <a:t>• detect_parking_slots() – OpenCV-based detection</a:t>
            </a:r>
            <a:br>
              <a:rPr lang="en-IN" sz="2000" dirty="0"/>
            </a:br>
            <a:r>
              <a:rPr lang="en-IN" sz="2000" dirty="0"/>
              <a:t>• optimize_signal() – Dynamic signal timing</a:t>
            </a:r>
            <a:br>
              <a:rPr lang="en-IN" sz="2000" dirty="0"/>
            </a:br>
            <a:r>
              <a:rPr lang="en-IN" sz="2000" dirty="0"/>
              <a:t>• prioritize_emergency() – Emergency vehicle routing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Technologies Used:</a:t>
            </a:r>
            <a:br>
              <a:rPr lang="en-IN" sz="2000" dirty="0"/>
            </a:br>
            <a:r>
              <a:rPr lang="en-IN" sz="2000" dirty="0"/>
              <a:t>• Random Forest • OpenCV • Flask • MySQL • NumPy • Pandas</a:t>
            </a:r>
          </a:p>
        </p:txBody>
      </p:sp>
    </p:spTree>
    <p:extLst>
      <p:ext uri="{BB962C8B-B14F-4D97-AF65-F5344CB8AC3E}">
        <p14:creationId xmlns:p14="http://schemas.microsoft.com/office/powerpoint/2010/main" val="3428613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9E3D144-C6CA-EC1C-EED9-F2AD8B8E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3AE59853-2A12-BF74-FF13-B11CA44198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3110" y="484372"/>
            <a:ext cx="8727768" cy="37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    </a:t>
            </a:r>
            <a:r>
              <a:rPr lang="en-US" sz="3200" u="sng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Modules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618CBA-91AD-B415-4D28-BF5C136EE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752750"/>
              </p:ext>
            </p:extLst>
          </p:nvPr>
        </p:nvGraphicFramePr>
        <p:xfrm>
          <a:off x="1413164" y="1326552"/>
          <a:ext cx="5994746" cy="3289900"/>
        </p:xfrm>
        <a:graphic>
          <a:graphicData uri="http://schemas.openxmlformats.org/drawingml/2006/table">
            <a:tbl>
              <a:tblPr>
                <a:tableStyleId>{70602FFC-E6F1-48FD-B3E5-CC246D8D6623}</a:tableStyleId>
              </a:tblPr>
              <a:tblGrid>
                <a:gridCol w="5994746">
                  <a:extLst>
                    <a:ext uri="{9D8B030D-6E8A-4147-A177-3AD203B41FA5}">
                      <a16:colId xmlns:a16="http://schemas.microsoft.com/office/drawing/2014/main" val="3376330943"/>
                    </a:ext>
                  </a:extLst>
                </a:gridCol>
              </a:tblGrid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9265645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9197889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2279435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9093266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5473590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29830700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50339127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3652748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0436475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802024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45430D6-4FE3-4BA9-2212-6DBA5D538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52" y="936010"/>
            <a:ext cx="9628632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Data Collection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Traffic Prediction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Parking Detection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Admin Module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User Module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Traffic Prediction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Parking Slot Detection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Route Recommendation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Traffic Signal Optimization</a:t>
            </a: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Admin &amp; User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402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55436D3-8F7A-F413-F26D-5345E4A16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4BBD6356-F635-1BF3-EE97-540135524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4244" y="799724"/>
            <a:ext cx="988797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200" dirty="0"/>
              <a:t>Technologies Used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B9637A-97FF-F2B7-10E9-79639D08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8" y="851037"/>
            <a:ext cx="9436608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Programming &amp; Framework</a:t>
            </a:r>
            <a:endParaRPr lang="en-IN" sz="2000" dirty="0"/>
          </a:p>
          <a:p>
            <a:r>
              <a:rPr lang="en-IN" sz="1800" dirty="0"/>
              <a:t>  Python</a:t>
            </a:r>
          </a:p>
          <a:p>
            <a:r>
              <a:rPr lang="en-IN" sz="1800" dirty="0"/>
              <a:t>  Flask (Web Framework)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Machine Learning</a:t>
            </a:r>
            <a:endParaRPr lang="en-IN" sz="2000" dirty="0"/>
          </a:p>
          <a:p>
            <a:r>
              <a:rPr lang="en-IN" sz="1800" dirty="0"/>
              <a:t>  Random Forest Algorithm</a:t>
            </a:r>
          </a:p>
          <a:p>
            <a:r>
              <a:rPr lang="en-IN" sz="1800" dirty="0"/>
              <a:t>  Scikit-learn</a:t>
            </a:r>
          </a:p>
          <a:p>
            <a:r>
              <a:rPr lang="en-IN" sz="1800" dirty="0"/>
              <a:t>  NumPy &amp; Pandas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Computer Vision</a:t>
            </a:r>
            <a:endParaRPr lang="en-IN" sz="2000" dirty="0"/>
          </a:p>
          <a:p>
            <a:r>
              <a:rPr lang="en-IN" sz="1800" dirty="0"/>
              <a:t>  OpenCV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Database</a:t>
            </a:r>
            <a:endParaRPr lang="en-IN" sz="2000" dirty="0"/>
          </a:p>
          <a:p>
            <a:r>
              <a:rPr lang="en-IN" sz="1800"/>
              <a:t>  MySQL</a:t>
            </a:r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Frontend</a:t>
            </a:r>
            <a:endParaRPr lang="en-IN" sz="2000" dirty="0"/>
          </a:p>
          <a:p>
            <a:r>
              <a:rPr lang="en-IN" sz="1800" dirty="0"/>
              <a:t>  HTML</a:t>
            </a:r>
          </a:p>
          <a:p>
            <a:r>
              <a:rPr lang="en-IN" sz="1800" dirty="0"/>
              <a:t>  CSS</a:t>
            </a:r>
          </a:p>
          <a:p>
            <a:r>
              <a:rPr lang="en-IN" sz="1800" dirty="0"/>
              <a:t>  JavaScript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/>
              <a:t>Tools</a:t>
            </a:r>
            <a:endParaRPr lang="en-IN" sz="2000" dirty="0"/>
          </a:p>
          <a:p>
            <a:r>
              <a:rPr lang="en-IN" sz="1800" dirty="0"/>
              <a:t>  VS Code</a:t>
            </a:r>
          </a:p>
          <a:p>
            <a:r>
              <a:rPr lang="en-IN" sz="1800" dirty="0"/>
              <a:t>   GitHub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06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4A274BD-692C-3C36-B933-42018A03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03B8733F-9939-1331-CBD2-79E44BCAA8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6852" y="839052"/>
            <a:ext cx="1259184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Timeline </a:t>
            </a:r>
            <a:r>
              <a:rPr lang="en-US" sz="3200" dirty="0">
                <a:latin typeface="Cambria"/>
                <a:ea typeface="Cambria"/>
                <a:cs typeface="Cambria"/>
                <a:sym typeface="Cambria"/>
              </a:rPr>
              <a:t>of the Project (Gantt Chart)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C0387E-2F94-9700-D996-2C9CFB767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66165"/>
              </p:ext>
            </p:extLst>
          </p:nvPr>
        </p:nvGraphicFramePr>
        <p:xfrm>
          <a:off x="320041" y="1403866"/>
          <a:ext cx="11420856" cy="4448295"/>
        </p:xfrm>
        <a:graphic>
          <a:graphicData uri="http://schemas.openxmlformats.org/drawingml/2006/table">
            <a:tbl>
              <a:tblPr/>
              <a:tblGrid>
                <a:gridCol w="1268984">
                  <a:extLst>
                    <a:ext uri="{9D8B030D-6E8A-4147-A177-3AD203B41FA5}">
                      <a16:colId xmlns:a16="http://schemas.microsoft.com/office/drawing/2014/main" val="2573539532"/>
                    </a:ext>
                  </a:extLst>
                </a:gridCol>
                <a:gridCol w="1268984">
                  <a:extLst>
                    <a:ext uri="{9D8B030D-6E8A-4147-A177-3AD203B41FA5}">
                      <a16:colId xmlns:a16="http://schemas.microsoft.com/office/drawing/2014/main" val="536620191"/>
                    </a:ext>
                  </a:extLst>
                </a:gridCol>
                <a:gridCol w="1268984">
                  <a:extLst>
                    <a:ext uri="{9D8B030D-6E8A-4147-A177-3AD203B41FA5}">
                      <a16:colId xmlns:a16="http://schemas.microsoft.com/office/drawing/2014/main" val="3491328624"/>
                    </a:ext>
                  </a:extLst>
                </a:gridCol>
                <a:gridCol w="1268984">
                  <a:extLst>
                    <a:ext uri="{9D8B030D-6E8A-4147-A177-3AD203B41FA5}">
                      <a16:colId xmlns:a16="http://schemas.microsoft.com/office/drawing/2014/main" val="2546634336"/>
                    </a:ext>
                  </a:extLst>
                </a:gridCol>
                <a:gridCol w="1268984">
                  <a:extLst>
                    <a:ext uri="{9D8B030D-6E8A-4147-A177-3AD203B41FA5}">
                      <a16:colId xmlns:a16="http://schemas.microsoft.com/office/drawing/2014/main" val="2882573078"/>
                    </a:ext>
                  </a:extLst>
                </a:gridCol>
                <a:gridCol w="1268984">
                  <a:extLst>
                    <a:ext uri="{9D8B030D-6E8A-4147-A177-3AD203B41FA5}">
                      <a16:colId xmlns:a16="http://schemas.microsoft.com/office/drawing/2014/main" val="3501370062"/>
                    </a:ext>
                  </a:extLst>
                </a:gridCol>
                <a:gridCol w="1268984">
                  <a:extLst>
                    <a:ext uri="{9D8B030D-6E8A-4147-A177-3AD203B41FA5}">
                      <a16:colId xmlns:a16="http://schemas.microsoft.com/office/drawing/2014/main" val="3714841057"/>
                    </a:ext>
                  </a:extLst>
                </a:gridCol>
                <a:gridCol w="1268984">
                  <a:extLst>
                    <a:ext uri="{9D8B030D-6E8A-4147-A177-3AD203B41FA5}">
                      <a16:colId xmlns:a16="http://schemas.microsoft.com/office/drawing/2014/main" val="2368935465"/>
                    </a:ext>
                  </a:extLst>
                </a:gridCol>
                <a:gridCol w="1268984">
                  <a:extLst>
                    <a:ext uri="{9D8B030D-6E8A-4147-A177-3AD203B41FA5}">
                      <a16:colId xmlns:a16="http://schemas.microsoft.com/office/drawing/2014/main" val="1954199068"/>
                    </a:ext>
                  </a:extLst>
                </a:gridCol>
              </a:tblGrid>
              <a:tr h="29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Phase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1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2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3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4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5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6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7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8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152899"/>
                  </a:ext>
                </a:extLst>
              </a:tr>
              <a:tr h="913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1. Requirement Gathering &amp; Analysis</a:t>
                      </a: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716505"/>
                  </a:ext>
                </a:extLst>
              </a:tr>
              <a:tr h="70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2. Design (UI/UX &amp; Architecture)</a:t>
                      </a:r>
                      <a:endParaRPr lang="en-US" sz="1300" dirty="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165368"/>
                  </a:ext>
                </a:extLst>
              </a:tr>
              <a:tr h="913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3. Development (Frontend &amp; Backend)</a:t>
                      </a:r>
                      <a:endParaRPr lang="en-IN" sz="1300" dirty="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89540"/>
                  </a:ext>
                </a:extLst>
              </a:tr>
              <a:tr h="500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4. Testing &amp; Debugging</a:t>
                      </a: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919912"/>
                  </a:ext>
                </a:extLst>
              </a:tr>
              <a:tr h="1120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5. Deployment &amp; Documentation</a:t>
                      </a: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888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586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901290" y="2744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"/>
          </p:nvPr>
        </p:nvSpPr>
        <p:spPr>
          <a:xfrm>
            <a:off x="147484" y="988143"/>
            <a:ext cx="11736438" cy="586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09600" lvl="1" indent="0">
              <a:spcBef>
                <a:spcPts val="0"/>
              </a:spcBef>
              <a:buNone/>
            </a:pPr>
            <a:endParaRPr lang="en-IN" sz="17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609600" lvl="1" indent="0">
              <a:spcBef>
                <a:spcPts val="0"/>
              </a:spcBef>
              <a:buNone/>
            </a:pPr>
            <a:endParaRPr lang="en-IN" sz="17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58C1B-2B37-0A17-F519-49FB0CD7788C}"/>
              </a:ext>
            </a:extLst>
          </p:cNvPr>
          <p:cNvSpPr txBox="1"/>
          <p:nvPr/>
        </p:nvSpPr>
        <p:spPr>
          <a:xfrm>
            <a:off x="749808" y="1144983"/>
            <a:ext cx="11134114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indent="0">
              <a:lnSpc>
                <a:spcPct val="120000"/>
              </a:lnSpc>
              <a:buNone/>
            </a:pPr>
            <a:r>
              <a:rPr lang="en-IN" sz="1500" dirty="0"/>
              <a:t>[1] Y. Kim, H. Lee, and J. Park, “Deep learning–based adaptive traffic signal control for large-scale urban networks,” </a:t>
            </a:r>
            <a:r>
              <a:rPr lang="en-IN" sz="1500" i="1" dirty="0"/>
              <a:t>IEEE Access</a:t>
            </a:r>
            <a:r>
              <a:rPr lang="en-IN" sz="1500" dirty="0"/>
              <a:t>, </a:t>
            </a:r>
            <a:r>
              <a:rPr lang="en-IN" sz="1500" b="1" dirty="0"/>
              <a:t>2026</a:t>
            </a:r>
            <a:r>
              <a:rPr lang="en-IN" sz="15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1500" dirty="0"/>
              <a:t>[2] S. Rahman and M. Hossain, “Smart traffic congestion prediction using artificial intelligence and IoT,” </a:t>
            </a:r>
            <a:r>
              <a:rPr lang="en-IN" sz="1500" i="1" dirty="0"/>
              <a:t>IEEE Open Journal of Intelligent Transportation Systems</a:t>
            </a:r>
            <a:r>
              <a:rPr lang="en-IN" sz="1500" dirty="0"/>
              <a:t>, </a:t>
            </a:r>
            <a:r>
              <a:rPr lang="en-IN" sz="1500" b="1" dirty="0"/>
              <a:t>2026</a:t>
            </a:r>
            <a:r>
              <a:rPr lang="en-IN" sz="15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1500" dirty="0"/>
              <a:t>[3] M. Rajagopal, R. Sivasakthivel, and G. Anitha, “An intelligent transportation system for traffic flow prediction using graph neural networks,” </a:t>
            </a:r>
            <a:r>
              <a:rPr lang="en-IN" sz="1500" i="1" dirty="0"/>
              <a:t>IEEE Transactions on Intelligent Transportation Systems</a:t>
            </a:r>
            <a:r>
              <a:rPr lang="en-IN" sz="1500" dirty="0"/>
              <a:t>, </a:t>
            </a:r>
            <a:r>
              <a:rPr lang="en-IN" sz="1500" b="1" dirty="0"/>
              <a:t>2025</a:t>
            </a:r>
            <a:r>
              <a:rPr lang="en-IN" sz="15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1500" dirty="0"/>
              <a:t>[4] Y. Huang, Y. Dong, Y. Tang, and L. Li, “Parking availability prediction via fusing multi-source data with a self-supervised learning enhanced spatio-temporal transformer,” </a:t>
            </a:r>
            <a:r>
              <a:rPr lang="en-IN" sz="1500" i="1" dirty="0"/>
              <a:t>IEEE Transactions on Intelligent Transportation Systems</a:t>
            </a:r>
            <a:r>
              <a:rPr lang="en-IN" sz="1500" dirty="0"/>
              <a:t>, </a:t>
            </a:r>
            <a:r>
              <a:rPr lang="en-IN" sz="1500" b="1" dirty="0"/>
              <a:t>2025</a:t>
            </a:r>
            <a:r>
              <a:rPr lang="en-IN" sz="15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1500" dirty="0"/>
              <a:t>[5] C. Zhang, J. Wang, and Y. Liu, “Real-time traffic flow prediction using random forest and sensor data fusion,” </a:t>
            </a:r>
            <a:r>
              <a:rPr lang="en-IN" sz="1500" i="1" dirty="0"/>
              <a:t>IEEE Access</a:t>
            </a:r>
            <a:r>
              <a:rPr lang="en-IN" sz="1500" dirty="0"/>
              <a:t>, </a:t>
            </a:r>
            <a:r>
              <a:rPr lang="en-IN" sz="1500" b="1" dirty="0"/>
              <a:t>2025</a:t>
            </a:r>
            <a:r>
              <a:rPr lang="en-IN" sz="15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1500" dirty="0"/>
              <a:t>[6] S. Alam, M. Luqman, and S. Ali, “Multi-source data-driven traffic congestion detection using artificial intelligence,” </a:t>
            </a:r>
            <a:r>
              <a:rPr lang="en-IN" sz="1500" i="1" dirty="0"/>
              <a:t>IEEE Access</a:t>
            </a:r>
            <a:r>
              <a:rPr lang="en-IN" sz="1500" dirty="0"/>
              <a:t>, </a:t>
            </a:r>
            <a:r>
              <a:rPr lang="en-IN" sz="1500" b="1" dirty="0"/>
              <a:t>2025</a:t>
            </a:r>
            <a:r>
              <a:rPr lang="en-IN" sz="15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1500" dirty="0"/>
              <a:t>[7] R. Abduljabbar, H. Dia, and S. Liyanage, “Machine learning–based traffic flow prediction models for smart and sustainable traffic management,” </a:t>
            </a:r>
            <a:r>
              <a:rPr lang="en-IN" sz="1500" i="1" dirty="0"/>
              <a:t>IEEE Open Journal of Intelligent Transportation Systems</a:t>
            </a:r>
            <a:r>
              <a:rPr lang="en-IN" sz="1500" dirty="0"/>
              <a:t>, </a:t>
            </a:r>
            <a:r>
              <a:rPr lang="en-IN" sz="1500" b="1" dirty="0"/>
              <a:t>2024</a:t>
            </a:r>
            <a:r>
              <a:rPr lang="en-IN" sz="1500" dirty="0"/>
              <a:t>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IN" sz="1500" dirty="0"/>
              <a:t>[8] A. Rahmani, A. Al-Fuqaha, and M. Guizani, “AI-enabled intelligent traffic signal management for smart cities,” </a:t>
            </a:r>
            <a:r>
              <a:rPr lang="en-IN" sz="1500" i="1" dirty="0"/>
              <a:t>IEEE Access</a:t>
            </a:r>
            <a:r>
              <a:rPr lang="en-IN" sz="1500" dirty="0"/>
              <a:t>, </a:t>
            </a:r>
            <a:r>
              <a:rPr lang="en-IN" sz="1500" b="1" dirty="0"/>
              <a:t>2024</a:t>
            </a:r>
            <a:r>
              <a:rPr lang="en-IN" sz="15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8E63-28FE-9C22-2A7B-767D843F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489CB-6E71-91C0-B7AD-1EBB79BB8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1500" dirty="0"/>
              <a:t>[9] T. Bouraffa, E. Wessman, and A. Nouri, “Vision-based traffic event detection using deep learning,” in </a:t>
            </a:r>
            <a:r>
              <a:rPr lang="en-IN" sz="1500" i="1" dirty="0"/>
              <a:t>Proc. IEEE International Conference on Intelligent Transportation Systems (ITSC)</a:t>
            </a:r>
            <a:r>
              <a:rPr lang="en-IN" sz="1500" dirty="0"/>
              <a:t>, </a:t>
            </a:r>
            <a:r>
              <a:rPr lang="en-IN" sz="1500" b="1" dirty="0"/>
              <a:t>2024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IN" sz="1500" dirty="0"/>
              <a:t>[10] L. Falaschetti et al., “Embedded real-time vehicle detection for intelligent traffic control systems,” </a:t>
            </a:r>
            <a:r>
              <a:rPr lang="en-IN" sz="1500" i="1" dirty="0"/>
              <a:t>IEEE Transactions on Intelligent Transportation Systems</a:t>
            </a:r>
            <a:r>
              <a:rPr lang="en-IN" sz="1500" dirty="0"/>
              <a:t>, </a:t>
            </a:r>
            <a:r>
              <a:rPr lang="en-IN" sz="1500" b="1" dirty="0"/>
              <a:t>2024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IN" sz="1500" dirty="0"/>
              <a:t>[11] H. Li, X. Pang, and Z. Chen, “Graph neural networks in intelligent transportation systems: A survey,” </a:t>
            </a:r>
            <a:r>
              <a:rPr lang="en-IN" sz="1500" i="1" dirty="0"/>
              <a:t>IEEE Transactions on Intelligent Transportation Systems</a:t>
            </a:r>
            <a:r>
              <a:rPr lang="en-IN" sz="1500" dirty="0"/>
              <a:t>, </a:t>
            </a:r>
            <a:r>
              <a:rPr lang="en-IN" sz="1500" b="1" dirty="0"/>
              <a:t>2023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IN" sz="1500" dirty="0"/>
              <a:t>[12] W. Wang, R. Patel, and S. Rao, “Reinforcement learning for adaptive traffic signal optimization,” </a:t>
            </a:r>
            <a:r>
              <a:rPr lang="en-IN" sz="1500" i="1" dirty="0"/>
              <a:t>IEEE Intelligent Systems</a:t>
            </a:r>
            <a:r>
              <a:rPr lang="en-IN" sz="1500" dirty="0"/>
              <a:t>, </a:t>
            </a:r>
            <a:r>
              <a:rPr lang="en-IN" sz="1500" b="1" dirty="0"/>
              <a:t>2023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IN" sz="1500" dirty="0"/>
              <a:t>[13] J. Chen, X. Li, and W. Zhang, “Vehicle prioritization using deep learning for real-time traffic signals,” </a:t>
            </a:r>
            <a:r>
              <a:rPr lang="en-IN" sz="1500" i="1" dirty="0"/>
              <a:t>IEEE Transactions on Intelligent Transportation Systems</a:t>
            </a:r>
            <a:r>
              <a:rPr lang="en-IN" sz="1500" dirty="0"/>
              <a:t>, </a:t>
            </a:r>
            <a:r>
              <a:rPr lang="en-IN" sz="1500" b="1" dirty="0"/>
              <a:t>2023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IN" sz="1500" dirty="0"/>
              <a:t>[14] A. Das, S. Roy, and P. Kumar, “Deep learning–based traffic anomaly detection for intelligent transportation systems,” in </a:t>
            </a:r>
            <a:r>
              <a:rPr lang="en-IN" sz="1500" i="1" dirty="0"/>
              <a:t>Proc. IEEE International Conference on Machine Learning and Applications (ICMLA)</a:t>
            </a:r>
            <a:r>
              <a:rPr lang="en-IN" sz="1500" dirty="0"/>
              <a:t>, </a:t>
            </a:r>
            <a:r>
              <a:rPr lang="en-IN" sz="1500" b="1" dirty="0"/>
              <a:t>2023</a:t>
            </a:r>
            <a:r>
              <a:rPr lang="en-IN" sz="1500" dirty="0"/>
              <a:t>.</a:t>
            </a:r>
          </a:p>
          <a:p>
            <a:pPr marL="76200" indent="0">
              <a:buNone/>
            </a:pPr>
            <a:r>
              <a:rPr lang="en-US" sz="1500" dirty="0"/>
              <a:t>[15] Y. Lv, Y. Duan, W. Kang, Z. Li, and F.-Y. Wang,</a:t>
            </a:r>
            <a:br>
              <a:rPr lang="en-US" sz="1500" dirty="0"/>
            </a:br>
            <a:r>
              <a:rPr lang="en-US" sz="1500" dirty="0"/>
              <a:t>“Traffic flow prediction with big data: A deep learning approach,” </a:t>
            </a:r>
            <a:r>
              <a:rPr lang="en-US" sz="1500" i="1" dirty="0"/>
              <a:t>IEEE Transactions on Intelligent Transportation Systems</a:t>
            </a:r>
            <a:r>
              <a:rPr lang="en-US" sz="1500" dirty="0"/>
              <a:t>, </a:t>
            </a:r>
            <a:r>
              <a:rPr lang="en-US" sz="1500" b="1" dirty="0"/>
              <a:t>2023</a:t>
            </a:r>
            <a:r>
              <a:rPr lang="en-US" sz="1500" dirty="0"/>
              <a:t>.</a:t>
            </a:r>
            <a:endParaRPr lang="en-IN" sz="1500" dirty="0"/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170003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4139" y="1702517"/>
            <a:ext cx="5621532" cy="393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1352</TotalTime>
  <Words>1315</Words>
  <Application>Microsoft Office PowerPoint</Application>
  <PresentationFormat>Widescreen</PresentationFormat>
  <Paragraphs>153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Verdana</vt:lpstr>
      <vt:lpstr>Wingdings</vt:lpstr>
      <vt:lpstr>Bioinformatics</vt:lpstr>
      <vt:lpstr>Smart Traffic Management System for Urban Congestion </vt:lpstr>
      <vt:lpstr>Content</vt:lpstr>
      <vt:lpstr>Abstract</vt:lpstr>
      <vt:lpstr> Objectives</vt:lpstr>
      <vt:lpstr>PowerPoint Presentation</vt:lpstr>
      <vt:lpstr>PowerPoint Presentation</vt:lpstr>
      <vt:lpstr>PowerPoint Presentation</vt:lpstr>
      <vt:lpstr>       Modules </vt:lpstr>
      <vt:lpstr>Technologies Used  </vt:lpstr>
      <vt:lpstr>Timeline of the Project (Gantt Chart)  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Syed Thousif</cp:lastModifiedBy>
  <cp:revision>30</cp:revision>
  <dcterms:modified xsi:type="dcterms:W3CDTF">2026-03-04T08:27:46Z</dcterms:modified>
</cp:coreProperties>
</file>