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4" r:id="rId5"/>
    <p:sldId id="276" r:id="rId6"/>
    <p:sldId id="273" r:id="rId7"/>
    <p:sldId id="268" r:id="rId8"/>
    <p:sldId id="272" r:id="rId9"/>
    <p:sldId id="271" r:id="rId10"/>
    <p:sldId id="275" r:id="rId11"/>
    <p:sldId id="270" r:id="rId12"/>
    <p:sldId id="265" r:id="rId13"/>
    <p:sldId id="277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housif/Smart-Traffic-Management-System-for-Urban-Congest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stamp/stamp.jsp?arnumber=9312745" TargetMode="External"/><Relationship Id="rId3" Type="http://schemas.openxmlformats.org/officeDocument/2006/relationships/hyperlink" Target="https://www.nature.com/articles/s41598-025-10794-5.pdf" TargetMode="External"/><Relationship Id="rId7" Type="http://schemas.openxmlformats.org/officeDocument/2006/relationships/hyperlink" Target="https://ieeexplore.ieee.org/stamp/stamp.jsp?arnumber=9440103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109.08354.pdf" TargetMode="External"/><Relationship Id="rId5" Type="http://schemas.openxmlformats.org/officeDocument/2006/relationships/hyperlink" Target="https://arxiv.org/pdf/2301.07221.pdf" TargetMode="External"/><Relationship Id="rId4" Type="http://schemas.openxmlformats.org/officeDocument/2006/relationships/hyperlink" Target="https://www.mdpi.com/2412-3811/10/7/155/pdf" TargetMode="External"/><Relationship Id="rId9" Type="http://schemas.openxmlformats.org/officeDocument/2006/relationships/hyperlink" Target="https://arxiv.org/pdf/1905.03217.pdf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stamp/stamp.jsp?arnumber=6203714" TargetMode="External"/><Relationship Id="rId3" Type="http://schemas.openxmlformats.org/officeDocument/2006/relationships/hyperlink" Target="https://arxiv.org/pdf/1610.00081.pdf" TargetMode="External"/><Relationship Id="rId7" Type="http://schemas.openxmlformats.org/officeDocument/2006/relationships/hyperlink" Target="https://ieeexplore.ieee.org/stamp/stamp.jsp?arnumber=6548520" TargetMode="External"/><Relationship Id="rId2" Type="http://schemas.openxmlformats.org/officeDocument/2006/relationships/hyperlink" Target="https://ieeexplore.ieee.org/stamp/stamp.jsp?arnumber=846330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506.04214.pdf" TargetMode="External"/><Relationship Id="rId5" Type="http://schemas.openxmlformats.org/officeDocument/2006/relationships/hyperlink" Target="https://ieeexplore.ieee.org/stamp/stamp.jsp?arnumber=7111151" TargetMode="External"/><Relationship Id="rId4" Type="http://schemas.openxmlformats.org/officeDocument/2006/relationships/hyperlink" Target="https://arxiv.org/pdf/1607.04617.pdf" TargetMode="External"/><Relationship Id="rId9" Type="http://schemas.openxmlformats.org/officeDocument/2006/relationships/hyperlink" Target="https://www.ijcaonline.org/archives/volume1/number15/traffic-prediction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Smart Traffic Management System for Urban Congestion 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 : CSE_14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507223" y="2235290"/>
            <a:ext cx="4487271" cy="275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  </a:t>
            </a:r>
            <a:r>
              <a:rPr lang="en-IN" sz="1700" dirty="0"/>
              <a:t>Ms. Kummara Sruthi &amp;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700" dirty="0"/>
              <a:t>Ms. Tigulla Rajitha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981414951"/>
              </p:ext>
            </p:extLst>
          </p:nvPr>
        </p:nvGraphicFramePr>
        <p:xfrm>
          <a:off x="553394" y="2423592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576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: 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School of Computer Science &amp; Engineering</a:t>
            </a:r>
            <a:endParaRPr lang="en-US" sz="1800" i="0" u="none" strike="noStrike" cap="none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 : </a:t>
            </a:r>
            <a:r>
              <a:rPr lang="en-IN" sz="1800" dirty="0"/>
              <a:t>Dr. Asif Mohammed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 : </a:t>
            </a:r>
            <a:r>
              <a:rPr lang="en-IN" sz="1800" dirty="0"/>
              <a:t>Dr.Jayavadivel Ravi , Mr. Muthuraju V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 : 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Dr.Sampath A K , Dr. Geetha A </a:t>
            </a:r>
            <a:endParaRPr sz="1800" i="0" u="none" strike="noStrike" cap="none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0D9EFE-1851-B473-BF97-2EF872E56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382719"/>
              </p:ext>
            </p:extLst>
          </p:nvPr>
        </p:nvGraphicFramePr>
        <p:xfrm>
          <a:off x="197504" y="2423592"/>
          <a:ext cx="6038704" cy="1483360"/>
        </p:xfrm>
        <a:graphic>
          <a:graphicData uri="http://schemas.openxmlformats.org/drawingml/2006/table">
            <a:tbl>
              <a:tblPr firstRow="1" bandRow="1"/>
              <a:tblGrid>
                <a:gridCol w="2756008">
                  <a:extLst>
                    <a:ext uri="{9D8B030D-6E8A-4147-A177-3AD203B41FA5}">
                      <a16:colId xmlns:a16="http://schemas.microsoft.com/office/drawing/2014/main" val="1175655910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281558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445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20221CSE0234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Syed Thousif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631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20221CSE0217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Gujjula Ashok Vardhan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153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20221CSE0211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Kambam Nithin Kumar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30705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D9EB74C-1FA1-AAFD-9D49-71B0643C2690}"/>
              </a:ext>
            </a:extLst>
          </p:cNvPr>
          <p:cNvSpPr/>
          <p:nvPr/>
        </p:nvSpPr>
        <p:spPr>
          <a:xfrm>
            <a:off x="7507223" y="2235290"/>
            <a:ext cx="4391131" cy="23829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 : SIH25050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IN" sz="1900" dirty="0">
                <a:solidFill>
                  <a:srgbClr val="000000"/>
                </a:solidFill>
                <a:latin typeface="Calibri" panose="020F0502020204030204" pitchFamily="34" charset="0"/>
              </a:rPr>
              <a:t>Government of Odisha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Title :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Traffic Management System for Urban Congestion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Steps Requirement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Results &amp; Outcomes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: How it Works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51560"/>
            <a:ext cx="10668000" cy="4892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/>
              <a:t>Data Collection</a:t>
            </a:r>
          </a:p>
          <a:p>
            <a:pPr marL="76200" indent="0">
              <a:buNone/>
            </a:pPr>
            <a:r>
              <a:rPr lang="en-US" sz="2200" dirty="0"/>
              <a:t>     Real-time traffic data is collected from CCTV cameras, traffic sensors, and historical traffic</a:t>
            </a:r>
          </a:p>
          <a:p>
            <a:pPr marL="76200" indent="0">
              <a:buNone/>
            </a:pPr>
            <a:r>
              <a:rPr lang="en-US" sz="2200" dirty="0"/>
              <a:t>     records.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/>
              <a:t>Data Processing &amp; Analysis</a:t>
            </a:r>
          </a:p>
          <a:p>
            <a:pPr marL="76200" indent="0" algn="just">
              <a:buNone/>
            </a:pPr>
            <a:r>
              <a:rPr lang="en-US" sz="2200" dirty="0"/>
              <a:t>     The collected data is cleaned and processed to remove noise and irrelevant information.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/>
              <a:t>Traffic Prediction using Machine Learning</a:t>
            </a:r>
          </a:p>
          <a:p>
            <a:pPr marL="76200" indent="0" algn="just">
              <a:buNone/>
            </a:pPr>
            <a:r>
              <a:rPr lang="en-US" sz="2200" dirty="0"/>
              <a:t>     Machine learning models analyze traffic patterns to predict congestion levels and vehicle</a:t>
            </a:r>
          </a:p>
          <a:p>
            <a:pPr marL="76200" indent="0" algn="just">
              <a:buNone/>
            </a:pPr>
            <a:r>
              <a:rPr lang="en-US" sz="2200" dirty="0"/>
              <a:t>     density.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/>
              <a:t>Parking Slot Detection</a:t>
            </a:r>
          </a:p>
          <a:p>
            <a:pPr marL="76200" indent="0" algn="just">
              <a:buNone/>
            </a:pPr>
            <a:r>
              <a:rPr lang="en-US" sz="2200" dirty="0"/>
              <a:t>     Computer Vision techniques (YOLO, OpenCV) analyze camera images to detect available</a:t>
            </a:r>
          </a:p>
          <a:p>
            <a:pPr marL="76200" indent="0" algn="just">
              <a:buNone/>
            </a:pPr>
            <a:r>
              <a:rPr lang="en-US" sz="2200" dirty="0"/>
              <a:t>     and occupied parking slots.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/>
              <a:t>User &amp; Admin Interaction</a:t>
            </a:r>
          </a:p>
          <a:p>
            <a:pPr marL="76200" indent="0" algn="just">
              <a:buNone/>
            </a:pPr>
            <a:r>
              <a:rPr lang="en-US" sz="2200" dirty="0"/>
              <a:t>      </a:t>
            </a:r>
            <a:r>
              <a:rPr lang="en-US" sz="2200" b="1" dirty="0"/>
              <a:t>1.</a:t>
            </a:r>
            <a:r>
              <a:rPr lang="en-US" sz="2200" dirty="0"/>
              <a:t>Users view traffic status and book parking slots</a:t>
            </a:r>
          </a:p>
          <a:p>
            <a:pPr marL="76200" indent="0" algn="just">
              <a:buNone/>
            </a:pPr>
            <a:r>
              <a:rPr lang="en-US" sz="2200" dirty="0"/>
              <a:t>      </a:t>
            </a:r>
            <a:r>
              <a:rPr lang="en-US" sz="2200" b="1" dirty="0"/>
              <a:t>2.</a:t>
            </a:r>
            <a:r>
              <a:rPr lang="en-US" sz="2200" dirty="0"/>
              <a:t>Admin monitors traffic, manages parking slots, and handles emergency routing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/>
              <a:t>Emergency Vehicle Prioritization</a:t>
            </a:r>
          </a:p>
          <a:p>
            <a:pPr marL="76200" indent="0" algn="just">
              <a:buNone/>
            </a:pPr>
            <a:r>
              <a:rPr lang="en-US" sz="2200" dirty="0"/>
              <a:t>     The system dynamically clears routes and optimizes signals for ambulances and emergency</a:t>
            </a:r>
          </a:p>
          <a:p>
            <a:pPr marL="76200" indent="0" algn="just">
              <a:buNone/>
            </a:pPr>
            <a:r>
              <a:rPr lang="en-US" sz="2200" dirty="0"/>
              <a:t>     vehicles.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1B3C-4ED7-5186-5699-62D6B43E4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Steps Requirement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79B11-C73D-D2A3-C849-60D0A2C97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3400" indent="-457200">
              <a:buFont typeface="+mj-lt"/>
              <a:buAutoNum type="arabicPeriod"/>
            </a:pPr>
            <a:r>
              <a:rPr lang="en-US" sz="2000" dirty="0"/>
              <a:t>Steps Requirement</a:t>
            </a:r>
          </a:p>
          <a:p>
            <a:pPr marL="533400" indent="-457200">
              <a:buFont typeface="+mj-lt"/>
              <a:buAutoNum type="arabicPeriod"/>
            </a:pPr>
            <a:r>
              <a:rPr lang="en-US" sz="2000" dirty="0"/>
              <a:t>Requirement Analysis</a:t>
            </a:r>
          </a:p>
          <a:p>
            <a:pPr marL="533400" indent="-457200">
              <a:buFont typeface="+mj-lt"/>
              <a:buAutoNum type="arabicPeriod"/>
            </a:pPr>
            <a:r>
              <a:rPr lang="en-US" sz="2000" dirty="0"/>
              <a:t>Data Collection</a:t>
            </a:r>
          </a:p>
          <a:p>
            <a:pPr marL="533400" indent="-457200">
              <a:buFont typeface="+mj-lt"/>
              <a:buAutoNum type="arabicPeriod"/>
            </a:pPr>
            <a:r>
              <a:rPr lang="en-US" sz="2000" dirty="0"/>
              <a:t>Data Pre-Processing</a:t>
            </a:r>
          </a:p>
          <a:p>
            <a:pPr marL="533400" indent="-457200">
              <a:buFont typeface="+mj-lt"/>
              <a:buAutoNum type="arabicPeriod"/>
            </a:pPr>
            <a:r>
              <a:rPr lang="en-US" sz="2000" dirty="0"/>
              <a:t>Model Training (ML &amp; CV)</a:t>
            </a:r>
          </a:p>
          <a:p>
            <a:pPr marL="533400" indent="-457200">
              <a:buFont typeface="+mj-lt"/>
              <a:buAutoNum type="arabicPeriod"/>
            </a:pPr>
            <a:r>
              <a:rPr lang="en-US" sz="2000" dirty="0"/>
              <a:t>System Integration</a:t>
            </a:r>
          </a:p>
          <a:p>
            <a:pPr marL="533400" indent="-457200">
              <a:buFont typeface="+mj-lt"/>
              <a:buAutoNum type="arabicPeriod"/>
            </a:pPr>
            <a:r>
              <a:rPr lang="en-US" sz="2000" dirty="0"/>
              <a:t>Testing &amp; Validation</a:t>
            </a:r>
          </a:p>
          <a:p>
            <a:pPr marL="533400" indent="-457200">
              <a:buFont typeface="+mj-lt"/>
              <a:buAutoNum type="arabicPeriod"/>
            </a:pPr>
            <a:r>
              <a:rPr lang="en-US" sz="2000" dirty="0"/>
              <a:t>Deployment &amp;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19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20624" y="978408"/>
            <a:ext cx="11060176" cy="5117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Frontend</a:t>
            </a:r>
          </a:p>
          <a:p>
            <a:pPr lvl="1"/>
            <a:r>
              <a:rPr lang="en-US" sz="1200" dirty="0"/>
              <a:t>HTML, CSS, JavaScript</a:t>
            </a:r>
          </a:p>
          <a:p>
            <a:pPr lvl="1"/>
            <a:r>
              <a:rPr lang="en-US" sz="1200" dirty="0"/>
              <a:t>User &amp; Admin dashboards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/>
              <a:t>Backend</a:t>
            </a:r>
          </a:p>
          <a:p>
            <a:pPr lvl="1"/>
            <a:r>
              <a:rPr lang="en-IN" sz="1200" dirty="0"/>
              <a:t>Python (Flask / Django)</a:t>
            </a:r>
          </a:p>
          <a:p>
            <a:pPr lvl="1"/>
            <a:r>
              <a:rPr lang="en-IN" sz="1200" dirty="0"/>
              <a:t>REST APIs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Machine Learning</a:t>
            </a:r>
          </a:p>
          <a:p>
            <a:pPr lvl="1"/>
            <a:r>
              <a:rPr lang="en-US" sz="1200" dirty="0"/>
              <a:t>Random Forest</a:t>
            </a:r>
          </a:p>
          <a:p>
            <a:pPr lvl="1"/>
            <a:r>
              <a:rPr lang="en-US" sz="1200" dirty="0"/>
              <a:t>LSTM</a:t>
            </a:r>
          </a:p>
          <a:p>
            <a:pPr lvl="1"/>
            <a:r>
              <a:rPr lang="en-US" sz="1200" dirty="0"/>
              <a:t>Decision Tree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/>
              <a:t>Computer Vision</a:t>
            </a:r>
          </a:p>
          <a:p>
            <a:pPr lvl="1"/>
            <a:r>
              <a:rPr lang="en-IN" sz="1200" dirty="0"/>
              <a:t>OpenCV</a:t>
            </a:r>
          </a:p>
          <a:p>
            <a:pPr lvl="1"/>
            <a:r>
              <a:rPr lang="en-IN" sz="1200" dirty="0"/>
              <a:t>YOLO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/>
              <a:t>Database</a:t>
            </a:r>
          </a:p>
          <a:p>
            <a:pPr lvl="1"/>
            <a:r>
              <a:rPr lang="en-IN" sz="1200" dirty="0"/>
              <a:t>MySQL / MongoDB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Tools &amp; Platforms</a:t>
            </a:r>
          </a:p>
          <a:p>
            <a:pPr lvl="1"/>
            <a:r>
              <a:rPr lang="en-US" sz="1200" dirty="0"/>
              <a:t>VS Code</a:t>
            </a:r>
          </a:p>
          <a:p>
            <a:pPr lvl="1"/>
            <a:r>
              <a:rPr lang="en-US" sz="1200" dirty="0"/>
              <a:t>GitHub</a:t>
            </a:r>
          </a:p>
          <a:p>
            <a:pPr lvl="1"/>
            <a:r>
              <a:rPr lang="en-US" sz="1200" dirty="0"/>
              <a:t>Cloud Deployment (AWS / Firebase – Future Scope)</a:t>
            </a:r>
          </a:p>
          <a:p>
            <a:pPr marL="558800" lvl="1" indent="0">
              <a:buNone/>
            </a:pPr>
            <a:endParaRPr lang="en-US" sz="1200" dirty="0"/>
          </a:p>
          <a:p>
            <a:pPr marL="76200" indent="0">
              <a:buNone/>
            </a:pPr>
            <a:endParaRPr lang="en-IN" sz="1600" dirty="0"/>
          </a:p>
          <a:p>
            <a:pPr marL="76200" indent="0">
              <a:buNone/>
            </a:pPr>
            <a:endParaRPr lang="en-US" sz="1600" dirty="0"/>
          </a:p>
          <a:p>
            <a:pPr marL="76200" indent="0">
              <a:buNone/>
            </a:pPr>
            <a:endParaRPr lang="en-US" sz="1200" dirty="0"/>
          </a:p>
          <a:p>
            <a:pPr marL="76200" indent="0">
              <a:buNone/>
            </a:pPr>
            <a:endParaRPr lang="en-US" sz="1200" dirty="0"/>
          </a:p>
          <a:p>
            <a:pPr marL="76200" indent="0">
              <a:buNone/>
            </a:pPr>
            <a:endParaRPr lang="en-IN" sz="1200" dirty="0"/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09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https://github.com/SThousif/Smart-Traffic-Management-System-for-Urban-Congestion</a:t>
            </a:r>
            <a:endParaRPr lang="en-US" u="sng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74192" y="82296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DB1D98-4727-F9DC-65F9-C055B02A5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074299"/>
              </p:ext>
            </p:extLst>
          </p:nvPr>
        </p:nvGraphicFramePr>
        <p:xfrm>
          <a:off x="812800" y="1654926"/>
          <a:ext cx="10668000" cy="41818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1707389604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833022039"/>
                    </a:ext>
                  </a:extLst>
                </a:gridCol>
              </a:tblGrid>
              <a:tr h="597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Software Requirements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Hardware Requirements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3361967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Windows 10/11 or Linux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Processor: Intel i5 / AMD Ryzen 5 or 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683296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 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RAM: 8 GB (16 GB recommended)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586249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Flask / Django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Storage: 256 GB SSD or 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618378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HTML, CSS, 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Camera: CCTV / Web Camera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496854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 / MongoDB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Network: Stable Internet Connection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635543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OpenCV, NumPy, Pandas, 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Graphics: Integrated or Dedicated GPU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824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b="1" dirty="0"/>
              <a:t>Current Issue: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Traffic congestion due to static traffic control systems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No real-time traffic prediction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Difficulty in finding parking slots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Delays for emergency vehicles</a:t>
            </a:r>
          </a:p>
          <a:p>
            <a:pPr marL="76200" indent="0">
              <a:buNone/>
            </a:pPr>
            <a:r>
              <a:rPr lang="en-US" b="1" dirty="0"/>
              <a:t>Impact:</a:t>
            </a:r>
          </a:p>
          <a:p>
            <a:pPr marL="7048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    </a:t>
            </a:r>
            <a:r>
              <a:rPr lang="en-US" sz="1600" dirty="0"/>
              <a:t>Increased travel time and fuel consumption</a:t>
            </a:r>
          </a:p>
          <a:p>
            <a:pPr marL="704850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   Traffic congestion and pollution</a:t>
            </a:r>
          </a:p>
          <a:p>
            <a:pPr marL="704850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   Delayed emergency response</a:t>
            </a:r>
          </a:p>
          <a:p>
            <a:pPr marL="76200" indent="0">
              <a:buNone/>
            </a:pPr>
            <a:r>
              <a:rPr lang="en-US" b="1" dirty="0"/>
              <a:t>Need:</a:t>
            </a:r>
          </a:p>
          <a:p>
            <a:pPr marL="76200" indent="0">
              <a:buNone/>
            </a:pPr>
            <a:r>
              <a:rPr lang="en-US" sz="1600" dirty="0"/>
              <a:t>A </a:t>
            </a:r>
            <a:r>
              <a:rPr lang="en-US" sz="1600" b="1" dirty="0"/>
              <a:t>centralized, automated, AI-based system</a:t>
            </a:r>
            <a:r>
              <a:rPr lang="en-US" sz="1600" dirty="0"/>
              <a:t> for smart traffic and parking management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8C99-D13F-06CF-3F6C-A9140E09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E434A-490F-49E8-75BF-2B94318EFE62}"/>
              </a:ext>
            </a:extLst>
          </p:cNvPr>
          <p:cNvSpPr txBox="1"/>
          <p:nvPr/>
        </p:nvSpPr>
        <p:spPr>
          <a:xfrm>
            <a:off x="812800" y="1078992"/>
            <a:ext cx="9931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Accurate real-time traffic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Reduced traffic congestion and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Faster parking slot identification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Efficient parking slot booking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Improved emergency vehicle response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Enhanced user convenience and 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Better administrative control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174549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B839EB-41EF-3CF1-2626-737BC84DA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874306"/>
              </p:ext>
            </p:extLst>
          </p:nvPr>
        </p:nvGraphicFramePr>
        <p:xfrm>
          <a:off x="67377" y="993024"/>
          <a:ext cx="12378087" cy="4957428"/>
        </p:xfrm>
        <a:graphic>
          <a:graphicData uri="http://schemas.openxmlformats.org/drawingml/2006/table">
            <a:tbl>
              <a:tblPr/>
              <a:tblGrid>
                <a:gridCol w="1375343">
                  <a:extLst>
                    <a:ext uri="{9D8B030D-6E8A-4147-A177-3AD203B41FA5}">
                      <a16:colId xmlns:a16="http://schemas.microsoft.com/office/drawing/2014/main" val="2573539532"/>
                    </a:ext>
                  </a:extLst>
                </a:gridCol>
                <a:gridCol w="1375343">
                  <a:extLst>
                    <a:ext uri="{9D8B030D-6E8A-4147-A177-3AD203B41FA5}">
                      <a16:colId xmlns:a16="http://schemas.microsoft.com/office/drawing/2014/main" val="536620191"/>
                    </a:ext>
                  </a:extLst>
                </a:gridCol>
                <a:gridCol w="1375343">
                  <a:extLst>
                    <a:ext uri="{9D8B030D-6E8A-4147-A177-3AD203B41FA5}">
                      <a16:colId xmlns:a16="http://schemas.microsoft.com/office/drawing/2014/main" val="3491328624"/>
                    </a:ext>
                  </a:extLst>
                </a:gridCol>
                <a:gridCol w="1375343">
                  <a:extLst>
                    <a:ext uri="{9D8B030D-6E8A-4147-A177-3AD203B41FA5}">
                      <a16:colId xmlns:a16="http://schemas.microsoft.com/office/drawing/2014/main" val="2546634336"/>
                    </a:ext>
                  </a:extLst>
                </a:gridCol>
                <a:gridCol w="1375343">
                  <a:extLst>
                    <a:ext uri="{9D8B030D-6E8A-4147-A177-3AD203B41FA5}">
                      <a16:colId xmlns:a16="http://schemas.microsoft.com/office/drawing/2014/main" val="2882573078"/>
                    </a:ext>
                  </a:extLst>
                </a:gridCol>
                <a:gridCol w="1375343">
                  <a:extLst>
                    <a:ext uri="{9D8B030D-6E8A-4147-A177-3AD203B41FA5}">
                      <a16:colId xmlns:a16="http://schemas.microsoft.com/office/drawing/2014/main" val="3501370062"/>
                    </a:ext>
                  </a:extLst>
                </a:gridCol>
                <a:gridCol w="1375343">
                  <a:extLst>
                    <a:ext uri="{9D8B030D-6E8A-4147-A177-3AD203B41FA5}">
                      <a16:colId xmlns:a16="http://schemas.microsoft.com/office/drawing/2014/main" val="3714841057"/>
                    </a:ext>
                  </a:extLst>
                </a:gridCol>
                <a:gridCol w="1375343">
                  <a:extLst>
                    <a:ext uri="{9D8B030D-6E8A-4147-A177-3AD203B41FA5}">
                      <a16:colId xmlns:a16="http://schemas.microsoft.com/office/drawing/2014/main" val="2368935465"/>
                    </a:ext>
                  </a:extLst>
                </a:gridCol>
                <a:gridCol w="1375343">
                  <a:extLst>
                    <a:ext uri="{9D8B030D-6E8A-4147-A177-3AD203B41FA5}">
                      <a16:colId xmlns:a16="http://schemas.microsoft.com/office/drawing/2014/main" val="1954199068"/>
                    </a:ext>
                  </a:extLst>
                </a:gridCol>
              </a:tblGrid>
              <a:tr h="276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Phase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1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2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3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4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5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6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7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8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152899"/>
                  </a:ext>
                </a:extLst>
              </a:tr>
              <a:tr h="105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1. Requirement Gathering &amp; Analysis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716505"/>
                  </a:ext>
                </a:extLst>
              </a:tr>
              <a:tr h="857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2. Design (UI/UX &amp; Architecture)</a:t>
                      </a:r>
                      <a:endParaRPr lang="en-US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165368"/>
                  </a:ext>
                </a:extLst>
              </a:tr>
              <a:tr h="105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3. Development (Frontend &amp; Backend)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89540"/>
                  </a:ext>
                </a:extLst>
              </a:tr>
              <a:tr h="664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4. Testing &amp; Debugging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19912"/>
                  </a:ext>
                </a:extLst>
              </a:tr>
              <a:tr h="105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5. Deployment &amp; Documentation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888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502920" y="996696"/>
            <a:ext cx="11301984" cy="520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en-IN" sz="3100" b="1" dirty="0"/>
              <a:t>[1]</a:t>
            </a:r>
            <a:r>
              <a:rPr lang="en-IN" sz="3100" dirty="0"/>
              <a:t> M. Rajagopal, R. Sivasakthivel, and G. Anitha,</a:t>
            </a:r>
            <a:br>
              <a:rPr lang="en-IN" sz="3100" dirty="0"/>
            </a:br>
            <a:r>
              <a:rPr lang="en-IN" sz="3100" dirty="0"/>
              <a:t>“An Intelligent Transportation System for Traffic Flow Prediction Using Graph Neural Networks,”</a:t>
            </a:r>
            <a:br>
              <a:rPr lang="en-IN" sz="3100" dirty="0"/>
            </a:br>
            <a:r>
              <a:rPr lang="en-IN" sz="3100" i="1" dirty="0"/>
              <a:t>Scientific Reports</a:t>
            </a:r>
            <a:r>
              <a:rPr lang="en-IN" sz="3100" dirty="0"/>
              <a:t>, vol. 15, 2025.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3"/>
              </a:rPr>
              <a:t>https://www.nature.com/articles/s41598-025-10794-5.pdf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[2]</a:t>
            </a:r>
            <a:r>
              <a:rPr lang="en-IN" sz="3100" dirty="0"/>
              <a:t> R. Abduljabbar, H. Dia, and S. Liyanage,</a:t>
            </a:r>
            <a:br>
              <a:rPr lang="en-IN" sz="3100" dirty="0"/>
            </a:br>
            <a:r>
              <a:rPr lang="en-IN" sz="3100" dirty="0"/>
              <a:t>“Machine Learning Traffic Flow Prediction Models for Smart and Sustainable Traffic Management,”</a:t>
            </a:r>
            <a:br>
              <a:rPr lang="en-IN" sz="3100" dirty="0"/>
            </a:br>
            <a:r>
              <a:rPr lang="en-IN" sz="3100" i="1" dirty="0"/>
              <a:t>Infrastructures</a:t>
            </a:r>
            <a:r>
              <a:rPr lang="en-IN" sz="3100" dirty="0"/>
              <a:t>, vol. 10, no. 7, 2024.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4"/>
              </a:rPr>
              <a:t>https://www.mdpi.com/2412-3811/10/7/155/pdf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[3]</a:t>
            </a:r>
            <a:r>
              <a:rPr lang="en-IN" sz="3100" dirty="0"/>
              <a:t> H. Li, X. Pang, and Z. Chen,</a:t>
            </a:r>
            <a:br>
              <a:rPr lang="en-IN" sz="3100" dirty="0"/>
            </a:br>
            <a:r>
              <a:rPr lang="en-IN" sz="3100" dirty="0"/>
              <a:t>“Graph Neural Networks in Intelligent Transportation Systems: A Survey,”</a:t>
            </a:r>
            <a:br>
              <a:rPr lang="en-IN" sz="3100" dirty="0"/>
            </a:br>
            <a:r>
              <a:rPr lang="en-IN" sz="3100" i="1" dirty="0"/>
              <a:t>IEEE Transactions on Intelligent Transportation Systems</a:t>
            </a:r>
            <a:r>
              <a:rPr lang="en-IN" sz="3100" dirty="0"/>
              <a:t>, 2023.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5"/>
              </a:rPr>
              <a:t>https://arxiv.org/pdf/2301.07221.pdf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[4]</a:t>
            </a:r>
            <a:r>
              <a:rPr lang="en-IN" sz="3100" dirty="0"/>
              <a:t> S. Tang, F. Zhao, and Y. Zhang,</a:t>
            </a:r>
            <a:br>
              <a:rPr lang="en-IN" sz="3100" dirty="0"/>
            </a:br>
            <a:r>
              <a:rPr lang="en-IN" sz="3100" dirty="0"/>
              <a:t>“Hybrid Deep Learning Model for Intelligent Traffic Signal Optimization,”</a:t>
            </a:r>
            <a:br>
              <a:rPr lang="en-IN" sz="3100" dirty="0"/>
            </a:br>
            <a:r>
              <a:rPr lang="en-IN" sz="3100" i="1" dirty="0"/>
              <a:t>Transportation Research Part C: Emerging Technologies</a:t>
            </a:r>
            <a:r>
              <a:rPr lang="en-IN" sz="3100" dirty="0"/>
              <a:t>, vol. 129, 2022.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6"/>
              </a:rPr>
              <a:t>https://arxiv.org/pdf/2109.08354.pdf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[5]</a:t>
            </a:r>
            <a:r>
              <a:rPr lang="en-IN" sz="3100" dirty="0"/>
              <a:t> V. Singh, A. Kumar, and S. Patil,</a:t>
            </a:r>
            <a:br>
              <a:rPr lang="en-IN" sz="3100" dirty="0"/>
            </a:br>
            <a:r>
              <a:rPr lang="en-IN" sz="3100" dirty="0"/>
              <a:t>“Real-Time Vehicle Detection and Traffic Signal Prioritization Using Machine Learning,”</a:t>
            </a:r>
            <a:br>
              <a:rPr lang="en-IN" sz="3100" dirty="0"/>
            </a:br>
            <a:r>
              <a:rPr lang="en-IN" sz="3100" i="1" dirty="0"/>
              <a:t>IEEE Transactions on Vehicular Technology</a:t>
            </a:r>
            <a:r>
              <a:rPr lang="en-IN" sz="3100" dirty="0"/>
              <a:t>, vol. 71, 2021.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7"/>
              </a:rPr>
              <a:t>https://ieeexplore.ieee.org/stamp/stamp.jsp?arnumber=9440103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[6]</a:t>
            </a:r>
            <a:r>
              <a:rPr lang="en-IN" sz="3100" dirty="0"/>
              <a:t> M. Rahmani, A. Al-Fuqaha, and M. </a:t>
            </a:r>
            <a:r>
              <a:rPr lang="en-IN" sz="3100" dirty="0" err="1"/>
              <a:t>Guizani</a:t>
            </a:r>
            <a:r>
              <a:rPr lang="en-IN" sz="3100" dirty="0"/>
              <a:t>,</a:t>
            </a:r>
            <a:br>
              <a:rPr lang="en-IN" sz="3100" dirty="0"/>
            </a:br>
            <a:r>
              <a:rPr lang="en-IN" sz="3100" dirty="0"/>
              <a:t>“Machine Learning-Based Intelligent Traffic Signal Management for Smart Cities,”</a:t>
            </a:r>
            <a:br>
              <a:rPr lang="en-IN" sz="3100" dirty="0"/>
            </a:br>
            <a:r>
              <a:rPr lang="en-IN" sz="3100" i="1" dirty="0"/>
              <a:t>IEEE Access</a:t>
            </a:r>
            <a:r>
              <a:rPr lang="en-IN" sz="3100" dirty="0"/>
              <a:t>, vol. 9, 2020.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8"/>
              </a:rPr>
              <a:t>https://ieeexplore.ieee.org/stamp/stamp.jsp?arnumber=9312745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[7]</a:t>
            </a:r>
            <a:r>
              <a:rPr lang="en-IN" sz="3100" dirty="0"/>
              <a:t> H. Li, Y. Zhang, and S. Liu,</a:t>
            </a:r>
            <a:br>
              <a:rPr lang="en-IN" sz="3100" dirty="0"/>
            </a:br>
            <a:r>
              <a:rPr lang="en-IN" sz="3100" dirty="0"/>
              <a:t>“A Deep Learning-Based Traffic Signal Control System for Urban Intersections,”</a:t>
            </a:r>
            <a:br>
              <a:rPr lang="en-IN" sz="3100" dirty="0"/>
            </a:br>
            <a:r>
              <a:rPr lang="en-IN" sz="3100" i="1" dirty="0"/>
              <a:t>Journal of Intelligent Transportation Systems</a:t>
            </a:r>
            <a:r>
              <a:rPr lang="en-IN" sz="3100" dirty="0"/>
              <a:t>, vol. 24, 2019.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9"/>
              </a:rPr>
              <a:t>https://arxiv.org/pdf/1905.03217.pdf</a:t>
            </a:r>
            <a:endParaRPr lang="en-IN" sz="3100" dirty="0"/>
          </a:p>
          <a:p>
            <a:pPr marL="15240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18B2-7CB9-52FE-3F6D-42A14D28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73F17-D41C-64A9-CD62-CF075F306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762138"/>
            <a:ext cx="10123424" cy="5821224"/>
          </a:xfrm>
        </p:spPr>
        <p:txBody>
          <a:bodyPr>
            <a:normAutofit fontScale="32500" lnSpcReduction="20000"/>
          </a:bodyPr>
          <a:lstStyle/>
          <a:p>
            <a:endParaRPr lang="en-IN" b="1" dirty="0"/>
          </a:p>
          <a:p>
            <a:pPr>
              <a:lnSpc>
                <a:spcPct val="120000"/>
              </a:lnSpc>
            </a:pPr>
            <a:r>
              <a:rPr lang="en-IN" sz="3100" b="1" dirty="0"/>
              <a:t>[8]</a:t>
            </a:r>
            <a:r>
              <a:rPr lang="en-IN" sz="3100" dirty="0"/>
              <a:t> J. Chen, X. Li, and W. Zhang,</a:t>
            </a:r>
            <a:br>
              <a:rPr lang="en-IN" sz="3100" dirty="0"/>
            </a:br>
            <a:r>
              <a:rPr lang="en-IN" sz="3100" dirty="0"/>
              <a:t>“Vehicle Prioritization Using CNNs for Real-Time Traffic Signal Control,”</a:t>
            </a:r>
            <a:br>
              <a:rPr lang="en-IN" sz="3100" dirty="0"/>
            </a:br>
            <a:r>
              <a:rPr lang="en-IN" sz="3100" i="1" dirty="0"/>
              <a:t>IEEE Transactions on Intelligent Transportation Systems</a:t>
            </a:r>
            <a:r>
              <a:rPr lang="en-IN" sz="3100" dirty="0"/>
              <a:t>, vol. 21, 2018.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2"/>
              </a:rPr>
              <a:t>https://ieeexplore.ieee.org/stamp/stamp.jsp?arnumber=8463308</a:t>
            </a:r>
            <a:endParaRPr lang="en-IN" sz="3100" b="1" dirty="0"/>
          </a:p>
          <a:p>
            <a:pPr>
              <a:lnSpc>
                <a:spcPct val="120000"/>
              </a:lnSpc>
            </a:pPr>
            <a:r>
              <a:rPr lang="en-IN" sz="3100" b="1" dirty="0"/>
              <a:t>[9]</a:t>
            </a:r>
            <a:r>
              <a:rPr lang="en-IN" sz="3100" dirty="0"/>
              <a:t> J. Zhang, Y. Zheng, and D. Qi,</a:t>
            </a:r>
            <a:br>
              <a:rPr lang="en-IN" sz="3100" dirty="0"/>
            </a:br>
            <a:r>
              <a:rPr lang="en-IN" sz="3100" dirty="0"/>
              <a:t>“Deep </a:t>
            </a:r>
            <a:r>
              <a:rPr lang="en-IN" sz="3100" dirty="0" err="1"/>
              <a:t>Spatio</a:t>
            </a:r>
            <a:r>
              <a:rPr lang="en-IN" sz="3100" dirty="0"/>
              <a:t>-Temporal Residual Networks for Citywide Crowd Flows Prediction,”</a:t>
            </a:r>
            <a:br>
              <a:rPr lang="en-IN" sz="3100" dirty="0"/>
            </a:br>
            <a:r>
              <a:rPr lang="en-IN" sz="3100" i="1" dirty="0"/>
              <a:t>Proceedings of the AAAI Conference on Artificial Intelligence</a:t>
            </a:r>
            <a:r>
              <a:rPr lang="en-IN" sz="3100" dirty="0"/>
              <a:t>, 2017.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3"/>
              </a:rPr>
              <a:t>https://arxiv.org/pdf/1610.00081.pdf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[10]</a:t>
            </a:r>
            <a:r>
              <a:rPr lang="en-IN" sz="3100" dirty="0"/>
              <a:t> A. </a:t>
            </a:r>
            <a:r>
              <a:rPr lang="en-IN" sz="3100" dirty="0" err="1"/>
              <a:t>Koesdwiady</a:t>
            </a:r>
            <a:r>
              <a:rPr lang="en-IN" sz="3100" dirty="0"/>
              <a:t>, R. Soua, and F. </a:t>
            </a:r>
            <a:r>
              <a:rPr lang="en-IN" sz="3100" dirty="0" err="1"/>
              <a:t>Karray</a:t>
            </a:r>
            <a:r>
              <a:rPr lang="en-IN" sz="3100" dirty="0"/>
              <a:t>,</a:t>
            </a:r>
            <a:br>
              <a:rPr lang="en-IN" sz="3100" dirty="0"/>
            </a:br>
            <a:r>
              <a:rPr lang="en-IN" sz="3100" dirty="0"/>
              <a:t>“Improving Traffic Flow Prediction with Weather Information in Connected Cars,”</a:t>
            </a:r>
            <a:br>
              <a:rPr lang="en-IN" sz="3100" dirty="0"/>
            </a:br>
            <a:r>
              <a:rPr lang="en-IN" sz="3100" i="1" dirty="0"/>
              <a:t>IEEE Transactions on Vehicular Technology</a:t>
            </a:r>
            <a:r>
              <a:rPr lang="en-IN" sz="3100" dirty="0"/>
              <a:t>, 2016.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4"/>
              </a:rPr>
              <a:t>https://arxiv.org/pdf/1607.04617.pdf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[11]</a:t>
            </a:r>
            <a:r>
              <a:rPr lang="en-IN" sz="3100" dirty="0"/>
              <a:t> Y. </a:t>
            </a:r>
            <a:r>
              <a:rPr lang="en-IN" sz="3100" dirty="0" err="1"/>
              <a:t>Lv</a:t>
            </a:r>
            <a:r>
              <a:rPr lang="en-IN" sz="3100" dirty="0"/>
              <a:t>, Y. Duan, W. Kang, Z. Li, and F.-Y. Wang,</a:t>
            </a:r>
            <a:br>
              <a:rPr lang="en-IN" sz="3100" dirty="0"/>
            </a:br>
            <a:r>
              <a:rPr lang="en-IN" sz="3100" dirty="0"/>
              <a:t>“Traffic Flow Prediction with Big Data: A Deep Learning Approach,”</a:t>
            </a:r>
            <a:br>
              <a:rPr lang="en-IN" sz="3100" dirty="0"/>
            </a:br>
            <a:r>
              <a:rPr lang="en-IN" sz="3100" i="1" dirty="0"/>
              <a:t>IEEE Transactions on Intelligent Transportation Systems</a:t>
            </a:r>
            <a:r>
              <a:rPr lang="en-IN" sz="3100" dirty="0"/>
              <a:t>, vol. 16, 2015.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5"/>
              </a:rPr>
              <a:t>https://ieeexplore.ieee.org/stamp/stamp.jsp?arnumber=7111151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[12]</a:t>
            </a:r>
            <a:r>
              <a:rPr lang="en-IN" sz="3100" dirty="0"/>
              <a:t> X. Ma, Z. Tao, Y. Wang, H. Yu, and Y. Wang,</a:t>
            </a:r>
            <a:br>
              <a:rPr lang="en-IN" sz="3100" dirty="0"/>
            </a:br>
            <a:r>
              <a:rPr lang="en-IN" sz="3100" dirty="0"/>
              <a:t>“Long Short-Term Memory Neural Network for Traffic Speed Prediction,”</a:t>
            </a:r>
            <a:br>
              <a:rPr lang="en-IN" sz="3100" dirty="0"/>
            </a:br>
            <a:r>
              <a:rPr lang="en-IN" sz="3100" i="1" dirty="0"/>
              <a:t>Transportation Research Part C</a:t>
            </a:r>
            <a:r>
              <a:rPr lang="en-IN" sz="3100" dirty="0"/>
              <a:t>, vol. 54, 2014.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6"/>
              </a:rPr>
              <a:t>https://arxiv.org/pdf/1506.04214.pdf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[13]</a:t>
            </a:r>
            <a:r>
              <a:rPr lang="en-IN" sz="3100" dirty="0"/>
              <a:t> L. Li, Y. Zheng, and Y. Liu,</a:t>
            </a:r>
            <a:br>
              <a:rPr lang="en-IN" sz="3100" dirty="0"/>
            </a:br>
            <a:r>
              <a:rPr lang="en-IN" sz="3100" dirty="0"/>
              <a:t>“Urban Traffic Flow Prediction Using Big Data,”</a:t>
            </a:r>
            <a:br>
              <a:rPr lang="en-IN" sz="3100" dirty="0"/>
            </a:br>
            <a:r>
              <a:rPr lang="en-IN" sz="3100" i="1" dirty="0"/>
              <a:t>IEEE Transactions on Intelligent Transportation Systems</a:t>
            </a:r>
            <a:r>
              <a:rPr lang="en-IN" sz="3100" dirty="0"/>
              <a:t>, 2013.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7"/>
              </a:rPr>
              <a:t>https://ieeexplore.ieee.org/stamp/stamp.jsp?arnumber=6548520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[14]</a:t>
            </a:r>
            <a:r>
              <a:rPr lang="en-IN" sz="3100" dirty="0"/>
              <a:t> C. Wu, J. Ho, and D. Lee,</a:t>
            </a:r>
            <a:br>
              <a:rPr lang="en-IN" sz="3100" dirty="0"/>
            </a:br>
            <a:r>
              <a:rPr lang="en-IN" sz="3100" dirty="0"/>
              <a:t>“Travel-Time Prediction with Support Vector Regression,”</a:t>
            </a:r>
            <a:br>
              <a:rPr lang="en-IN" sz="3100" dirty="0"/>
            </a:br>
            <a:r>
              <a:rPr lang="en-IN" sz="3100" i="1" dirty="0"/>
              <a:t>IEEE Transactions on Intelligent Transportation Systems</a:t>
            </a:r>
            <a:r>
              <a:rPr lang="en-IN" sz="3100" dirty="0"/>
              <a:t>, 2012.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8"/>
              </a:rPr>
              <a:t>https://ieeexplore.ieee.org/stamp/stamp.jsp?arnumber=6203714</a:t>
            </a:r>
            <a:endParaRPr lang="en-IN" sz="3100" dirty="0"/>
          </a:p>
          <a:p>
            <a:pPr>
              <a:lnSpc>
                <a:spcPct val="120000"/>
              </a:lnSpc>
            </a:pPr>
            <a:r>
              <a:rPr lang="en-IN" sz="3100" b="1" dirty="0"/>
              <a:t>[15]</a:t>
            </a:r>
            <a:r>
              <a:rPr lang="en-IN" sz="3100" dirty="0"/>
              <a:t> A. S. A. Swathi and M. Narayana,</a:t>
            </a:r>
            <a:br>
              <a:rPr lang="en-IN" sz="3100" dirty="0"/>
            </a:br>
            <a:r>
              <a:rPr lang="en-IN" sz="3100" dirty="0"/>
              <a:t>“Traffic Prediction Using Neural Networks,”</a:t>
            </a:r>
            <a:br>
              <a:rPr lang="en-IN" sz="3100" dirty="0"/>
            </a:br>
            <a:r>
              <a:rPr lang="en-IN" sz="3100" i="1" dirty="0"/>
              <a:t>International Journal of Computer Applications</a:t>
            </a:r>
            <a:r>
              <a:rPr lang="en-IN" sz="3100" dirty="0"/>
              <a:t>, 2011.</a:t>
            </a:r>
            <a:br>
              <a:rPr lang="en-IN" sz="3100" dirty="0"/>
            </a:br>
            <a:r>
              <a:rPr lang="en-IN" sz="3100" dirty="0"/>
              <a:t>PDF: </a:t>
            </a:r>
            <a:r>
              <a:rPr lang="en-IN" sz="3100" dirty="0">
                <a:hlinkClick r:id="rId9"/>
              </a:rPr>
              <a:t>https://www.ijcaonline.org/archives/volume1/number15/traffic-prediction.pdf</a:t>
            </a:r>
            <a:endParaRPr lang="en-IN" sz="31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534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1557</Words>
  <Application>Microsoft Office PowerPoint</Application>
  <PresentationFormat>Widescreen</PresentationFormat>
  <Paragraphs>187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Verdana</vt:lpstr>
      <vt:lpstr>Wingdings</vt:lpstr>
      <vt:lpstr>Bioinformatics</vt:lpstr>
      <vt:lpstr>Smart Traffic Management System for Urban Congestion </vt:lpstr>
      <vt:lpstr>Problem Statement Number : SIH25050</vt:lpstr>
      <vt:lpstr>Content</vt:lpstr>
      <vt:lpstr>Problem Statement : How it Works</vt:lpstr>
      <vt:lpstr>Steps Requirement</vt:lpstr>
      <vt:lpstr>Technology Stack Components:</vt:lpstr>
      <vt:lpstr>Github Link</vt:lpstr>
      <vt:lpstr>Analysis of Problem Statement (contd...)</vt:lpstr>
      <vt:lpstr>Analysis of Problem Statement (contd...)</vt:lpstr>
      <vt:lpstr>Results &amp; Outcomes</vt:lpstr>
      <vt:lpstr>Timeline of the Project (Gantt Chart)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Syed Thousif</cp:lastModifiedBy>
  <cp:revision>49</cp:revision>
  <dcterms:modified xsi:type="dcterms:W3CDTF">2026-01-12T16:46:02Z</dcterms:modified>
</cp:coreProperties>
</file>