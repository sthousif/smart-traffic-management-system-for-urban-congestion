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9"/>
  </p:notesMasterIdLst>
  <p:sldIdLst>
    <p:sldId id="256" r:id="rId2"/>
    <p:sldId id="269" r:id="rId3"/>
    <p:sldId id="257" r:id="rId4"/>
    <p:sldId id="295" r:id="rId5"/>
    <p:sldId id="258" r:id="rId6"/>
    <p:sldId id="297" r:id="rId7"/>
    <p:sldId id="301" r:id="rId8"/>
    <p:sldId id="267" r:id="rId9"/>
    <p:sldId id="271" r:id="rId10"/>
    <p:sldId id="302" r:id="rId11"/>
    <p:sldId id="290" r:id="rId12"/>
    <p:sldId id="291" r:id="rId13"/>
    <p:sldId id="299" r:id="rId14"/>
    <p:sldId id="273" r:id="rId15"/>
    <p:sldId id="265" r:id="rId16"/>
    <p:sldId id="300" r:id="rId17"/>
    <p:sldId id="266" r:id="rId18"/>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6" roundtripDataSignature="AMtx7mie74ywXQ3WAx+gcgni+w7nXBvlq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70602FFC-E6F1-48FD-B3E5-CC246D8D6623}">
  <a:tblStyle styleId="{70602FFC-E6F1-48FD-B3E5-CC246D8D6623}" styleName="Table_0">
    <a:wholeTbl>
      <a:tcTxStyle b="off" i="off">
        <a:font>
          <a:latin typeface="Bookman Old Style"/>
          <a:ea typeface="Bookman Old Style"/>
          <a:cs typeface="Bookman Old Style"/>
        </a:font>
        <a:schemeClr val="dk1"/>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9525" cap="flat" cmpd="sng">
              <a:solidFill>
                <a:srgbClr val="000000">
                  <a:alpha val="0"/>
                </a:srgbClr>
              </a:solidFill>
              <a:prstDash val="solid"/>
              <a:round/>
              <a:headEnd type="none" w="sm" len="sm"/>
              <a:tailEnd type="none" w="sm" len="sm"/>
            </a:ln>
          </a:top>
          <a:bottom>
            <a:ln w="9525" cap="flat" cmpd="sng">
              <a:solidFill>
                <a:srgbClr val="000000">
                  <a:alpha val="0"/>
                </a:srgbClr>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 styleId="{E5F8F902-6029-4759-B95E-2553FD537B20}"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14"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customschemas.google.com/relationships/presentationmetadata" Target="meta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3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
        <p:cNvGrpSpPr/>
        <p:nvPr/>
      </p:nvGrpSpPr>
      <p:grpSpPr>
        <a:xfrm>
          <a:off x="0" y="0"/>
          <a:ext cx="0" cy="0"/>
          <a:chOff x="0" y="0"/>
          <a:chExt cx="0" cy="0"/>
        </a:xfrm>
      </p:grpSpPr>
      <p:sp>
        <p:nvSpPr>
          <p:cNvPr id="84" name="Google Shape;8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
        <p:nvSpPr>
          <p:cNvPr id="85" name="Google Shape;85;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4" name="Google Shape;94;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IN"/>
          </a:p>
        </p:txBody>
      </p:sp>
    </p:spTree>
    <p:extLst>
      <p:ext uri="{BB962C8B-B14F-4D97-AF65-F5344CB8AC3E}">
        <p14:creationId xmlns:p14="http://schemas.microsoft.com/office/powerpoint/2010/main" val="8324418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C9D14E20-CDC2-D3CE-18A4-9538F2BBC45C}"/>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AC738BED-6F14-1EEB-2819-331FC30F9C2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2:notes">
            <a:extLst>
              <a:ext uri="{FF2B5EF4-FFF2-40B4-BE49-F238E27FC236}">
                <a16:creationId xmlns:a16="http://schemas.microsoft.com/office/drawing/2014/main" id="{A0DA9FFF-0FDE-E407-9A11-525ECFA1CFE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424471506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a:extLst>
            <a:ext uri="{FF2B5EF4-FFF2-40B4-BE49-F238E27FC236}">
              <a16:creationId xmlns:a16="http://schemas.microsoft.com/office/drawing/2014/main" id="{9E877326-0F8E-E62F-9465-EEA0E44221B7}"/>
            </a:ext>
          </a:extLst>
        </p:cNvPr>
        <p:cNvGrpSpPr/>
        <p:nvPr/>
      </p:nvGrpSpPr>
      <p:grpSpPr>
        <a:xfrm>
          <a:off x="0" y="0"/>
          <a:ext cx="0" cy="0"/>
          <a:chOff x="0" y="0"/>
          <a:chExt cx="0" cy="0"/>
        </a:xfrm>
      </p:grpSpPr>
      <p:sp>
        <p:nvSpPr>
          <p:cNvPr id="95" name="Google Shape;95;p2:notes">
            <a:extLst>
              <a:ext uri="{FF2B5EF4-FFF2-40B4-BE49-F238E27FC236}">
                <a16:creationId xmlns:a16="http://schemas.microsoft.com/office/drawing/2014/main" id="{B475F5A7-437D-4E8E-93FA-631E5EC47E3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6" name="Google Shape;96;p2:notes">
            <a:extLst>
              <a:ext uri="{FF2B5EF4-FFF2-40B4-BE49-F238E27FC236}">
                <a16:creationId xmlns:a16="http://schemas.microsoft.com/office/drawing/2014/main" id="{14CBF79C-5228-BA42-6940-13AF489D4C1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27541551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A191AB95-B52D-2B6C-D389-383828B171E2}"/>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5A3221B2-AAC7-8170-74AB-D5FF080F731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3:notes">
            <a:extLst>
              <a:ext uri="{FF2B5EF4-FFF2-40B4-BE49-F238E27FC236}">
                <a16:creationId xmlns:a16="http://schemas.microsoft.com/office/drawing/2014/main" id="{EF483479-7950-9572-D9CC-6101B198A78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6104792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81E31A4E-519E-1A97-902E-87F6DA97E650}"/>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BE9C21F3-FACF-E57C-9C96-5C9C15980FD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3:notes">
            <a:extLst>
              <a:ext uri="{FF2B5EF4-FFF2-40B4-BE49-F238E27FC236}">
                <a16:creationId xmlns:a16="http://schemas.microsoft.com/office/drawing/2014/main" id="{4D7DDF0E-75CD-5010-1E94-47FF61FFF4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15229515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38B5ADD9-AC45-8F38-45EC-D34EEAFC7F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3A620089-54D5-078E-EA3B-586CEF662D5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2" name="Google Shape;102;p3:notes">
            <a:extLst>
              <a:ext uri="{FF2B5EF4-FFF2-40B4-BE49-F238E27FC236}">
                <a16:creationId xmlns:a16="http://schemas.microsoft.com/office/drawing/2014/main" id="{2D1564D9-F6F8-69E3-13BB-E4A8CEC7BA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extLst>
      <p:ext uri="{BB962C8B-B14F-4D97-AF65-F5344CB8AC3E}">
        <p14:creationId xmlns:p14="http://schemas.microsoft.com/office/powerpoint/2010/main" val="33154729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8" name="Google Shape;148;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4" name="Google Shape;154;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3"/>
        <p:cNvGrpSpPr/>
        <p:nvPr/>
      </p:nvGrpSpPr>
      <p:grpSpPr>
        <a:xfrm>
          <a:off x="0" y="0"/>
          <a:ext cx="0" cy="0"/>
          <a:chOff x="0" y="0"/>
          <a:chExt cx="0" cy="0"/>
        </a:xfrm>
      </p:grpSpPr>
      <p:sp>
        <p:nvSpPr>
          <p:cNvPr id="14" name="Google Shape;14;p13"/>
          <p:cNvSpPr txBox="1">
            <a:spLocks noGrp="1"/>
          </p:cNvSpPr>
          <p:nvPr>
            <p:ph type="ctrTitle"/>
          </p:nvPr>
        </p:nvSpPr>
        <p:spPr>
          <a:xfrm>
            <a:off x="1050877" y="1322386"/>
            <a:ext cx="10363200" cy="14700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13"/>
          <p:cNvSpPr txBox="1">
            <a:spLocks noGrp="1"/>
          </p:cNvSpPr>
          <p:nvPr>
            <p:ph type="subTitle" idx="1"/>
          </p:nvPr>
        </p:nvSpPr>
        <p:spPr>
          <a:xfrm>
            <a:off x="2032000" y="3326641"/>
            <a:ext cx="85344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400"/>
              </a:spcBef>
              <a:spcAft>
                <a:spcPts val="0"/>
              </a:spcAft>
              <a:buClr>
                <a:srgbClr val="17365D"/>
              </a:buClr>
              <a:buSzPts val="2000"/>
              <a:buNone/>
              <a:defRPr sz="2000" b="1">
                <a:solidFill>
                  <a:srgbClr val="17365D"/>
                </a:solidFill>
              </a:defRPr>
            </a:lvl1pPr>
            <a:lvl2pPr lvl="1" algn="ctr">
              <a:lnSpc>
                <a:spcPct val="100000"/>
              </a:lnSpc>
              <a:spcBef>
                <a:spcPts val="400"/>
              </a:spcBef>
              <a:spcAft>
                <a:spcPts val="0"/>
              </a:spcAft>
              <a:buClr>
                <a:srgbClr val="888888"/>
              </a:buClr>
              <a:buSzPts val="2000"/>
              <a:buNone/>
              <a:defRPr>
                <a:solidFill>
                  <a:srgbClr val="888888"/>
                </a:solidFill>
              </a:defRPr>
            </a:lvl2pPr>
            <a:lvl3pPr lvl="2" algn="ctr">
              <a:lnSpc>
                <a:spcPct val="100000"/>
              </a:lnSpc>
              <a:spcBef>
                <a:spcPts val="360"/>
              </a:spcBef>
              <a:spcAft>
                <a:spcPts val="0"/>
              </a:spcAft>
              <a:buClr>
                <a:srgbClr val="888888"/>
              </a:buClr>
              <a:buSzPts val="1800"/>
              <a:buNone/>
              <a:defRPr>
                <a:solidFill>
                  <a:srgbClr val="888888"/>
                </a:solidFill>
              </a:defRPr>
            </a:lvl3pPr>
            <a:lvl4pPr lvl="3" algn="ctr">
              <a:lnSpc>
                <a:spcPct val="100000"/>
              </a:lnSpc>
              <a:spcBef>
                <a:spcPts val="320"/>
              </a:spcBef>
              <a:spcAft>
                <a:spcPts val="0"/>
              </a:spcAft>
              <a:buClr>
                <a:srgbClr val="888888"/>
              </a:buClr>
              <a:buSzPts val="1600"/>
              <a:buNone/>
              <a:defRPr>
                <a:solidFill>
                  <a:srgbClr val="888888"/>
                </a:solidFill>
              </a:defRPr>
            </a:lvl4pPr>
            <a:lvl5pPr lvl="4" algn="ctr">
              <a:lnSpc>
                <a:spcPct val="100000"/>
              </a:lnSpc>
              <a:spcBef>
                <a:spcPts val="320"/>
              </a:spcBef>
              <a:spcAft>
                <a:spcPts val="0"/>
              </a:spcAft>
              <a:buClr>
                <a:srgbClr val="888888"/>
              </a:buClr>
              <a:buSzPts val="16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16" name="Google Shape;16;p1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1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1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9"/>
        <p:cNvGrpSpPr/>
        <p:nvPr/>
      </p:nvGrpSpPr>
      <p:grpSpPr>
        <a:xfrm>
          <a:off x="0" y="0"/>
          <a:ext cx="0" cy="0"/>
          <a:chOff x="0" y="0"/>
          <a:chExt cx="0" cy="0"/>
        </a:xfrm>
      </p:grpSpPr>
      <p:sp>
        <p:nvSpPr>
          <p:cNvPr id="20" name="Google Shape;20;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17365D"/>
              </a:buClr>
              <a:buSzPts val="2800"/>
              <a:buFont typeface="Verdana"/>
              <a:buNone/>
              <a:defRPr>
                <a:solidFill>
                  <a:srgbClr val="17365D"/>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14"/>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a:solidFill>
                  <a:schemeClr val="dk1"/>
                </a:solidFill>
              </a:defRPr>
            </a:lvl1pPr>
            <a:lvl2pPr marL="914400" lvl="1" indent="-355600" algn="l">
              <a:lnSpc>
                <a:spcPct val="100000"/>
              </a:lnSpc>
              <a:spcBef>
                <a:spcPts val="400"/>
              </a:spcBef>
              <a:spcAft>
                <a:spcPts val="0"/>
              </a:spcAft>
              <a:buClr>
                <a:schemeClr val="dk1"/>
              </a:buClr>
              <a:buSzPts val="2000"/>
              <a:buChar char="–"/>
              <a:defRPr>
                <a:solidFill>
                  <a:schemeClr val="dk1"/>
                </a:solidFill>
              </a:defRPr>
            </a:lvl2pPr>
            <a:lvl3pPr marL="1371600" lvl="2" indent="-342900" algn="l">
              <a:lnSpc>
                <a:spcPct val="100000"/>
              </a:lnSpc>
              <a:spcBef>
                <a:spcPts val="360"/>
              </a:spcBef>
              <a:spcAft>
                <a:spcPts val="0"/>
              </a:spcAft>
              <a:buClr>
                <a:schemeClr val="dk1"/>
              </a:buClr>
              <a:buSzPts val="1800"/>
              <a:buChar char="•"/>
              <a:defRPr>
                <a:solidFill>
                  <a:schemeClr val="dk1"/>
                </a:solidFill>
              </a:defRPr>
            </a:lvl3pPr>
            <a:lvl4pPr marL="1828800" lvl="3" indent="-330200" algn="l">
              <a:lnSpc>
                <a:spcPct val="100000"/>
              </a:lnSpc>
              <a:spcBef>
                <a:spcPts val="320"/>
              </a:spcBef>
              <a:spcAft>
                <a:spcPts val="0"/>
              </a:spcAft>
              <a:buClr>
                <a:schemeClr val="dk1"/>
              </a:buClr>
              <a:buSzPts val="1600"/>
              <a:buChar char="–"/>
              <a:defRPr>
                <a:solidFill>
                  <a:schemeClr val="dk1"/>
                </a:solidFill>
              </a:defRPr>
            </a:lvl4pPr>
            <a:lvl5pPr marL="2286000" lvl="4" indent="-330200" algn="l">
              <a:lnSpc>
                <a:spcPct val="100000"/>
              </a:lnSpc>
              <a:spcBef>
                <a:spcPts val="320"/>
              </a:spcBef>
              <a:spcAft>
                <a:spcPts val="0"/>
              </a:spcAft>
              <a:buClr>
                <a:schemeClr val="dk1"/>
              </a:buClr>
              <a:buSzPts val="1600"/>
              <a:buChar char="»"/>
              <a:defRPr>
                <a:solidFill>
                  <a:schemeClr val="dk1"/>
                </a:solidFill>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2" name="Google Shape;22;p14"/>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14"/>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14"/>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5"/>
        <p:cNvGrpSpPr/>
        <p:nvPr/>
      </p:nvGrpSpPr>
      <p:grpSpPr>
        <a:xfrm>
          <a:off x="0" y="0"/>
          <a:ext cx="0" cy="0"/>
          <a:chOff x="0" y="0"/>
          <a:chExt cx="0" cy="0"/>
        </a:xfrm>
      </p:grpSpPr>
      <p:sp>
        <p:nvSpPr>
          <p:cNvPr id="26" name="Google Shape;26;p15"/>
          <p:cNvSpPr txBox="1">
            <a:spLocks noGrp="1"/>
          </p:cNvSpPr>
          <p:nvPr>
            <p:ph type="title"/>
          </p:nvPr>
        </p:nvSpPr>
        <p:spPr>
          <a:xfrm>
            <a:off x="963084" y="4406903"/>
            <a:ext cx="10363200" cy="1362000"/>
          </a:xfrm>
          <a:prstGeom prst="rect">
            <a:avLst/>
          </a:prstGeom>
          <a:noFill/>
          <a:ln>
            <a:noFill/>
          </a:ln>
        </p:spPr>
        <p:txBody>
          <a:bodyPr spcFirstLastPara="1" wrap="square" lIns="91425" tIns="45700" rIns="91425" bIns="45700" anchor="t" anchorCtr="0">
            <a:noAutofit/>
          </a:bodyPr>
          <a:lstStyle>
            <a:lvl1pPr lvl="0" algn="l">
              <a:lnSpc>
                <a:spcPct val="100000"/>
              </a:lnSpc>
              <a:spcBef>
                <a:spcPts val="0"/>
              </a:spcBef>
              <a:spcAft>
                <a:spcPts val="0"/>
              </a:spcAft>
              <a:buClr>
                <a:srgbClr val="FF0000"/>
              </a:buClr>
              <a:buSzPts val="4000"/>
              <a:buFont typeface="Verdana"/>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15"/>
          <p:cNvSpPr txBox="1">
            <a:spLocks noGrp="1"/>
          </p:cNvSpPr>
          <p:nvPr>
            <p:ph type="body" idx="1"/>
          </p:nvPr>
        </p:nvSpPr>
        <p:spPr>
          <a:xfrm>
            <a:off x="963084" y="2906713"/>
            <a:ext cx="10363200" cy="15003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28" name="Google Shape;28;p15"/>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5"/>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15"/>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8"/>
        <p:cNvGrpSpPr/>
        <p:nvPr/>
      </p:nvGrpSpPr>
      <p:grpSpPr>
        <a:xfrm>
          <a:off x="0" y="0"/>
          <a:ext cx="0" cy="0"/>
          <a:chOff x="0" y="0"/>
          <a:chExt cx="0" cy="0"/>
        </a:xfrm>
      </p:grpSpPr>
      <p:sp>
        <p:nvSpPr>
          <p:cNvPr id="39" name="Google Shape;39;p17"/>
          <p:cNvSpPr txBox="1">
            <a:spLocks noGrp="1"/>
          </p:cNvSpPr>
          <p:nvPr>
            <p:ph type="title"/>
          </p:nvPr>
        </p:nvSpPr>
        <p:spPr>
          <a:xfrm>
            <a:off x="859368" y="304800"/>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2800"/>
              <a:buFont typeface="Verdana"/>
              <a:buNone/>
              <a:defRPr>
                <a:solidFill>
                  <a:srgbClr val="FF000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7"/>
          <p:cNvSpPr txBox="1">
            <a:spLocks noGrp="1"/>
          </p:cNvSpPr>
          <p:nvPr>
            <p:ph type="body" idx="1"/>
          </p:nvPr>
        </p:nvSpPr>
        <p:spPr>
          <a:xfrm>
            <a:off x="609600" y="1535113"/>
            <a:ext cx="53868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1" name="Google Shape;41;p17"/>
          <p:cNvSpPr txBox="1">
            <a:spLocks noGrp="1"/>
          </p:cNvSpPr>
          <p:nvPr>
            <p:ph type="body" idx="2"/>
          </p:nvPr>
        </p:nvSpPr>
        <p:spPr>
          <a:xfrm>
            <a:off x="609600" y="2174875"/>
            <a:ext cx="53868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2" name="Google Shape;42;p17"/>
          <p:cNvSpPr txBox="1">
            <a:spLocks noGrp="1"/>
          </p:cNvSpPr>
          <p:nvPr>
            <p:ph type="body" idx="3"/>
          </p:nvPr>
        </p:nvSpPr>
        <p:spPr>
          <a:xfrm>
            <a:off x="6193369" y="1535113"/>
            <a:ext cx="5388900" cy="639900"/>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43" name="Google Shape;43;p17"/>
          <p:cNvSpPr txBox="1">
            <a:spLocks noGrp="1"/>
          </p:cNvSpPr>
          <p:nvPr>
            <p:ph type="body" idx="4"/>
          </p:nvPr>
        </p:nvSpPr>
        <p:spPr>
          <a:xfrm>
            <a:off x="6193369" y="2174875"/>
            <a:ext cx="5388900" cy="3951300"/>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44" name="Google Shape;44;p17"/>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17"/>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7"/>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3"/>
        <p:cNvGrpSpPr/>
        <p:nvPr/>
      </p:nvGrpSpPr>
      <p:grpSpPr>
        <a:xfrm>
          <a:off x="0" y="0"/>
          <a:ext cx="0" cy="0"/>
          <a:chOff x="0" y="0"/>
          <a:chExt cx="0" cy="0"/>
        </a:xfrm>
      </p:grpSpPr>
      <p:sp>
        <p:nvSpPr>
          <p:cNvPr id="54" name="Google Shape;54;p19"/>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9"/>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9"/>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7"/>
        <p:cNvGrpSpPr/>
        <p:nvPr/>
      </p:nvGrpSpPr>
      <p:grpSpPr>
        <a:xfrm>
          <a:off x="0" y="0"/>
          <a:ext cx="0" cy="0"/>
          <a:chOff x="0" y="0"/>
          <a:chExt cx="0" cy="0"/>
        </a:xfrm>
      </p:grpSpPr>
      <p:sp>
        <p:nvSpPr>
          <p:cNvPr id="58" name="Google Shape;58;p20"/>
          <p:cNvSpPr txBox="1">
            <a:spLocks noGrp="1"/>
          </p:cNvSpPr>
          <p:nvPr>
            <p:ph type="title"/>
          </p:nvPr>
        </p:nvSpPr>
        <p:spPr>
          <a:xfrm>
            <a:off x="609602" y="273050"/>
            <a:ext cx="4011000" cy="11622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20"/>
          <p:cNvSpPr txBox="1">
            <a:spLocks noGrp="1"/>
          </p:cNvSpPr>
          <p:nvPr>
            <p:ph type="body" idx="1"/>
          </p:nvPr>
        </p:nvSpPr>
        <p:spPr>
          <a:xfrm>
            <a:off x="4766733" y="273053"/>
            <a:ext cx="6815700" cy="5853000"/>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60" name="Google Shape;60;p20"/>
          <p:cNvSpPr txBox="1">
            <a:spLocks noGrp="1"/>
          </p:cNvSpPr>
          <p:nvPr>
            <p:ph type="body" idx="2"/>
          </p:nvPr>
        </p:nvSpPr>
        <p:spPr>
          <a:xfrm>
            <a:off x="609602" y="1435103"/>
            <a:ext cx="4011000" cy="46911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1" name="Google Shape;61;p20"/>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20"/>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20"/>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4"/>
        <p:cNvGrpSpPr/>
        <p:nvPr/>
      </p:nvGrpSpPr>
      <p:grpSpPr>
        <a:xfrm>
          <a:off x="0" y="0"/>
          <a:ext cx="0" cy="0"/>
          <a:chOff x="0" y="0"/>
          <a:chExt cx="0" cy="0"/>
        </a:xfrm>
      </p:grpSpPr>
      <p:sp>
        <p:nvSpPr>
          <p:cNvPr id="65" name="Google Shape;65;p21"/>
          <p:cNvSpPr txBox="1">
            <a:spLocks noGrp="1"/>
          </p:cNvSpPr>
          <p:nvPr>
            <p:ph type="title"/>
          </p:nvPr>
        </p:nvSpPr>
        <p:spPr>
          <a:xfrm>
            <a:off x="2389717" y="4800600"/>
            <a:ext cx="7315200" cy="566700"/>
          </a:xfrm>
          <a:prstGeom prst="rect">
            <a:avLst/>
          </a:prstGeom>
          <a:noFill/>
          <a:ln>
            <a:noFill/>
          </a:ln>
        </p:spPr>
        <p:txBody>
          <a:bodyPr spcFirstLastPara="1" wrap="square" lIns="91425" tIns="45700" rIns="91425" bIns="45700" anchor="b" anchorCtr="0">
            <a:noAutofit/>
          </a:bodyPr>
          <a:lstStyle>
            <a:lvl1pPr lvl="0" algn="l">
              <a:lnSpc>
                <a:spcPct val="100000"/>
              </a:lnSpc>
              <a:spcBef>
                <a:spcPts val="0"/>
              </a:spcBef>
              <a:spcAft>
                <a:spcPts val="0"/>
              </a:spcAft>
              <a:buClr>
                <a:srgbClr val="FF0000"/>
              </a:buClr>
              <a:buSzPts val="2000"/>
              <a:buFont typeface="Verdana"/>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21"/>
          <p:cNvSpPr>
            <a:spLocks noGrp="1"/>
          </p:cNvSpPr>
          <p:nvPr>
            <p:ph type="pic" idx="2"/>
          </p:nvPr>
        </p:nvSpPr>
        <p:spPr>
          <a:xfrm>
            <a:off x="2389717" y="612775"/>
            <a:ext cx="7315200" cy="4114800"/>
          </a:xfrm>
          <a:prstGeom prst="rect">
            <a:avLst/>
          </a:prstGeom>
          <a:noFill/>
          <a:ln>
            <a:noFill/>
          </a:ln>
        </p:spPr>
        <p:txBody>
          <a:bodyPr/>
          <a:lstStyle/>
          <a:p>
            <a:endParaRPr lang="en-IN"/>
          </a:p>
        </p:txBody>
      </p:sp>
      <p:sp>
        <p:nvSpPr>
          <p:cNvPr id="67" name="Google Shape;67;p21"/>
          <p:cNvSpPr txBox="1">
            <a:spLocks noGrp="1"/>
          </p:cNvSpPr>
          <p:nvPr>
            <p:ph type="body" idx="1"/>
          </p:nvPr>
        </p:nvSpPr>
        <p:spPr>
          <a:xfrm>
            <a:off x="2389717" y="5367338"/>
            <a:ext cx="7315200" cy="804900"/>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68" name="Google Shape;68;p21"/>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21"/>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21"/>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1"/>
        <p:cNvGrpSpPr/>
        <p:nvPr/>
      </p:nvGrpSpPr>
      <p:grpSpPr>
        <a:xfrm>
          <a:off x="0" y="0"/>
          <a:ext cx="0" cy="0"/>
          <a:chOff x="0" y="0"/>
          <a:chExt cx="0" cy="0"/>
        </a:xfrm>
      </p:grpSpPr>
      <p:sp>
        <p:nvSpPr>
          <p:cNvPr id="72" name="Google Shape;72;p2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22"/>
          <p:cNvSpPr txBox="1">
            <a:spLocks noGrp="1"/>
          </p:cNvSpPr>
          <p:nvPr>
            <p:ph type="body" idx="1"/>
          </p:nvPr>
        </p:nvSpPr>
        <p:spPr>
          <a:xfrm rot="5400000">
            <a:off x="3670300" y="-1714499"/>
            <a:ext cx="4953000" cy="106680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4" name="Google Shape;74;p2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2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2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7"/>
        <p:cNvGrpSpPr/>
        <p:nvPr/>
      </p:nvGrpSpPr>
      <p:grpSpPr>
        <a:xfrm>
          <a:off x="0" y="0"/>
          <a:ext cx="0" cy="0"/>
          <a:chOff x="0" y="0"/>
          <a:chExt cx="0" cy="0"/>
        </a:xfrm>
      </p:grpSpPr>
      <p:sp>
        <p:nvSpPr>
          <p:cNvPr id="78" name="Google Shape;78;p23"/>
          <p:cNvSpPr txBox="1">
            <a:spLocks noGrp="1"/>
          </p:cNvSpPr>
          <p:nvPr>
            <p:ph type="title"/>
          </p:nvPr>
        </p:nvSpPr>
        <p:spPr>
          <a:xfrm rot="5400000">
            <a:off x="7285050" y="1828791"/>
            <a:ext cx="5851500" cy="27432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Clr>
                <a:srgbClr val="FF0000"/>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23"/>
          <p:cNvSpPr txBox="1">
            <a:spLocks noGrp="1"/>
          </p:cNvSpPr>
          <p:nvPr>
            <p:ph type="body" idx="1"/>
          </p:nvPr>
        </p:nvSpPr>
        <p:spPr>
          <a:xfrm rot="5400000">
            <a:off x="1697000" y="-812859"/>
            <a:ext cx="5851500" cy="80265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80" name="Google Shape;80;p23"/>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23"/>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23"/>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2"/>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FF0000"/>
              </a:buClr>
              <a:buSzPts val="2800"/>
              <a:buFont typeface="Verdana"/>
              <a:buNone/>
              <a:defRPr sz="2800" b="1" i="0" u="none" strike="noStrike" cap="none">
                <a:solidFill>
                  <a:srgbClr val="FF0000"/>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12"/>
          <p:cNvSpPr txBox="1">
            <a:spLocks noGrp="1"/>
          </p:cNvSpPr>
          <p:nvPr>
            <p:ph type="body" idx="1"/>
          </p:nvPr>
        </p:nvSpPr>
        <p:spPr>
          <a:xfrm>
            <a:off x="812800" y="1143001"/>
            <a:ext cx="10668000" cy="4953000"/>
          </a:xfrm>
          <a:prstGeom prst="rect">
            <a:avLst/>
          </a:prstGeom>
          <a:noFill/>
          <a:ln>
            <a:noFill/>
          </a:ln>
        </p:spPr>
        <p:txBody>
          <a:bodyPr spcFirstLastPara="1" wrap="square" lIns="91425" tIns="45700" rIns="91425" bIns="45700" anchor="t" anchorCtr="0">
            <a:normAutofit/>
          </a:bodyPr>
          <a:lstStyle>
            <a:lvl1pPr marL="457200" marR="0" lvl="0"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Verdana"/>
                <a:ea typeface="Verdana"/>
                <a:cs typeface="Verdana"/>
                <a:sym typeface="Verdana"/>
              </a:defRPr>
            </a:lvl1pPr>
            <a:lvl2pPr marL="914400" marR="0" lvl="1"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Verdana"/>
                <a:ea typeface="Verdana"/>
                <a:cs typeface="Verdana"/>
                <a:sym typeface="Verdana"/>
              </a:defRPr>
            </a:lvl2pPr>
            <a:lvl3pPr marL="1371600" marR="0" lvl="2"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Verdana"/>
                <a:ea typeface="Verdana"/>
                <a:cs typeface="Verdana"/>
                <a:sym typeface="Verdana"/>
              </a:defRPr>
            </a:lvl3pPr>
            <a:lvl4pPr marL="1828800" marR="0" lvl="3"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4pPr>
            <a:lvl5pPr marL="2286000" marR="0" lvl="4"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Verdana"/>
                <a:ea typeface="Verdana"/>
                <a:cs typeface="Verdana"/>
                <a:sym typeface="Verdana"/>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8" name="Google Shape;8;p12"/>
          <p:cNvSpPr txBox="1">
            <a:spLocks noGrp="1"/>
          </p:cNvSpPr>
          <p:nvPr>
            <p:ph type="dt" idx="10"/>
          </p:nvPr>
        </p:nvSpPr>
        <p:spPr>
          <a:xfrm>
            <a:off x="609600" y="6356353"/>
            <a:ext cx="28449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9" name="Google Shape;9;p12"/>
          <p:cNvSpPr txBox="1">
            <a:spLocks noGrp="1"/>
          </p:cNvSpPr>
          <p:nvPr>
            <p:ph type="ftr" idx="11"/>
          </p:nvPr>
        </p:nvSpPr>
        <p:spPr>
          <a:xfrm>
            <a:off x="4165600" y="6356353"/>
            <a:ext cx="38607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Verdana"/>
                <a:ea typeface="Verdana"/>
                <a:cs typeface="Verdana"/>
                <a:sym typeface="Verdana"/>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Bookman Old Style"/>
                <a:ea typeface="Bookman Old Style"/>
                <a:cs typeface="Bookman Old Style"/>
                <a:sym typeface="Bookman Old Style"/>
              </a:defRPr>
            </a:lvl9pPr>
          </a:lstStyle>
          <a:p>
            <a:endParaRPr/>
          </a:p>
        </p:txBody>
      </p:sp>
      <p:sp>
        <p:nvSpPr>
          <p:cNvPr id="10" name="Google Shape;10;p12"/>
          <p:cNvSpPr txBox="1">
            <a:spLocks noGrp="1"/>
          </p:cNvSpPr>
          <p:nvPr>
            <p:ph type="sldNum" idx="12"/>
          </p:nvPr>
        </p:nvSpPr>
        <p:spPr>
          <a:xfrm>
            <a:off x="8737600" y="6356353"/>
            <a:ext cx="28449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Verdana"/>
                <a:ea typeface="Verdana"/>
                <a:cs typeface="Verdana"/>
                <a:sym typeface="Verdana"/>
              </a:defRPr>
            </a:lvl9pPr>
          </a:lstStyle>
          <a:p>
            <a:pPr marL="0" lvl="0" indent="0" algn="r" rtl="0">
              <a:spcBef>
                <a:spcPts val="0"/>
              </a:spcBef>
              <a:spcAft>
                <a:spcPts val="0"/>
              </a:spcAft>
              <a:buNone/>
            </a:pPr>
            <a:fld id="{00000000-1234-1234-1234-123412341234}" type="slidenum">
              <a:rPr lang="en-US"/>
              <a:t>‹#›</a:t>
            </a:fld>
            <a:endParaRPr/>
          </a:p>
        </p:txBody>
      </p:sp>
      <p:cxnSp>
        <p:nvCxnSpPr>
          <p:cNvPr id="11" name="Google Shape;11;p12"/>
          <p:cNvCxnSpPr/>
          <p:nvPr/>
        </p:nvCxnSpPr>
        <p:spPr>
          <a:xfrm>
            <a:off x="812800" y="914400"/>
            <a:ext cx="10668000" cy="0"/>
          </a:xfrm>
          <a:prstGeom prst="straightConnector1">
            <a:avLst/>
          </a:prstGeom>
          <a:noFill/>
          <a:ln w="57150" cap="flat" cmpd="thickThin">
            <a:solidFill>
              <a:schemeClr val="dk1"/>
            </a:solidFill>
            <a:prstDash val="solid"/>
            <a:round/>
            <a:headEnd type="none" w="sm" len="sm"/>
            <a:tailEnd type="none" w="sm" len="sm"/>
          </a:ln>
        </p:spPr>
      </p:cxnSp>
      <p:pic>
        <p:nvPicPr>
          <p:cNvPr id="12" name="Google Shape;12;p12"/>
          <p:cNvPicPr preferRelativeResize="0"/>
          <p:nvPr/>
        </p:nvPicPr>
        <p:blipFill rotWithShape="1">
          <a:blip r:embed="rId11">
            <a:alphaModFix/>
          </a:blip>
          <a:srcRect b="18045"/>
          <a:stretch/>
        </p:blipFill>
        <p:spPr>
          <a:xfrm>
            <a:off x="0" y="5991366"/>
            <a:ext cx="12192001" cy="866633"/>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5" r:id="rId5"/>
    <p:sldLayoutId id="2147483656" r:id="rId6"/>
    <p:sldLayoutId id="2147483657" r:id="rId7"/>
    <p:sldLayoutId id="2147483658" r:id="rId8"/>
    <p:sldLayoutId id="2147483659"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SThousif/Smart-Traffic-Management-System-for-Urban-Congestion"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png"/><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6"/>
        <p:cNvGrpSpPr/>
        <p:nvPr/>
      </p:nvGrpSpPr>
      <p:grpSpPr>
        <a:xfrm>
          <a:off x="0" y="0"/>
          <a:ext cx="0" cy="0"/>
          <a:chOff x="0" y="0"/>
          <a:chExt cx="0" cy="0"/>
        </a:xfrm>
      </p:grpSpPr>
      <p:sp>
        <p:nvSpPr>
          <p:cNvPr id="87" name="Google Shape;87;p1"/>
          <p:cNvSpPr txBox="1">
            <a:spLocks noGrp="1"/>
          </p:cNvSpPr>
          <p:nvPr>
            <p:ph type="ctrTitle"/>
          </p:nvPr>
        </p:nvSpPr>
        <p:spPr>
          <a:xfrm>
            <a:off x="790469" y="1069102"/>
            <a:ext cx="10363200" cy="963000"/>
          </a:xfrm>
          <a:prstGeom prst="rect">
            <a:avLst/>
          </a:prstGeom>
          <a:noFill/>
          <a:ln>
            <a:noFill/>
          </a:ln>
        </p:spPr>
        <p:txBody>
          <a:bodyPr spcFirstLastPara="1" wrap="square" lIns="91425" tIns="45700" rIns="91425" bIns="45700" anchor="ctr" anchorCtr="0">
            <a:noAutofit/>
          </a:bodyPr>
          <a:lstStyle/>
          <a:p>
            <a:pPr algn="ctr">
              <a:buClr>
                <a:schemeClr val="dk1"/>
              </a:buClr>
              <a:buSzPts val="1100"/>
            </a:pPr>
            <a:r>
              <a:rPr lang="en-US" sz="2400" dirty="0"/>
              <a:t>Smart Traffic Management System for Urban Congestion </a:t>
            </a:r>
            <a:br>
              <a:rPr lang="en-US" sz="2400" dirty="0"/>
            </a:br>
            <a:endParaRPr sz="2400" dirty="0">
              <a:solidFill>
                <a:schemeClr val="dk1"/>
              </a:solidFill>
              <a:latin typeface="Cambria"/>
              <a:ea typeface="Cambria"/>
              <a:cs typeface="Cambria"/>
              <a:sym typeface="Cambria"/>
            </a:endParaRPr>
          </a:p>
        </p:txBody>
      </p:sp>
      <p:sp>
        <p:nvSpPr>
          <p:cNvPr id="88" name="Google Shape;88;p1"/>
          <p:cNvSpPr txBox="1">
            <a:spLocks noGrp="1"/>
          </p:cNvSpPr>
          <p:nvPr>
            <p:ph type="subTitle" idx="1"/>
          </p:nvPr>
        </p:nvSpPr>
        <p:spPr>
          <a:xfrm>
            <a:off x="790468" y="2045352"/>
            <a:ext cx="4391131" cy="552300"/>
          </a:xfrm>
          <a:prstGeom prst="rect">
            <a:avLst/>
          </a:prstGeom>
          <a:noFill/>
          <a:ln>
            <a:noFill/>
          </a:ln>
        </p:spPr>
        <p:txBody>
          <a:bodyPr spcFirstLastPara="1" wrap="square" lIns="91425" tIns="45700" rIns="91425" bIns="45700" anchor="t" anchorCtr="0">
            <a:normAutofit/>
          </a:bodyPr>
          <a:lstStyle/>
          <a:p>
            <a:pPr marL="0" lvl="0" indent="0" algn="l">
              <a:spcBef>
                <a:spcPts val="0"/>
              </a:spcBef>
            </a:pPr>
            <a:r>
              <a:rPr lang="en-US" sz="1800" dirty="0">
                <a:latin typeface="Cambria"/>
                <a:ea typeface="Cambria"/>
                <a:cs typeface="Cambria"/>
                <a:sym typeface="Cambria"/>
              </a:rPr>
              <a:t>Batch Number:</a:t>
            </a:r>
            <a:r>
              <a:rPr lang="en-GB" sz="1800" dirty="0">
                <a:latin typeface="Cambria" panose="02040503050406030204" pitchFamily="18" charset="0"/>
                <a:ea typeface="Cambria" panose="02040503050406030204" pitchFamily="18" charset="0"/>
              </a:rPr>
              <a:t> CSE_14</a:t>
            </a:r>
            <a:endParaRPr sz="1800" dirty="0">
              <a:latin typeface="Cambria"/>
              <a:ea typeface="Cambria"/>
              <a:cs typeface="Cambria"/>
              <a:sym typeface="Cambria"/>
            </a:endParaRPr>
          </a:p>
        </p:txBody>
      </p:sp>
      <p:sp>
        <p:nvSpPr>
          <p:cNvPr id="89" name="Google Shape;89;p1"/>
          <p:cNvSpPr txBox="1"/>
          <p:nvPr/>
        </p:nvSpPr>
        <p:spPr>
          <a:xfrm>
            <a:off x="6677700" y="2754072"/>
            <a:ext cx="5514300" cy="2020560"/>
          </a:xfrm>
          <a:prstGeom prst="rect">
            <a:avLst/>
          </a:prstGeom>
          <a:noFill/>
          <a:ln>
            <a:noFill/>
          </a:ln>
        </p:spPr>
        <p:txBody>
          <a:bodyPr spcFirstLastPara="1" wrap="square" lIns="91425" tIns="45700" rIns="91425" bIns="45700" anchor="t" anchorCtr="0">
            <a:normAutofit/>
          </a:bodyPr>
          <a:lstStyle/>
          <a:p>
            <a:pPr>
              <a:spcBef>
                <a:spcPts val="340"/>
              </a:spcBef>
              <a:buClr>
                <a:srgbClr val="17365D"/>
              </a:buClr>
              <a:buSzPts val="1700"/>
            </a:pPr>
            <a:r>
              <a:rPr lang="en-US" sz="2000" b="1" u="sng" dirty="0">
                <a:solidFill>
                  <a:schemeClr val="tx1"/>
                </a:solidFill>
                <a:latin typeface="Cambria"/>
                <a:ea typeface="Cambria"/>
                <a:cs typeface="Cambria"/>
                <a:sym typeface="Cambria"/>
              </a:rPr>
              <a:t>Under the Supervision of</a:t>
            </a:r>
          </a:p>
          <a:p>
            <a:pPr>
              <a:spcBef>
                <a:spcPts val="340"/>
              </a:spcBef>
              <a:buClr>
                <a:srgbClr val="17365D"/>
              </a:buClr>
              <a:buSzPts val="1700"/>
            </a:pPr>
            <a:r>
              <a:rPr lang="en-US" sz="2000" i="0" strike="noStrike" cap="none" dirty="0">
                <a:solidFill>
                  <a:schemeClr val="tx1"/>
                </a:solidFill>
                <a:latin typeface="Cambria"/>
                <a:ea typeface="Cambria"/>
                <a:cs typeface="Cambria"/>
                <a:sym typeface="Cambria"/>
              </a:rPr>
              <a:t>Ms. Kummara Sruthi</a:t>
            </a:r>
            <a:endParaRPr sz="1300" i="0" strike="noStrike" cap="none" dirty="0">
              <a:solidFill>
                <a:srgbClr val="00206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300" b="1" i="0" u="none" strike="noStrike" cap="none" dirty="0">
                <a:solidFill>
                  <a:srgbClr val="17365D"/>
                </a:solidFill>
                <a:latin typeface="Cambria"/>
                <a:ea typeface="Cambria"/>
                <a:cs typeface="Cambria"/>
                <a:sym typeface="Cambria"/>
              </a:rPr>
              <a:t>Assistant Professor</a:t>
            </a:r>
          </a:p>
          <a:p>
            <a:pPr marL="0" marR="0" lvl="0" indent="0" algn="l" rtl="0">
              <a:lnSpc>
                <a:spcPct val="100000"/>
              </a:lnSpc>
              <a:spcBef>
                <a:spcPts val="340"/>
              </a:spcBef>
              <a:spcAft>
                <a:spcPts val="0"/>
              </a:spcAft>
              <a:buClr>
                <a:srgbClr val="17365D"/>
              </a:buClr>
              <a:buSzPts val="1700"/>
              <a:buFont typeface="Arial"/>
              <a:buNone/>
            </a:pPr>
            <a:r>
              <a:rPr lang="en-US" sz="1300" b="1" i="0" u="none" strike="noStrike" cap="none" dirty="0">
                <a:solidFill>
                  <a:srgbClr val="17365D"/>
                </a:solidFill>
                <a:latin typeface="Cambria"/>
                <a:ea typeface="Cambria"/>
                <a:cs typeface="Cambria"/>
                <a:sym typeface="Cambria"/>
              </a:rPr>
              <a:t>School of Computer Science and Engineering</a:t>
            </a:r>
            <a:endParaRPr sz="1300" b="0" i="0" u="none" strike="noStrike" cap="none" dirty="0">
              <a:solidFill>
                <a:srgbClr val="000000"/>
              </a:solidFill>
              <a:latin typeface="Cambria"/>
              <a:ea typeface="Cambria"/>
              <a:cs typeface="Cambria"/>
              <a:sym typeface="Cambria"/>
            </a:endParaRPr>
          </a:p>
          <a:p>
            <a:pPr marL="0" marR="0" lvl="0" indent="0" algn="l" rtl="0">
              <a:lnSpc>
                <a:spcPct val="100000"/>
              </a:lnSpc>
              <a:spcBef>
                <a:spcPts val="340"/>
              </a:spcBef>
              <a:spcAft>
                <a:spcPts val="0"/>
              </a:spcAft>
              <a:buClr>
                <a:srgbClr val="17365D"/>
              </a:buClr>
              <a:buSzPts val="1700"/>
              <a:buFont typeface="Arial"/>
              <a:buNone/>
            </a:pPr>
            <a:r>
              <a:rPr lang="en-US" sz="1300" b="1" i="0" u="none" strike="noStrike" cap="none" dirty="0">
                <a:solidFill>
                  <a:srgbClr val="17365D"/>
                </a:solidFill>
                <a:latin typeface="Cambria"/>
                <a:ea typeface="Cambria"/>
                <a:cs typeface="Cambria"/>
                <a:sym typeface="Cambria"/>
              </a:rPr>
              <a:t>Presidency University</a:t>
            </a:r>
            <a:endParaRPr sz="1300" b="0" i="0" u="none" strike="noStrike" cap="none" dirty="0">
              <a:solidFill>
                <a:srgbClr val="000000"/>
              </a:solidFill>
              <a:latin typeface="Cambria"/>
              <a:ea typeface="Cambria"/>
              <a:cs typeface="Cambria"/>
              <a:sym typeface="Cambria"/>
            </a:endParaRPr>
          </a:p>
          <a:p>
            <a:pPr marL="0" marR="0" lvl="0" indent="0" algn="l" rtl="0">
              <a:lnSpc>
                <a:spcPct val="100000"/>
              </a:lnSpc>
              <a:spcBef>
                <a:spcPts val="400"/>
              </a:spcBef>
              <a:spcAft>
                <a:spcPts val="0"/>
              </a:spcAft>
              <a:buClr>
                <a:srgbClr val="17365D"/>
              </a:buClr>
              <a:buSzPts val="2000"/>
              <a:buFont typeface="Arial"/>
              <a:buNone/>
            </a:pPr>
            <a:endParaRPr sz="2000" b="1" i="0" u="none" strike="noStrike" cap="none" dirty="0">
              <a:solidFill>
                <a:srgbClr val="17365D"/>
              </a:solidFill>
              <a:latin typeface="Cambria"/>
              <a:ea typeface="Cambria"/>
              <a:cs typeface="Cambria"/>
              <a:sym typeface="Cambria"/>
            </a:endParaRPr>
          </a:p>
        </p:txBody>
      </p:sp>
      <p:graphicFrame>
        <p:nvGraphicFramePr>
          <p:cNvPr id="90" name="Google Shape;90;p1"/>
          <p:cNvGraphicFramePr/>
          <p:nvPr/>
        </p:nvGraphicFramePr>
        <p:xfrm>
          <a:off x="553347" y="2721840"/>
          <a:ext cx="5418675" cy="2194620"/>
        </p:xfrm>
        <a:graphic>
          <a:graphicData uri="http://schemas.openxmlformats.org/drawingml/2006/table">
            <a:tbl>
              <a:tblPr firstRow="1" bandRow="1">
                <a:noFill/>
                <a:tableStyleId>{70602FFC-E6F1-48FD-B3E5-CC246D8D6623}</a:tableStyleId>
              </a:tblPr>
              <a:tblGrid>
                <a:gridCol w="2085000">
                  <a:extLst>
                    <a:ext uri="{9D8B030D-6E8A-4147-A177-3AD203B41FA5}">
                      <a16:colId xmlns:a16="http://schemas.microsoft.com/office/drawing/2014/main" val="20000"/>
                    </a:ext>
                  </a:extLst>
                </a:gridCol>
                <a:gridCol w="3333675">
                  <a:extLst>
                    <a:ext uri="{9D8B030D-6E8A-4147-A177-3AD203B41FA5}">
                      <a16:colId xmlns:a16="http://schemas.microsoft.com/office/drawing/2014/main" val="20001"/>
                    </a:ext>
                  </a:extLst>
                </a:gridCol>
              </a:tblGrid>
              <a:tr h="306250">
                <a:tc>
                  <a:txBody>
                    <a:bodyPr/>
                    <a:lstStyle/>
                    <a:p>
                      <a:pPr marL="0" marR="0" lvl="1" indent="0" algn="ctr" rtl="0">
                        <a:lnSpc>
                          <a:spcPct val="100000"/>
                        </a:lnSpc>
                        <a:spcBef>
                          <a:spcPts val="0"/>
                        </a:spcBef>
                        <a:spcAft>
                          <a:spcPts val="0"/>
                        </a:spcAft>
                        <a:buClr>
                          <a:srgbClr val="000000"/>
                        </a:buClr>
                        <a:buSzPts val="1800"/>
                        <a:buFont typeface="Arial"/>
                        <a:buNone/>
                      </a:pPr>
                      <a:r>
                        <a:rPr lang="en-US" sz="1800" b="1" u="none" strike="noStrike" cap="none">
                          <a:solidFill>
                            <a:srgbClr val="17365D"/>
                          </a:solidFill>
                        </a:rPr>
                        <a:t>Roll Number</a:t>
                      </a:r>
                      <a:endParaRPr sz="1800" b="1" u="none" strike="noStrike" cap="none">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1" u="none" strike="noStrike" cap="none" dirty="0">
                          <a:solidFill>
                            <a:srgbClr val="17365D"/>
                          </a:solidFill>
                        </a:rPr>
                        <a:t>Student Name</a:t>
                      </a:r>
                      <a:endParaRPr sz="1800" b="1" u="none" strike="noStrike" cap="none" dirty="0">
                        <a:solidFill>
                          <a:srgbClr val="17365D"/>
                        </a:solidFill>
                      </a:endParaRPr>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0"/>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1"/>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2"/>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3"/>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4"/>
                  </a:ext>
                </a:extLst>
              </a:tr>
              <a:tr h="306250">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tc>
                  <a:txBody>
                    <a:bodyPr/>
                    <a:lstStyle/>
                    <a:p>
                      <a:pPr marL="0" marR="0" lvl="0" indent="0" algn="ctr" rtl="0">
                        <a:lnSpc>
                          <a:spcPct val="100000"/>
                        </a:lnSpc>
                        <a:spcBef>
                          <a:spcPts val="0"/>
                        </a:spcBef>
                        <a:spcAft>
                          <a:spcPts val="0"/>
                        </a:spcAft>
                        <a:buClr>
                          <a:srgbClr val="000000"/>
                        </a:buClr>
                        <a:buSzPts val="1800"/>
                        <a:buFont typeface="Arial"/>
                        <a:buNone/>
                      </a:pPr>
                      <a:endParaRPr sz="1800" u="none" strike="noStrike" cap="none" dirty="0"/>
                    </a:p>
                  </a:txBody>
                  <a:tcPr marL="91450" marR="91450" marT="45725" marB="4572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tcPr>
                </a:tc>
                <a:extLst>
                  <a:ext uri="{0D108BD9-81ED-4DB2-BD59-A6C34878D82A}">
                    <a16:rowId xmlns:a16="http://schemas.microsoft.com/office/drawing/2014/main" val="10005"/>
                  </a:ext>
                </a:extLst>
              </a:tr>
            </a:tbl>
          </a:graphicData>
        </a:graphic>
      </p:graphicFrame>
      <p:sp>
        <p:nvSpPr>
          <p:cNvPr id="91" name="Google Shape;91;p1"/>
          <p:cNvSpPr txBox="1"/>
          <p:nvPr/>
        </p:nvSpPr>
        <p:spPr>
          <a:xfrm>
            <a:off x="3079875" y="113026"/>
            <a:ext cx="5498973" cy="729371"/>
          </a:xfrm>
          <a:prstGeom prst="rect">
            <a:avLst/>
          </a:prstGeom>
          <a:noFill/>
          <a:ln>
            <a:noFill/>
          </a:ln>
        </p:spPr>
        <p:txBody>
          <a:bodyPr spcFirstLastPara="1" wrap="square" lIns="91425" tIns="45700" rIns="91425" bIns="45700" anchor="t" anchorCtr="0">
            <a:noAutofit/>
          </a:bodyPr>
          <a:lstStyle/>
          <a:p>
            <a:pPr lvl="0" algn="ctr">
              <a:buClr>
                <a:srgbClr val="17365D"/>
              </a:buClr>
              <a:buSzPts val="1800"/>
            </a:pPr>
            <a:r>
              <a:rPr lang="en-US" sz="1800" b="1" dirty="0">
                <a:solidFill>
                  <a:schemeClr val="bg2">
                    <a:lumMod val="75000"/>
                  </a:schemeClr>
                </a:solidFill>
                <a:latin typeface="Cambria" panose="02040503050406030204" pitchFamily="18" charset="0"/>
                <a:ea typeface="Cambria" panose="02040503050406030204" pitchFamily="18" charset="0"/>
              </a:rPr>
              <a:t>CSE7302-</a:t>
            </a:r>
            <a:r>
              <a:rPr lang="en-US" sz="1800" b="1" spc="-80" dirty="0">
                <a:solidFill>
                  <a:schemeClr val="bg2">
                    <a:lumMod val="75000"/>
                  </a:schemeClr>
                </a:solidFill>
                <a:latin typeface="Cambria" panose="02040503050406030204" pitchFamily="18" charset="0"/>
                <a:ea typeface="Cambria" panose="02040503050406030204" pitchFamily="18" charset="0"/>
              </a:rPr>
              <a:t> University</a:t>
            </a:r>
            <a:r>
              <a:rPr lang="en-US" sz="1800" b="1" spc="-30" dirty="0">
                <a:solidFill>
                  <a:schemeClr val="bg2">
                    <a:lumMod val="75000"/>
                  </a:schemeClr>
                </a:solidFill>
                <a:latin typeface="Cambria" panose="02040503050406030204" pitchFamily="18" charset="0"/>
                <a:ea typeface="Cambria" panose="02040503050406030204" pitchFamily="18" charset="0"/>
              </a:rPr>
              <a:t> </a:t>
            </a:r>
            <a:r>
              <a:rPr lang="en-US" sz="1800" b="1" spc="-10" dirty="0">
                <a:solidFill>
                  <a:schemeClr val="bg2">
                    <a:lumMod val="75000"/>
                  </a:schemeClr>
                </a:solidFill>
                <a:latin typeface="Cambria" panose="02040503050406030204" pitchFamily="18" charset="0"/>
                <a:ea typeface="Cambria" panose="02040503050406030204" pitchFamily="18" charset="0"/>
              </a:rPr>
              <a:t>Project </a:t>
            </a:r>
            <a:endParaRPr sz="1800" b="1" i="0" u="none" strike="noStrike" cap="none" dirty="0">
              <a:solidFill>
                <a:schemeClr val="bg2">
                  <a:lumMod val="75000"/>
                </a:schemeClr>
              </a:solidFill>
              <a:latin typeface="Cambria" panose="02040503050406030204" pitchFamily="18" charset="0"/>
              <a:ea typeface="Cambria" panose="02040503050406030204" pitchFamily="18" charset="0"/>
              <a:cs typeface="Cambria"/>
              <a:sym typeface="Cambria"/>
            </a:endParaRPr>
          </a:p>
          <a:p>
            <a:pPr marL="0" marR="0" lvl="0" indent="0" algn="ctr" rtl="0">
              <a:lnSpc>
                <a:spcPct val="100000"/>
              </a:lnSpc>
              <a:spcBef>
                <a:spcPts val="310"/>
              </a:spcBef>
              <a:spcAft>
                <a:spcPts val="0"/>
              </a:spcAft>
              <a:buClr>
                <a:srgbClr val="17365D"/>
              </a:buClr>
              <a:buSzPts val="1800"/>
              <a:buFont typeface="Arial"/>
              <a:buNone/>
            </a:pPr>
            <a:r>
              <a:rPr lang="en-US" sz="1800" b="1" i="0" u="none" strike="noStrike" cap="none" dirty="0">
                <a:solidFill>
                  <a:srgbClr val="17365D"/>
                </a:solidFill>
                <a:latin typeface="Cambria"/>
                <a:ea typeface="Cambria"/>
                <a:cs typeface="Cambria"/>
                <a:sym typeface="Cambria"/>
              </a:rPr>
              <a:t>Review-5</a:t>
            </a:r>
            <a:endParaRPr sz="1800" b="1" i="0" u="none" strike="noStrike" cap="none" dirty="0">
              <a:solidFill>
                <a:srgbClr val="17365D"/>
              </a:solidFill>
              <a:latin typeface="Cambria"/>
              <a:ea typeface="Cambria"/>
              <a:cs typeface="Cambria"/>
              <a:sym typeface="Cambria"/>
            </a:endParaRPr>
          </a:p>
        </p:txBody>
      </p:sp>
      <p:sp>
        <p:nvSpPr>
          <p:cNvPr id="92" name="Google Shape;92;p1"/>
          <p:cNvSpPr txBox="1"/>
          <p:nvPr/>
        </p:nvSpPr>
        <p:spPr>
          <a:xfrm>
            <a:off x="0" y="4619932"/>
            <a:ext cx="12249900" cy="15621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17365D"/>
              </a:buClr>
              <a:buSzPts val="1800"/>
              <a:buFont typeface="Arial"/>
              <a:buNone/>
            </a:pPr>
            <a:r>
              <a:rPr lang="en-US" sz="1800" b="1" i="0" u="none" strike="noStrike" cap="none" dirty="0">
                <a:solidFill>
                  <a:schemeClr val="accent1"/>
                </a:solidFill>
                <a:latin typeface="Cambria"/>
                <a:ea typeface="Cambria"/>
                <a:cs typeface="Cambria"/>
                <a:sym typeface="Cambria"/>
              </a:rPr>
              <a:t>Name of the Program: CS</a:t>
            </a:r>
            <a:r>
              <a:rPr lang="en-US" sz="1800" b="1" dirty="0">
                <a:solidFill>
                  <a:schemeClr val="accent1"/>
                </a:solidFill>
                <a:latin typeface="Cambria"/>
                <a:ea typeface="Cambria"/>
                <a:cs typeface="Cambria"/>
                <a:sym typeface="Cambria"/>
              </a:rPr>
              <a:t>E</a:t>
            </a:r>
            <a:r>
              <a:rPr lang="en-US" sz="1800" b="1" i="0" u="none" strike="noStrike" cap="none" dirty="0">
                <a:solidFill>
                  <a:schemeClr val="accent1"/>
                </a:solidFill>
                <a:latin typeface="Cambria"/>
                <a:ea typeface="Cambria"/>
                <a:cs typeface="Cambria"/>
                <a:sym typeface="Cambria"/>
              </a:rPr>
              <a:t>-</a:t>
            </a:r>
            <a:r>
              <a:rPr lang="en-US" sz="1800" b="1" dirty="0">
                <a:solidFill>
                  <a:schemeClr val="dk1"/>
                </a:solidFill>
                <a:latin typeface="Cambria"/>
                <a:ea typeface="Cambria"/>
                <a:cs typeface="Cambria"/>
                <a:sym typeface="Cambria"/>
              </a:rPr>
              <a:t>Computer Science and Engineering</a:t>
            </a:r>
            <a:endParaRPr dirty="0">
              <a:solidFill>
                <a:schemeClr val="dk1"/>
              </a:solidFill>
            </a:endParaRPr>
          </a:p>
          <a:p>
            <a:pPr marL="0" marR="0" lvl="0" indent="0" algn="l" rtl="0">
              <a:lnSpc>
                <a:spcPct val="100000"/>
              </a:lnSpc>
              <a:spcBef>
                <a:spcPts val="0"/>
              </a:spcBef>
              <a:spcAft>
                <a:spcPts val="0"/>
              </a:spcAft>
              <a:buClr>
                <a:srgbClr val="17365D"/>
              </a:buClr>
              <a:buSzPts val="1800"/>
              <a:buFont typeface="Arial"/>
              <a:buNone/>
            </a:pPr>
            <a:r>
              <a:rPr lang="en-US" sz="1800" b="1" i="0" u="none" strike="noStrike" cap="none" dirty="0">
                <a:solidFill>
                  <a:schemeClr val="accent1"/>
                </a:solidFill>
                <a:latin typeface="Cambria"/>
                <a:ea typeface="Cambria"/>
                <a:cs typeface="Cambria"/>
                <a:sym typeface="Cambria"/>
              </a:rPr>
              <a:t>Name of the HOD:</a:t>
            </a:r>
            <a:r>
              <a:rPr lang="en-US" sz="1800" b="1" dirty="0">
                <a:solidFill>
                  <a:schemeClr val="accent1"/>
                </a:solidFill>
                <a:latin typeface="Cambria"/>
                <a:ea typeface="Cambria"/>
                <a:cs typeface="Cambria"/>
                <a:sym typeface="Cambria"/>
              </a:rPr>
              <a:t> </a:t>
            </a:r>
            <a:r>
              <a:rPr lang="en-US" sz="1800" b="1" dirty="0">
                <a:solidFill>
                  <a:schemeClr val="dk1"/>
                </a:solidFill>
                <a:latin typeface="Cambria"/>
                <a:ea typeface="Cambria"/>
                <a:cs typeface="Cambria"/>
                <a:sym typeface="Cambria"/>
              </a:rPr>
              <a:t>Dr. Asif Mohammed</a:t>
            </a:r>
            <a:endParaRPr dirty="0">
              <a:solidFill>
                <a:schemeClr val="dk1"/>
              </a:solidFill>
            </a:endParaRPr>
          </a:p>
          <a:p>
            <a:pPr marL="0" marR="0" lvl="0" indent="0" algn="l" rtl="0">
              <a:lnSpc>
                <a:spcPct val="100000"/>
              </a:lnSpc>
              <a:spcBef>
                <a:spcPts val="0"/>
              </a:spcBef>
              <a:spcAft>
                <a:spcPts val="0"/>
              </a:spcAft>
              <a:buNone/>
            </a:pPr>
            <a:r>
              <a:rPr lang="en-US" sz="1800" b="1" i="0" u="none" strike="noStrike" cap="none" dirty="0">
                <a:solidFill>
                  <a:schemeClr val="accent1"/>
                </a:solidFill>
                <a:latin typeface="Cambria"/>
                <a:ea typeface="Cambria"/>
                <a:cs typeface="Cambria"/>
                <a:sym typeface="Cambria"/>
              </a:rPr>
              <a:t>Name of the Program Project Coordinator</a:t>
            </a:r>
            <a:r>
              <a:rPr lang="en-US" sz="1800" b="1" i="0" u="none" strike="noStrike" cap="none" dirty="0">
                <a:solidFill>
                  <a:schemeClr val="tx1"/>
                </a:solidFill>
                <a:latin typeface="Cambria"/>
                <a:ea typeface="Cambria"/>
                <a:cs typeface="Cambria"/>
                <a:sym typeface="Cambria"/>
              </a:rPr>
              <a:t>: Dr. Jayavadivel Ravi</a:t>
            </a:r>
            <a:endParaRPr lang="en-US" sz="1800" b="1" dirty="0">
              <a:solidFill>
                <a:schemeClr val="tx1"/>
              </a:solidFill>
              <a:latin typeface="Cambria"/>
              <a:ea typeface="Cambria"/>
              <a:cs typeface="Cambria"/>
              <a:sym typeface="Cambria"/>
            </a:endParaRPr>
          </a:p>
          <a:p>
            <a:pPr marL="0" marR="0" lvl="0" indent="0" algn="l" rtl="0">
              <a:lnSpc>
                <a:spcPct val="100000"/>
              </a:lnSpc>
              <a:spcBef>
                <a:spcPts val="0"/>
              </a:spcBef>
              <a:spcAft>
                <a:spcPts val="0"/>
              </a:spcAft>
              <a:buNone/>
            </a:pPr>
            <a:r>
              <a:rPr lang="en-US" sz="1800" b="1" i="0" u="none" strike="noStrike" cap="none" dirty="0">
                <a:solidFill>
                  <a:schemeClr val="accent1"/>
                </a:solidFill>
                <a:latin typeface="Cambria"/>
                <a:ea typeface="Cambria"/>
                <a:cs typeface="Cambria"/>
                <a:sym typeface="Cambria"/>
              </a:rPr>
              <a:t>Name of the School Project Coordinators: </a:t>
            </a:r>
            <a:r>
              <a:rPr lang="en-US" sz="1800" b="1" i="0" u="none" strike="noStrike" cap="none" dirty="0">
                <a:solidFill>
                  <a:schemeClr val="dk1"/>
                </a:solidFill>
                <a:latin typeface="Cambria"/>
                <a:ea typeface="Cambria"/>
                <a:cs typeface="Cambria"/>
                <a:sym typeface="Cambria"/>
              </a:rPr>
              <a:t>Dr. Sampath A K , Dr. Geetha A </a:t>
            </a:r>
            <a:endParaRPr sz="1800" b="1" i="0" u="none" strike="noStrike" cap="none" dirty="0">
              <a:solidFill>
                <a:schemeClr val="dk1"/>
              </a:solidFill>
              <a:latin typeface="Cambria"/>
              <a:ea typeface="Cambria"/>
              <a:cs typeface="Cambria"/>
              <a:sym typeface="Cambria"/>
            </a:endParaRPr>
          </a:p>
        </p:txBody>
      </p:sp>
      <p:graphicFrame>
        <p:nvGraphicFramePr>
          <p:cNvPr id="93" name="Google Shape;93;p1"/>
          <p:cNvGraphicFramePr/>
          <p:nvPr>
            <p:extLst>
              <p:ext uri="{D42A27DB-BD31-4B8C-83A1-F6EECF244321}">
                <p14:modId xmlns:p14="http://schemas.microsoft.com/office/powerpoint/2010/main" val="4163351090"/>
              </p:ext>
            </p:extLst>
          </p:nvPr>
        </p:nvGraphicFramePr>
        <p:xfrm>
          <a:off x="271412" y="3175250"/>
          <a:ext cx="6037948" cy="1192520"/>
        </p:xfrm>
        <a:graphic>
          <a:graphicData uri="http://schemas.openxmlformats.org/drawingml/2006/table">
            <a:tbl>
              <a:tblPr>
                <a:tableStyleId>{3C2FFA5D-87B4-456A-9821-1D502468CF0F}</a:tableStyleId>
              </a:tblPr>
              <a:tblGrid>
                <a:gridCol w="3018974">
                  <a:extLst>
                    <a:ext uri="{9D8B030D-6E8A-4147-A177-3AD203B41FA5}">
                      <a16:colId xmlns:a16="http://schemas.microsoft.com/office/drawing/2014/main" val="20000"/>
                    </a:ext>
                  </a:extLst>
                </a:gridCol>
                <a:gridCol w="3018974">
                  <a:extLst>
                    <a:ext uri="{9D8B030D-6E8A-4147-A177-3AD203B41FA5}">
                      <a16:colId xmlns:a16="http://schemas.microsoft.com/office/drawing/2014/main" val="20001"/>
                    </a:ext>
                  </a:extLst>
                </a:gridCol>
              </a:tblGrid>
              <a:tr h="400100">
                <a:tc>
                  <a:txBody>
                    <a:bodyPr/>
                    <a:lstStyle/>
                    <a:p>
                      <a:pPr marL="0" lvl="0" indent="0" algn="l" rtl="0">
                        <a:spcBef>
                          <a:spcPts val="0"/>
                        </a:spcBef>
                        <a:spcAft>
                          <a:spcPts val="0"/>
                        </a:spcAft>
                        <a:buNone/>
                      </a:pPr>
                      <a:r>
                        <a:rPr lang="en-US" dirty="0"/>
                        <a:t>           20221CSE0234</a:t>
                      </a:r>
                      <a:endParaRPr dirty="0"/>
                    </a:p>
                  </a:txBody>
                  <a:tcPr marL="91425" marR="91425" marT="91425" marB="91425"/>
                </a:tc>
                <a:tc>
                  <a:txBody>
                    <a:bodyPr/>
                    <a:lstStyle/>
                    <a:p>
                      <a:pPr marL="0" lvl="0" indent="0" algn="l" rtl="0">
                        <a:spcBef>
                          <a:spcPts val="0"/>
                        </a:spcBef>
                        <a:spcAft>
                          <a:spcPts val="0"/>
                        </a:spcAft>
                        <a:buNone/>
                      </a:pPr>
                      <a:r>
                        <a:rPr lang="en-US" dirty="0"/>
                        <a:t>                Syed Thousif</a:t>
                      </a:r>
                      <a:endParaRPr dirty="0"/>
                    </a:p>
                  </a:txBody>
                  <a:tcPr marL="91425" marR="91425" marT="91425" marB="91425"/>
                </a:tc>
                <a:extLst>
                  <a:ext uri="{0D108BD9-81ED-4DB2-BD59-A6C34878D82A}">
                    <a16:rowId xmlns:a16="http://schemas.microsoft.com/office/drawing/2014/main" val="10000"/>
                  </a:ext>
                </a:extLst>
              </a:tr>
              <a:tr h="384750">
                <a:tc>
                  <a:txBody>
                    <a:bodyPr/>
                    <a:lstStyle/>
                    <a:p>
                      <a:pPr marL="0" lvl="0" indent="0" algn="l" rtl="0">
                        <a:spcBef>
                          <a:spcPts val="0"/>
                        </a:spcBef>
                        <a:spcAft>
                          <a:spcPts val="0"/>
                        </a:spcAft>
                        <a:buNone/>
                      </a:pPr>
                      <a:r>
                        <a:rPr lang="en-US" dirty="0"/>
                        <a:t>           20221CSE0217</a:t>
                      </a:r>
                      <a:endParaRPr dirty="0"/>
                    </a:p>
                  </a:txBody>
                  <a:tcPr marL="91425" marR="91425" marT="91425" marB="91425"/>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t> </a:t>
                      </a:r>
                      <a:r>
                        <a:rPr lang="en-US" sz="1400" dirty="0"/>
                        <a:t>Gajjula Ashok Vardhan Reddy</a:t>
                      </a:r>
                      <a:endParaRPr lang="en-US" sz="1400" dirty="0">
                        <a:latin typeface="Arial MT"/>
                        <a:cs typeface="Arial MT"/>
                      </a:endParaRPr>
                    </a:p>
                  </a:txBody>
                  <a:tcPr marL="91425" marR="91425" marT="91425" marB="91425"/>
                </a:tc>
                <a:extLst>
                  <a:ext uri="{0D108BD9-81ED-4DB2-BD59-A6C34878D82A}">
                    <a16:rowId xmlns:a16="http://schemas.microsoft.com/office/drawing/2014/main" val="10001"/>
                  </a:ext>
                </a:extLst>
              </a:tr>
              <a:tr h="384750">
                <a:tc>
                  <a:txBody>
                    <a:bodyPr/>
                    <a:lstStyle/>
                    <a:p>
                      <a:pPr marL="0" lvl="0" indent="0" algn="l" rtl="0">
                        <a:spcBef>
                          <a:spcPts val="0"/>
                        </a:spcBef>
                        <a:spcAft>
                          <a:spcPts val="0"/>
                        </a:spcAft>
                        <a:buNone/>
                      </a:pPr>
                      <a:r>
                        <a:rPr lang="en-US" dirty="0"/>
                        <a:t>           20221CSE0213</a:t>
                      </a:r>
                      <a:endParaRPr dirty="0"/>
                    </a:p>
                  </a:txBody>
                  <a:tcPr marL="91425" marR="91425" marT="91425" marB="91425"/>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dirty="0"/>
                        <a:t>     </a:t>
                      </a:r>
                      <a:r>
                        <a:rPr lang="en-US" sz="1400" dirty="0"/>
                        <a:t>Kambam Nithin Kumar Reddy</a:t>
                      </a:r>
                      <a:endParaRPr lang="en-US" sz="1400" dirty="0">
                        <a:latin typeface="Arial MT"/>
                        <a:cs typeface="Arial MT"/>
                      </a:endParaRPr>
                    </a:p>
                  </a:txBody>
                  <a:tcPr marL="91425" marR="91425" marT="91425" marB="91425"/>
                </a:tc>
                <a:extLst>
                  <a:ext uri="{0D108BD9-81ED-4DB2-BD59-A6C34878D82A}">
                    <a16:rowId xmlns:a16="http://schemas.microsoft.com/office/drawing/2014/main" val="10002"/>
                  </a:ext>
                </a:extLst>
              </a:tr>
            </a:tbl>
          </a:graphicData>
        </a:graphic>
      </p:graphicFrame>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14"/>
          <p:cNvSpPr txBox="1">
            <a:spLocks noGrp="1"/>
          </p:cNvSpPr>
          <p:nvPr>
            <p:ph type="title"/>
          </p:nvPr>
        </p:nvSpPr>
        <p:spPr>
          <a:xfrm>
            <a:off x="812800" y="274638"/>
            <a:ext cx="10668000" cy="4875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rgbClr val="17365D"/>
              </a:buClr>
              <a:buSzPts val="2800"/>
              <a:buFont typeface="Verdana"/>
              <a:buNone/>
            </a:pPr>
            <a:r>
              <a:rPr lang="en-GB" dirty="0">
                <a:latin typeface="Cambria" panose="02040503050406030204" pitchFamily="18" charset="0"/>
                <a:ea typeface="Cambria" panose="02040503050406030204" pitchFamily="18" charset="0"/>
              </a:rPr>
              <a:t>Content</a:t>
            </a:r>
            <a:endParaRPr dirty="0">
              <a:latin typeface="Cambria" panose="02040503050406030204" pitchFamily="18" charset="0"/>
              <a:ea typeface="Cambria" panose="02040503050406030204" pitchFamily="18" charset="0"/>
            </a:endParaRPr>
          </a:p>
        </p:txBody>
      </p:sp>
      <p:sp>
        <p:nvSpPr>
          <p:cNvPr id="97" name="Google Shape;97;p14"/>
          <p:cNvSpPr txBox="1">
            <a:spLocks noGrp="1"/>
          </p:cNvSpPr>
          <p:nvPr>
            <p:ph type="body" idx="1"/>
          </p:nvPr>
        </p:nvSpPr>
        <p:spPr>
          <a:xfrm>
            <a:off x="557460" y="841249"/>
            <a:ext cx="10668000" cy="4882896"/>
          </a:xfrm>
          <a:prstGeom prst="rect">
            <a:avLst/>
          </a:prstGeom>
          <a:noFill/>
          <a:ln>
            <a:noFill/>
          </a:ln>
        </p:spPr>
        <p:txBody>
          <a:bodyPr spcFirstLastPara="1" wrap="square" lIns="91425" tIns="45700" rIns="91425" bIns="45700" anchor="t" anchorCtr="0">
            <a:normAutofit fontScale="25000" lnSpcReduction="20000"/>
          </a:bodyPr>
          <a:lstStyle/>
          <a:p>
            <a:pPr marL="495300" indent="-342900" algn="just">
              <a:lnSpc>
                <a:spcPct val="200000"/>
              </a:lnSpc>
              <a:spcBef>
                <a:spcPts val="0"/>
              </a:spcBef>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Problem Statement</a:t>
            </a:r>
          </a:p>
          <a:p>
            <a:pPr marL="495300" indent="-342900" algn="just">
              <a:lnSpc>
                <a:spcPct val="200000"/>
              </a:lnSpc>
              <a:spcBef>
                <a:spcPts val="0"/>
              </a:spcBef>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Literature Survey</a:t>
            </a:r>
          </a:p>
          <a:p>
            <a:pPr marL="495300" indent="-342900" algn="just">
              <a:lnSpc>
                <a:spcPct val="200000"/>
              </a:lnSpc>
              <a:spcBef>
                <a:spcPts val="0"/>
              </a:spcBef>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Objectives</a:t>
            </a:r>
          </a:p>
          <a:p>
            <a:pPr marL="495300" indent="-342900" algn="just">
              <a:lnSpc>
                <a:spcPct val="200000"/>
              </a:lnSpc>
              <a:spcBef>
                <a:spcPts val="0"/>
              </a:spcBef>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Existing Methods &amp; Drawbacks</a:t>
            </a:r>
          </a:p>
          <a:p>
            <a:pPr marL="495300" indent="-342900" algn="just">
              <a:lnSpc>
                <a:spcPct val="200000"/>
              </a:lnSpc>
              <a:spcBef>
                <a:spcPts val="0"/>
              </a:spcBef>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Proposed Methods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Architecture Diagram</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Modules &amp; Technologies</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GitHub Link</a:t>
            </a: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Working Screenshot </a:t>
            </a:r>
          </a:p>
          <a:p>
            <a:pPr marL="495300" indent="-342900" algn="just">
              <a:lnSpc>
                <a:spcPct val="200000"/>
              </a:lnSpc>
              <a:spcBef>
                <a:spcPts val="0"/>
              </a:spcBef>
              <a:buFont typeface="Arial" panose="020B0604020202020204" pitchFamily="34" charset="0"/>
              <a:buChar char="•"/>
            </a:pPr>
            <a:r>
              <a:rPr lang="en-US" sz="6000" dirty="0">
                <a:ea typeface="Cambria" panose="02040503050406030204" pitchFamily="18" charset="0"/>
                <a:cs typeface="Calibri" panose="020F0502020204030204" pitchFamily="34" charset="0"/>
              </a:rPr>
              <a:t>Timeline of the Project </a:t>
            </a:r>
            <a:endParaRPr lang="en-US" sz="6000" dirty="0">
              <a:latin typeface="+mj-lt"/>
              <a:ea typeface="Cambria" panose="02040503050406030204" pitchFamily="18" charset="0"/>
              <a:cs typeface="Calibri" panose="020F0502020204030204" pitchFamily="34"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r>
              <a:rPr lang="en-US" sz="6000" dirty="0">
                <a:latin typeface="+mj-lt"/>
                <a:ea typeface="Cambria" panose="02040503050406030204" pitchFamily="18" charset="0"/>
                <a:cs typeface="Calibri" panose="020F0502020204030204" pitchFamily="34" charset="0"/>
              </a:rPr>
              <a:t>References </a:t>
            </a:r>
          </a:p>
          <a:p>
            <a:pPr marL="152400" lvl="0" indent="0" algn="just" rtl="0">
              <a:lnSpc>
                <a:spcPct val="200000"/>
              </a:lnSpc>
              <a:spcBef>
                <a:spcPts val="0"/>
              </a:spcBef>
              <a:spcAft>
                <a:spcPts val="0"/>
              </a:spcAft>
              <a:buClr>
                <a:schemeClr val="dk1"/>
              </a:buClr>
              <a:buSzPts val="2400"/>
              <a:buNone/>
            </a:pPr>
            <a:endParaRPr lang="en-US" sz="6400" dirty="0">
              <a:latin typeface="Cambria" panose="02040503050406030204" pitchFamily="18" charset="0"/>
              <a:ea typeface="Cambria" panose="02040503050406030204" pitchFamily="18" charset="0"/>
              <a:cs typeface="Calibri" panose="020F0502020204030204" pitchFamily="34" charset="0"/>
            </a:endParaRPr>
          </a:p>
          <a:p>
            <a:pPr marL="495300" lvl="0" indent="-342900" algn="just" rtl="0">
              <a:lnSpc>
                <a:spcPct val="200000"/>
              </a:lnSpc>
              <a:spcBef>
                <a:spcPts val="0"/>
              </a:spcBef>
              <a:spcAft>
                <a:spcPts val="0"/>
              </a:spcAft>
              <a:buClr>
                <a:schemeClr val="dk1"/>
              </a:buClr>
              <a:buSzPts val="2400"/>
              <a:buFont typeface="Arial" panose="020B0604020202020204" pitchFamily="34" charset="0"/>
              <a:buChar char="•"/>
            </a:pPr>
            <a:endParaRPr lang="en-US" sz="7200" dirty="0">
              <a:latin typeface="Cambria" panose="02040503050406030204" pitchFamily="18" charset="0"/>
              <a:ea typeface="Cambria" panose="02040503050406030204" pitchFamily="18" charset="0"/>
              <a:cs typeface="Calibri" panose="020F0502020204030204" pitchFamily="34"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lang="en-US" dirty="0">
              <a:latin typeface="Cambria" panose="02040503050406030204" pitchFamily="18" charset="0"/>
              <a:ea typeface="Cambria" panose="02040503050406030204" pitchFamily="18" charset="0"/>
            </a:endParaRPr>
          </a:p>
          <a:p>
            <a:pPr marL="495300" lvl="0" indent="-342900" algn="just" rtl="0">
              <a:lnSpc>
                <a:spcPct val="200000"/>
              </a:lnSpc>
              <a:spcBef>
                <a:spcPts val="0"/>
              </a:spcBef>
              <a:spcAft>
                <a:spcPts val="0"/>
              </a:spcAft>
              <a:buClr>
                <a:schemeClr val="dk1"/>
              </a:buClr>
              <a:buSzPts val="2400"/>
              <a:buFont typeface="Wingdings" panose="05000000000000000000" pitchFamily="2" charset="2"/>
              <a:buChar char="Ø"/>
            </a:pPr>
            <a:endParaRPr dirty="0">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2"/>
          <p:cNvSpPr txBox="1">
            <a:spLocks noGrp="1"/>
          </p:cNvSpPr>
          <p:nvPr>
            <p:ph type="title"/>
          </p:nvPr>
        </p:nvSpPr>
        <p:spPr>
          <a:xfrm>
            <a:off x="722375" y="291306"/>
            <a:ext cx="10207817" cy="487500"/>
          </a:xfrm>
          <a:prstGeom prst="rect">
            <a:avLst/>
          </a:prstGeom>
          <a:noFill/>
          <a:ln>
            <a:noFill/>
          </a:ln>
        </p:spPr>
        <p:txBody>
          <a:bodyPr spcFirstLastPara="1" wrap="square" lIns="91425" tIns="45700" rIns="91425" bIns="45700" anchor="ctr" anchorCtr="0">
            <a:noAutofit/>
          </a:bodyPr>
          <a:lstStyle/>
          <a:p>
            <a:pPr lvl="0"/>
            <a:r>
              <a:rPr lang="en-IN" sz="3200" dirty="0">
                <a:latin typeface="Cambria" panose="02040503050406030204" pitchFamily="18" charset="0"/>
                <a:ea typeface="Cambria" panose="02040503050406030204" pitchFamily="18" charset="0"/>
                <a:cs typeface="Cambria"/>
                <a:sym typeface="Cambria"/>
              </a:rPr>
              <a:t>Problem Statement</a:t>
            </a:r>
            <a:endParaRPr lang="en-US" sz="3200" dirty="0">
              <a:latin typeface="Cambria" panose="02040503050406030204" pitchFamily="18" charset="0"/>
              <a:ea typeface="Cambria" panose="02040503050406030204" pitchFamily="18" charset="0"/>
              <a:cs typeface="Cambria"/>
              <a:sym typeface="Cambria"/>
            </a:endParaRPr>
          </a:p>
        </p:txBody>
      </p:sp>
      <p:sp>
        <p:nvSpPr>
          <p:cNvPr id="99" name="Google Shape;99;p2"/>
          <p:cNvSpPr txBox="1">
            <a:spLocks noGrp="1"/>
          </p:cNvSpPr>
          <p:nvPr>
            <p:ph type="body" idx="1"/>
          </p:nvPr>
        </p:nvSpPr>
        <p:spPr>
          <a:xfrm>
            <a:off x="648929" y="1583267"/>
            <a:ext cx="10989310" cy="3217333"/>
          </a:xfrm>
          <a:prstGeom prst="rect">
            <a:avLst/>
          </a:prstGeom>
          <a:noFill/>
          <a:ln>
            <a:noFill/>
          </a:ln>
        </p:spPr>
        <p:txBody>
          <a:bodyPr spcFirstLastPara="1" wrap="square" lIns="91425" tIns="45700" rIns="91425" bIns="45700" anchor="b" anchorCtr="0">
            <a:normAutofit/>
          </a:bodyPr>
          <a:lstStyle/>
          <a:p>
            <a:pPr marL="342900" lvl="0" indent="-190500" algn="just" rtl="0">
              <a:lnSpc>
                <a:spcPct val="100000"/>
              </a:lnSpc>
              <a:spcBef>
                <a:spcPts val="0"/>
              </a:spcBef>
              <a:spcAft>
                <a:spcPts val="0"/>
              </a:spcAft>
              <a:buSzPts val="2400"/>
              <a:buNone/>
            </a:pPr>
            <a:endParaRPr lang="en-US" sz="1800" b="1"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700" dirty="0">
              <a:latin typeface="Cambria" panose="02040503050406030204" pitchFamily="18" charset="0"/>
              <a:ea typeface="Cambria" panose="02040503050406030204" pitchFamily="18" charset="0"/>
            </a:endParaRPr>
          </a:p>
          <a:p>
            <a:pPr marL="342900" lvl="0" indent="-190500">
              <a:lnSpc>
                <a:spcPct val="200000"/>
              </a:lnSpc>
              <a:spcBef>
                <a:spcPts val="0"/>
              </a:spcBef>
              <a:buNone/>
            </a:pPr>
            <a:endParaRPr lang="en-US" sz="1200" dirty="0">
              <a:latin typeface="Cambria" panose="02040503050406030204" pitchFamily="18" charset="0"/>
              <a:ea typeface="Cambria" panose="02040503050406030204" pitchFamily="18" charset="0"/>
            </a:endParaRPr>
          </a:p>
          <a:p>
            <a:pPr marL="342900" lvl="0" indent="-190500">
              <a:lnSpc>
                <a:spcPct val="200000"/>
              </a:lnSpc>
              <a:spcBef>
                <a:spcPts val="0"/>
              </a:spcBef>
              <a:buNone/>
            </a:pPr>
            <a:endParaRPr lang="en-US" b="1" u="sng" dirty="0">
              <a:latin typeface="Cambria" panose="02040503050406030204" pitchFamily="18" charset="0"/>
              <a:ea typeface="Cambria" panose="02040503050406030204" pitchFamily="18" charset="0"/>
              <a:cs typeface="Cambria"/>
              <a:sym typeface="Cambria"/>
            </a:endParaRPr>
          </a:p>
        </p:txBody>
      </p:sp>
      <p:sp>
        <p:nvSpPr>
          <p:cNvPr id="5" name="Rectangle 4">
            <a:extLst>
              <a:ext uri="{FF2B5EF4-FFF2-40B4-BE49-F238E27FC236}">
                <a16:creationId xmlns:a16="http://schemas.microsoft.com/office/drawing/2014/main" id="{A5907884-FF29-959E-8002-7D546D99B81F}"/>
              </a:ext>
            </a:extLst>
          </p:cNvPr>
          <p:cNvSpPr>
            <a:spLocks noChangeArrowheads="1"/>
          </p:cNvSpPr>
          <p:nvPr/>
        </p:nvSpPr>
        <p:spPr bwMode="auto">
          <a:xfrm>
            <a:off x="553761" y="2178653"/>
            <a:ext cx="9278496" cy="115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50C9E952-73D8-398F-8F2A-26F4B9CC8612}"/>
              </a:ext>
            </a:extLst>
          </p:cNvPr>
          <p:cNvSpPr>
            <a:spLocks noChangeArrowheads="1"/>
          </p:cNvSpPr>
          <p:nvPr/>
        </p:nvSpPr>
        <p:spPr bwMode="auto">
          <a:xfrm>
            <a:off x="553761" y="1186134"/>
            <a:ext cx="10143809" cy="33478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eaLnBrk="0" fontAlgn="base" hangingPunct="0">
              <a:lnSpc>
                <a:spcPct val="150000"/>
              </a:lnSpc>
              <a:spcBef>
                <a:spcPct val="0"/>
              </a:spcBef>
              <a:spcAft>
                <a:spcPct val="0"/>
              </a:spcAft>
              <a:buClrTx/>
              <a:buFont typeface="Arial" panose="020B0604020202020204" pitchFamily="34" charset="0"/>
              <a:buChar char="•"/>
            </a:pPr>
            <a:r>
              <a:rPr lang="en-US" sz="2400" dirty="0"/>
              <a:t>Urban areas are experiencing severe traffic congestion due to the rapid increase in vehicles and inefficient traffic management systems. Traditional traffic control methods rely on fixed signal timings and manual monitoring, which are unable to adapt to real-time traffic conditions. Drivers also spend significant time searching for parking spaces, which further increases congestion and fuel consumption.</a:t>
            </a:r>
            <a:endParaRPr kumimoji="0" lang="en-US" altLang="en-US" sz="240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1CDF9CDA-A6E4-57F7-E259-FE9499D94EC9}"/>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B68DA6B1-C1AE-425F-91D8-293B3BC1BBED}"/>
              </a:ext>
            </a:extLst>
          </p:cNvPr>
          <p:cNvSpPr txBox="1">
            <a:spLocks noGrp="1"/>
          </p:cNvSpPr>
          <p:nvPr>
            <p:ph type="title"/>
          </p:nvPr>
        </p:nvSpPr>
        <p:spPr>
          <a:xfrm>
            <a:off x="1107409" y="291306"/>
            <a:ext cx="9822783" cy="487500"/>
          </a:xfrm>
          <a:prstGeom prst="rect">
            <a:avLst/>
          </a:prstGeom>
          <a:noFill/>
          <a:ln>
            <a:noFill/>
          </a:ln>
        </p:spPr>
        <p:txBody>
          <a:bodyPr spcFirstLastPara="1" wrap="square" lIns="91425" tIns="45700" rIns="91425" bIns="45700" anchor="ctr" anchorCtr="0">
            <a:noAutofit/>
          </a:bodyPr>
          <a:lstStyle/>
          <a:p>
            <a:pPr lvl="0"/>
            <a:r>
              <a:rPr lang="en-IN" sz="3200" dirty="0">
                <a:latin typeface="Cambria" panose="02040503050406030204" pitchFamily="18" charset="0"/>
                <a:ea typeface="Cambria" panose="02040503050406030204" pitchFamily="18" charset="0"/>
                <a:cs typeface="Cambria"/>
                <a:sym typeface="Cambria"/>
              </a:rPr>
              <a:t>Literature Survey</a:t>
            </a:r>
            <a:endParaRPr lang="en-US" sz="3200" dirty="0">
              <a:latin typeface="Cambria" panose="02040503050406030204" pitchFamily="18" charset="0"/>
              <a:ea typeface="Cambria" panose="02040503050406030204" pitchFamily="18" charset="0"/>
              <a:cs typeface="Cambria"/>
              <a:sym typeface="Cambria"/>
            </a:endParaRPr>
          </a:p>
        </p:txBody>
      </p:sp>
      <p:sp>
        <p:nvSpPr>
          <p:cNvPr id="99" name="Google Shape;99;p2">
            <a:extLst>
              <a:ext uri="{FF2B5EF4-FFF2-40B4-BE49-F238E27FC236}">
                <a16:creationId xmlns:a16="http://schemas.microsoft.com/office/drawing/2014/main" id="{C14C5B99-C20D-1BEB-BA4D-E65D2F854232}"/>
              </a:ext>
            </a:extLst>
          </p:cNvPr>
          <p:cNvSpPr txBox="1">
            <a:spLocks noGrp="1"/>
          </p:cNvSpPr>
          <p:nvPr>
            <p:ph type="body" idx="1"/>
          </p:nvPr>
        </p:nvSpPr>
        <p:spPr>
          <a:xfrm>
            <a:off x="648929" y="1583267"/>
            <a:ext cx="10989310" cy="3217333"/>
          </a:xfrm>
          <a:prstGeom prst="rect">
            <a:avLst/>
          </a:prstGeom>
          <a:noFill/>
          <a:ln>
            <a:noFill/>
          </a:ln>
        </p:spPr>
        <p:txBody>
          <a:bodyPr spcFirstLastPara="1" wrap="square" lIns="91425" tIns="45700" rIns="91425" bIns="45700" anchor="b" anchorCtr="0">
            <a:normAutofit/>
          </a:bodyPr>
          <a:lstStyle/>
          <a:p>
            <a:pPr marL="342900" lvl="0" indent="-190500" algn="just" rtl="0">
              <a:lnSpc>
                <a:spcPct val="100000"/>
              </a:lnSpc>
              <a:spcBef>
                <a:spcPts val="0"/>
              </a:spcBef>
              <a:spcAft>
                <a:spcPts val="0"/>
              </a:spcAft>
              <a:buSzPts val="2400"/>
              <a:buNone/>
            </a:pPr>
            <a:endParaRPr lang="en-US" sz="1800" b="1"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700" dirty="0">
              <a:latin typeface="Cambria" panose="02040503050406030204" pitchFamily="18" charset="0"/>
              <a:ea typeface="Cambria" panose="02040503050406030204" pitchFamily="18" charset="0"/>
            </a:endParaRPr>
          </a:p>
          <a:p>
            <a:pPr marL="342900" lvl="0" indent="-190500">
              <a:lnSpc>
                <a:spcPct val="200000"/>
              </a:lnSpc>
              <a:spcBef>
                <a:spcPts val="0"/>
              </a:spcBef>
              <a:buNone/>
            </a:pPr>
            <a:endParaRPr lang="en-US" sz="1200" dirty="0">
              <a:latin typeface="Cambria" panose="02040503050406030204" pitchFamily="18" charset="0"/>
              <a:ea typeface="Cambria" panose="02040503050406030204" pitchFamily="18" charset="0"/>
            </a:endParaRPr>
          </a:p>
          <a:p>
            <a:pPr marL="342900" lvl="0" indent="-190500">
              <a:lnSpc>
                <a:spcPct val="200000"/>
              </a:lnSpc>
              <a:spcBef>
                <a:spcPts val="0"/>
              </a:spcBef>
              <a:buNone/>
            </a:pPr>
            <a:endParaRPr lang="en-US" b="1" u="sng" dirty="0">
              <a:latin typeface="Cambria" panose="02040503050406030204" pitchFamily="18" charset="0"/>
              <a:ea typeface="Cambria" panose="02040503050406030204" pitchFamily="18" charset="0"/>
              <a:cs typeface="Cambria"/>
              <a:sym typeface="Cambria"/>
            </a:endParaRPr>
          </a:p>
        </p:txBody>
      </p:sp>
      <p:sp>
        <p:nvSpPr>
          <p:cNvPr id="5" name="Rectangle 4">
            <a:extLst>
              <a:ext uri="{FF2B5EF4-FFF2-40B4-BE49-F238E27FC236}">
                <a16:creationId xmlns:a16="http://schemas.microsoft.com/office/drawing/2014/main" id="{35873019-8F79-8488-ACDE-43C5024D550A}"/>
              </a:ext>
            </a:extLst>
          </p:cNvPr>
          <p:cNvSpPr>
            <a:spLocks noChangeArrowheads="1"/>
          </p:cNvSpPr>
          <p:nvPr/>
        </p:nvSpPr>
        <p:spPr bwMode="auto">
          <a:xfrm>
            <a:off x="553761" y="2178653"/>
            <a:ext cx="9278496" cy="115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graphicFrame>
        <p:nvGraphicFramePr>
          <p:cNvPr id="3" name="Table 2">
            <a:extLst>
              <a:ext uri="{FF2B5EF4-FFF2-40B4-BE49-F238E27FC236}">
                <a16:creationId xmlns:a16="http://schemas.microsoft.com/office/drawing/2014/main" id="{596140CA-5A4E-3497-5634-F6668ABA1055}"/>
              </a:ext>
            </a:extLst>
          </p:cNvPr>
          <p:cNvGraphicFramePr>
            <a:graphicFrameLocks noGrp="1"/>
          </p:cNvGraphicFramePr>
          <p:nvPr>
            <p:extLst>
              <p:ext uri="{D42A27DB-BD31-4B8C-83A1-F6EECF244321}">
                <p14:modId xmlns:p14="http://schemas.microsoft.com/office/powerpoint/2010/main" val="1424561822"/>
              </p:ext>
            </p:extLst>
          </p:nvPr>
        </p:nvGraphicFramePr>
        <p:xfrm>
          <a:off x="1107410" y="1143000"/>
          <a:ext cx="10078780" cy="4953001"/>
        </p:xfrm>
        <a:graphic>
          <a:graphicData uri="http://schemas.openxmlformats.org/drawingml/2006/table">
            <a:tbl>
              <a:tblPr>
                <a:tableStyleId>{E5F8F902-6029-4759-B95E-2553FD537B20}</a:tableStyleId>
              </a:tblPr>
              <a:tblGrid>
                <a:gridCol w="2550190">
                  <a:extLst>
                    <a:ext uri="{9D8B030D-6E8A-4147-A177-3AD203B41FA5}">
                      <a16:colId xmlns:a16="http://schemas.microsoft.com/office/drawing/2014/main" val="3107039471"/>
                    </a:ext>
                  </a:extLst>
                </a:gridCol>
                <a:gridCol w="2489200">
                  <a:extLst>
                    <a:ext uri="{9D8B030D-6E8A-4147-A177-3AD203B41FA5}">
                      <a16:colId xmlns:a16="http://schemas.microsoft.com/office/drawing/2014/main" val="3210484622"/>
                    </a:ext>
                  </a:extLst>
                </a:gridCol>
                <a:gridCol w="2519695">
                  <a:extLst>
                    <a:ext uri="{9D8B030D-6E8A-4147-A177-3AD203B41FA5}">
                      <a16:colId xmlns:a16="http://schemas.microsoft.com/office/drawing/2014/main" val="1467922648"/>
                    </a:ext>
                  </a:extLst>
                </a:gridCol>
                <a:gridCol w="2519695">
                  <a:extLst>
                    <a:ext uri="{9D8B030D-6E8A-4147-A177-3AD203B41FA5}">
                      <a16:colId xmlns:a16="http://schemas.microsoft.com/office/drawing/2014/main" val="4069635767"/>
                    </a:ext>
                  </a:extLst>
                </a:gridCol>
              </a:tblGrid>
              <a:tr h="489541">
                <a:tc>
                  <a:txBody>
                    <a:bodyPr/>
                    <a:lstStyle/>
                    <a:p>
                      <a:pPr>
                        <a:buNone/>
                      </a:pPr>
                      <a:r>
                        <a:rPr lang="en-IN" sz="1300" b="1"/>
                        <a:t>Ref</a:t>
                      </a:r>
                    </a:p>
                  </a:txBody>
                  <a:tcPr marL="86390" marR="86390" marT="43195" marB="43195" anchor="ctr"/>
                </a:tc>
                <a:tc>
                  <a:txBody>
                    <a:bodyPr/>
                    <a:lstStyle/>
                    <a:p>
                      <a:pPr>
                        <a:buNone/>
                      </a:pPr>
                      <a:r>
                        <a:rPr lang="en-IN" sz="1300" b="1" dirty="0"/>
                        <a:t>Author</a:t>
                      </a:r>
                    </a:p>
                  </a:txBody>
                  <a:tcPr marL="86390" marR="86390" marT="43195" marB="43195" anchor="ctr"/>
                </a:tc>
                <a:tc>
                  <a:txBody>
                    <a:bodyPr/>
                    <a:lstStyle/>
                    <a:p>
                      <a:pPr>
                        <a:buNone/>
                      </a:pPr>
                      <a:r>
                        <a:rPr lang="en-IN" sz="1300" b="1" dirty="0"/>
                        <a:t>Drawbacks in Existing Work</a:t>
                      </a:r>
                    </a:p>
                  </a:txBody>
                  <a:tcPr marL="86390" marR="86390" marT="43195" marB="43195" anchor="ctr"/>
                </a:tc>
                <a:tc>
                  <a:txBody>
                    <a:bodyPr/>
                    <a:lstStyle/>
                    <a:p>
                      <a:pPr>
                        <a:buNone/>
                      </a:pPr>
                      <a:r>
                        <a:rPr lang="en-US" sz="1300" b="1" dirty="0"/>
                        <a:t>How Our Proposed System Overcomes</a:t>
                      </a:r>
                    </a:p>
                  </a:txBody>
                  <a:tcPr marL="86390" marR="86390" marT="43195" marB="43195" anchor="ctr"/>
                </a:tc>
                <a:extLst>
                  <a:ext uri="{0D108BD9-81ED-4DB2-BD59-A6C34878D82A}">
                    <a16:rowId xmlns:a16="http://schemas.microsoft.com/office/drawing/2014/main" val="895495816"/>
                  </a:ext>
                </a:extLst>
              </a:tr>
              <a:tr h="892692">
                <a:tc>
                  <a:txBody>
                    <a:bodyPr/>
                    <a:lstStyle/>
                    <a:p>
                      <a:pPr>
                        <a:buNone/>
                      </a:pPr>
                      <a:r>
                        <a:rPr lang="en-IN" sz="1300" b="1"/>
                        <a:t>[1]</a:t>
                      </a:r>
                    </a:p>
                  </a:txBody>
                  <a:tcPr marL="86390" marR="86390" marT="43195" marB="43195" anchor="ctr"/>
                </a:tc>
                <a:tc>
                  <a:txBody>
                    <a:bodyPr/>
                    <a:lstStyle/>
                    <a:p>
                      <a:pPr>
                        <a:buNone/>
                      </a:pPr>
                      <a:r>
                        <a:rPr lang="en-IN" sz="1300"/>
                        <a:t>Al-Heety et al.</a:t>
                      </a:r>
                    </a:p>
                  </a:txBody>
                  <a:tcPr marL="86390" marR="86390" marT="43195" marB="43195" anchor="ctr"/>
                </a:tc>
                <a:tc>
                  <a:txBody>
                    <a:bodyPr/>
                    <a:lstStyle/>
                    <a:p>
                      <a:pPr>
                        <a:buNone/>
                      </a:pPr>
                      <a:r>
                        <a:rPr lang="en-US" sz="1300"/>
                        <a:t>Complex reinforcement learning models require high computational power and large datasets.</a:t>
                      </a:r>
                    </a:p>
                  </a:txBody>
                  <a:tcPr marL="86390" marR="86390" marT="43195" marB="43195" anchor="ctr"/>
                </a:tc>
                <a:tc>
                  <a:txBody>
                    <a:bodyPr/>
                    <a:lstStyle/>
                    <a:p>
                      <a:pPr>
                        <a:buNone/>
                      </a:pPr>
                      <a:r>
                        <a:rPr lang="en-US" sz="1300"/>
                        <a:t>Our system uses lightweight ML models and real-time traffic data for faster and simpler congestion prediction.</a:t>
                      </a:r>
                    </a:p>
                  </a:txBody>
                  <a:tcPr marL="86390" marR="86390" marT="43195" marB="43195" anchor="ctr"/>
                </a:tc>
                <a:extLst>
                  <a:ext uri="{0D108BD9-81ED-4DB2-BD59-A6C34878D82A}">
                    <a16:rowId xmlns:a16="http://schemas.microsoft.com/office/drawing/2014/main" val="1662027660"/>
                  </a:ext>
                </a:extLst>
              </a:tr>
              <a:tr h="892692">
                <a:tc>
                  <a:txBody>
                    <a:bodyPr/>
                    <a:lstStyle/>
                    <a:p>
                      <a:pPr>
                        <a:buNone/>
                      </a:pPr>
                      <a:r>
                        <a:rPr lang="en-IN" sz="1300" b="1"/>
                        <a:t>[2]</a:t>
                      </a:r>
                    </a:p>
                  </a:txBody>
                  <a:tcPr marL="86390" marR="86390" marT="43195" marB="43195" anchor="ctr"/>
                </a:tc>
                <a:tc>
                  <a:txBody>
                    <a:bodyPr/>
                    <a:lstStyle/>
                    <a:p>
                      <a:pPr>
                        <a:buNone/>
                      </a:pPr>
                      <a:r>
                        <a:rPr lang="en-IN" sz="1300" dirty="0"/>
                        <a:t>Goswami &amp; </a:t>
                      </a:r>
                      <a:r>
                        <a:rPr lang="en-IN" sz="1300" dirty="0" err="1"/>
                        <a:t>Kadao</a:t>
                      </a:r>
                      <a:endParaRPr lang="en-IN" sz="1300" dirty="0"/>
                    </a:p>
                  </a:txBody>
                  <a:tcPr marL="86390" marR="86390" marT="43195" marB="43195" anchor="ctr"/>
                </a:tc>
                <a:tc>
                  <a:txBody>
                    <a:bodyPr/>
                    <a:lstStyle/>
                    <a:p>
                      <a:pPr>
                        <a:buNone/>
                      </a:pPr>
                      <a:r>
                        <a:rPr lang="en-US" sz="1300"/>
                        <a:t>Focus mainly on signal control and lacks parking management features.</a:t>
                      </a:r>
                    </a:p>
                  </a:txBody>
                  <a:tcPr marL="86390" marR="86390" marT="43195" marB="43195" anchor="ctr"/>
                </a:tc>
                <a:tc>
                  <a:txBody>
                    <a:bodyPr/>
                    <a:lstStyle/>
                    <a:p>
                      <a:pPr>
                        <a:buNone/>
                      </a:pPr>
                      <a:r>
                        <a:rPr lang="en-US" sz="1300" dirty="0"/>
                        <a:t>Our system integrates both traffic congestion prediction and parking slot detection in a single platform.</a:t>
                      </a:r>
                    </a:p>
                  </a:txBody>
                  <a:tcPr marL="86390" marR="86390" marT="43195" marB="43195" anchor="ctr"/>
                </a:tc>
                <a:extLst>
                  <a:ext uri="{0D108BD9-81ED-4DB2-BD59-A6C34878D82A}">
                    <a16:rowId xmlns:a16="http://schemas.microsoft.com/office/drawing/2014/main" val="3802518265"/>
                  </a:ext>
                </a:extLst>
              </a:tr>
              <a:tr h="892692">
                <a:tc>
                  <a:txBody>
                    <a:bodyPr/>
                    <a:lstStyle/>
                    <a:p>
                      <a:pPr>
                        <a:buNone/>
                      </a:pPr>
                      <a:r>
                        <a:rPr lang="en-IN" sz="1300" b="1"/>
                        <a:t>[3]</a:t>
                      </a:r>
                    </a:p>
                  </a:txBody>
                  <a:tcPr marL="86390" marR="86390" marT="43195" marB="43195" anchor="ctr"/>
                </a:tc>
                <a:tc>
                  <a:txBody>
                    <a:bodyPr/>
                    <a:lstStyle/>
                    <a:p>
                      <a:pPr>
                        <a:buNone/>
                      </a:pPr>
                      <a:r>
                        <a:rPr lang="en-IN" sz="1300" dirty="0"/>
                        <a:t>Xu &amp; Li</a:t>
                      </a:r>
                    </a:p>
                  </a:txBody>
                  <a:tcPr marL="86390" marR="86390" marT="43195" marB="43195" anchor="ctr"/>
                </a:tc>
                <a:tc>
                  <a:txBody>
                    <a:bodyPr/>
                    <a:lstStyle/>
                    <a:p>
                      <a:pPr>
                        <a:buNone/>
                      </a:pPr>
                      <a:r>
                        <a:rPr lang="en-US" sz="1300"/>
                        <a:t>Requires multiple data sources which increases system complexity and implementation cost.</a:t>
                      </a:r>
                    </a:p>
                  </a:txBody>
                  <a:tcPr marL="86390" marR="86390" marT="43195" marB="43195" anchor="ctr"/>
                </a:tc>
                <a:tc>
                  <a:txBody>
                    <a:bodyPr/>
                    <a:lstStyle/>
                    <a:p>
                      <a:pPr>
                        <a:buNone/>
                      </a:pPr>
                      <a:r>
                        <a:rPr lang="en-US" sz="1300"/>
                        <a:t>Our approach uses simpler data processing with camera-based vehicle detection for practical implementation.</a:t>
                      </a:r>
                    </a:p>
                  </a:txBody>
                  <a:tcPr marL="86390" marR="86390" marT="43195" marB="43195" anchor="ctr"/>
                </a:tc>
                <a:extLst>
                  <a:ext uri="{0D108BD9-81ED-4DB2-BD59-A6C34878D82A}">
                    <a16:rowId xmlns:a16="http://schemas.microsoft.com/office/drawing/2014/main" val="767402977"/>
                  </a:ext>
                </a:extLst>
              </a:tr>
              <a:tr h="892692">
                <a:tc>
                  <a:txBody>
                    <a:bodyPr/>
                    <a:lstStyle/>
                    <a:p>
                      <a:pPr>
                        <a:buNone/>
                      </a:pPr>
                      <a:r>
                        <a:rPr lang="en-IN" sz="1300" b="1" dirty="0"/>
                        <a:t>[4]</a:t>
                      </a:r>
                    </a:p>
                  </a:txBody>
                  <a:tcPr marL="86390" marR="86390" marT="43195" marB="43195" anchor="ctr"/>
                </a:tc>
                <a:tc>
                  <a:txBody>
                    <a:bodyPr/>
                    <a:lstStyle/>
                    <a:p>
                      <a:pPr>
                        <a:buNone/>
                      </a:pPr>
                      <a:r>
                        <a:rPr lang="en-IN" sz="1300"/>
                        <a:t>Prathiba et al.</a:t>
                      </a:r>
                    </a:p>
                  </a:txBody>
                  <a:tcPr marL="86390" marR="86390" marT="43195" marB="43195" anchor="ctr"/>
                </a:tc>
                <a:tc>
                  <a:txBody>
                    <a:bodyPr/>
                    <a:lstStyle/>
                    <a:p>
                      <a:pPr>
                        <a:buNone/>
                      </a:pPr>
                      <a:r>
                        <a:rPr lang="en-US" sz="1300"/>
                        <a:t>Digital twin architecture is expensive and difficult to deploy in normal city infrastructure.</a:t>
                      </a:r>
                    </a:p>
                  </a:txBody>
                  <a:tcPr marL="86390" marR="86390" marT="43195" marB="43195" anchor="ctr"/>
                </a:tc>
                <a:tc>
                  <a:txBody>
                    <a:bodyPr/>
                    <a:lstStyle/>
                    <a:p>
                      <a:pPr>
                        <a:buNone/>
                      </a:pPr>
                      <a:r>
                        <a:rPr lang="en-US" sz="1300"/>
                        <a:t>Our system provides a low-cost AI based traffic monitoring system suitable for urban environments.</a:t>
                      </a:r>
                    </a:p>
                  </a:txBody>
                  <a:tcPr marL="86390" marR="86390" marT="43195" marB="43195" anchor="ctr"/>
                </a:tc>
                <a:extLst>
                  <a:ext uri="{0D108BD9-81ED-4DB2-BD59-A6C34878D82A}">
                    <a16:rowId xmlns:a16="http://schemas.microsoft.com/office/drawing/2014/main" val="3945093838"/>
                  </a:ext>
                </a:extLst>
              </a:tr>
              <a:tr h="892692">
                <a:tc>
                  <a:txBody>
                    <a:bodyPr/>
                    <a:lstStyle/>
                    <a:p>
                      <a:pPr>
                        <a:buNone/>
                      </a:pPr>
                      <a:r>
                        <a:rPr lang="en-IN" sz="1300" b="1" dirty="0"/>
                        <a:t>[5]</a:t>
                      </a:r>
                    </a:p>
                  </a:txBody>
                  <a:tcPr marL="86390" marR="86390" marT="43195" marB="43195" anchor="ctr"/>
                </a:tc>
                <a:tc>
                  <a:txBody>
                    <a:bodyPr/>
                    <a:lstStyle/>
                    <a:p>
                      <a:pPr>
                        <a:buNone/>
                      </a:pPr>
                      <a:r>
                        <a:rPr lang="en-IN" sz="1300"/>
                        <a:t>Wairagade et al.</a:t>
                      </a:r>
                    </a:p>
                  </a:txBody>
                  <a:tcPr marL="86390" marR="86390" marT="43195" marB="43195" anchor="ctr"/>
                </a:tc>
                <a:tc>
                  <a:txBody>
                    <a:bodyPr/>
                    <a:lstStyle/>
                    <a:p>
                      <a:pPr>
                        <a:buNone/>
                      </a:pPr>
                      <a:r>
                        <a:rPr lang="en-US" sz="1300"/>
                        <a:t>Limited real-time prediction capability and lacks visualization dashboard.</a:t>
                      </a:r>
                    </a:p>
                  </a:txBody>
                  <a:tcPr marL="86390" marR="86390" marT="43195" marB="43195" anchor="ctr"/>
                </a:tc>
                <a:tc>
                  <a:txBody>
                    <a:bodyPr/>
                    <a:lstStyle/>
                    <a:p>
                      <a:pPr>
                        <a:buNone/>
                      </a:pPr>
                      <a:r>
                        <a:rPr lang="en-US" sz="1300" dirty="0"/>
                        <a:t>Our system provides real-time prediction results with a dashboard for easy monitoring and analysis.</a:t>
                      </a:r>
                    </a:p>
                  </a:txBody>
                  <a:tcPr marL="86390" marR="86390" marT="43195" marB="43195" anchor="ctr"/>
                </a:tc>
                <a:extLst>
                  <a:ext uri="{0D108BD9-81ED-4DB2-BD59-A6C34878D82A}">
                    <a16:rowId xmlns:a16="http://schemas.microsoft.com/office/drawing/2014/main" val="1763127299"/>
                  </a:ext>
                </a:extLst>
              </a:tr>
            </a:tbl>
          </a:graphicData>
        </a:graphic>
      </p:graphicFrame>
    </p:spTree>
    <p:extLst>
      <p:ext uri="{BB962C8B-B14F-4D97-AF65-F5344CB8AC3E}">
        <p14:creationId xmlns:p14="http://schemas.microsoft.com/office/powerpoint/2010/main" val="33734365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3"/>
          <p:cNvSpPr txBox="1">
            <a:spLocks noGrp="1"/>
          </p:cNvSpPr>
          <p:nvPr>
            <p:ph type="title"/>
          </p:nvPr>
        </p:nvSpPr>
        <p:spPr>
          <a:xfrm>
            <a:off x="1160305" y="267126"/>
            <a:ext cx="8727768" cy="487500"/>
          </a:xfrm>
          <a:prstGeom prst="rect">
            <a:avLst/>
          </a:prstGeom>
          <a:noFill/>
          <a:ln>
            <a:noFill/>
          </a:ln>
        </p:spPr>
        <p:txBody>
          <a:bodyPr spcFirstLastPara="1" wrap="square" lIns="91425" tIns="45700" rIns="91425" bIns="45700" anchor="ctr" anchorCtr="0">
            <a:noAutofit/>
          </a:bodyPr>
          <a:lstStyle/>
          <a:p>
            <a:pPr lvl="0"/>
            <a:r>
              <a:rPr lang="en-US" sz="3200" dirty="0">
                <a:latin typeface="Cambria"/>
                <a:ea typeface="Cambria"/>
                <a:cs typeface="Cambria"/>
                <a:sym typeface="Cambria"/>
              </a:rPr>
              <a:t>Objectives</a:t>
            </a:r>
            <a:endParaRPr lang="en-IN" sz="3200" dirty="0">
              <a:latin typeface="Cambria"/>
              <a:ea typeface="Cambria"/>
              <a:cs typeface="Cambria"/>
              <a:sym typeface="Cambria"/>
            </a:endParaRPr>
          </a:p>
        </p:txBody>
      </p:sp>
      <p:sp>
        <p:nvSpPr>
          <p:cNvPr id="105" name="Google Shape;105;p3"/>
          <p:cNvSpPr txBox="1">
            <a:spLocks noGrp="1"/>
          </p:cNvSpPr>
          <p:nvPr>
            <p:ph type="body" idx="1"/>
          </p:nvPr>
        </p:nvSpPr>
        <p:spPr>
          <a:xfrm>
            <a:off x="629882" y="845574"/>
            <a:ext cx="10668000" cy="5348748"/>
          </a:xfrm>
          <a:prstGeom prst="rect">
            <a:avLst/>
          </a:prstGeom>
          <a:noFill/>
          <a:ln>
            <a:noFill/>
          </a:ln>
        </p:spPr>
        <p:txBody>
          <a:bodyPr spcFirstLastPara="1" wrap="square" lIns="91425" tIns="45700" rIns="91425" bIns="45700" anchor="t" anchorCtr="0">
            <a:normAutofit/>
          </a:bodyPr>
          <a:lstStyle/>
          <a:p>
            <a:pPr marL="76200" indent="0">
              <a:buNone/>
            </a:pPr>
            <a:endParaRPr lang="en-US" sz="1400" dirty="0"/>
          </a:p>
          <a:p>
            <a:pPr marL="76200" indent="0">
              <a:buNone/>
            </a:pPr>
            <a:endParaRPr lang="en-US" sz="1400" dirty="0"/>
          </a:p>
          <a:p>
            <a:pPr marL="76200" indent="0">
              <a:buNone/>
            </a:pPr>
            <a:endParaRPr lang="en-US" sz="1400" dirty="0"/>
          </a:p>
          <a:p>
            <a:pPr marL="76200" indent="0">
              <a:buNone/>
            </a:pPr>
            <a:endParaRPr lang="en-US" sz="2000" dirty="0">
              <a:latin typeface="Calibri" panose="020F0502020204030204" pitchFamily="34" charset="0"/>
              <a:ea typeface="Calibri" panose="020F0502020204030204" pitchFamily="34" charset="0"/>
              <a:cs typeface="Calibri" panose="020F0502020204030204" pitchFamily="34" charset="0"/>
            </a:endParaRPr>
          </a:p>
        </p:txBody>
      </p:sp>
      <p:sp>
        <p:nvSpPr>
          <p:cNvPr id="3" name="Rectangle 2">
            <a:extLst>
              <a:ext uri="{FF2B5EF4-FFF2-40B4-BE49-F238E27FC236}">
                <a16:creationId xmlns:a16="http://schemas.microsoft.com/office/drawing/2014/main" id="{35B39FA3-3B8F-5F22-7D8A-21BE73B45E0F}"/>
              </a:ext>
            </a:extLst>
          </p:cNvPr>
          <p:cNvSpPr>
            <a:spLocks noChangeArrowheads="1"/>
          </p:cNvSpPr>
          <p:nvPr/>
        </p:nvSpPr>
        <p:spPr bwMode="auto">
          <a:xfrm>
            <a:off x="0" y="-123111"/>
            <a:ext cx="229550" cy="2462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000" b="0" i="0" u="none" strike="noStrike" cap="none" normalizeH="0" baseline="0" dirty="0">
              <a:ln>
                <a:noFill/>
              </a:ln>
              <a:solidFill>
                <a:schemeClr val="tx1"/>
              </a:solidFill>
              <a:effectLst/>
              <a:latin typeface="Arial" panose="020B0604020202020204" pitchFamily="34" charset="0"/>
            </a:endParaRPr>
          </a:p>
        </p:txBody>
      </p:sp>
      <p:sp>
        <p:nvSpPr>
          <p:cNvPr id="4" name="Rectangle 1">
            <a:extLst>
              <a:ext uri="{FF2B5EF4-FFF2-40B4-BE49-F238E27FC236}">
                <a16:creationId xmlns:a16="http://schemas.microsoft.com/office/drawing/2014/main" id="{B870F423-1C35-DBB6-53D0-120BFEE0E154}"/>
              </a:ext>
            </a:extLst>
          </p:cNvPr>
          <p:cNvSpPr>
            <a:spLocks noChangeArrowheads="1"/>
          </p:cNvSpPr>
          <p:nvPr/>
        </p:nvSpPr>
        <p:spPr bwMode="auto">
          <a:xfrm>
            <a:off x="629882" y="663678"/>
            <a:ext cx="12694920" cy="30708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mj-lt"/>
            </a:endParaRP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mj-lt"/>
                <a:cs typeface="Times New Roman" panose="02020603050405020304" pitchFamily="18" charset="0"/>
              </a:rPr>
              <a:t>Predict traffic congestion using AI/ML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mj-lt"/>
                <a:cs typeface="Times New Roman" panose="02020603050405020304" pitchFamily="18" charset="0"/>
              </a:rPr>
              <a:t>Detect available parking slots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mj-lt"/>
                <a:cs typeface="Times New Roman" panose="02020603050405020304" pitchFamily="18" charset="0"/>
              </a:rPr>
              <a:t>Optimize traffic signals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mj-lt"/>
                <a:cs typeface="Times New Roman" panose="02020603050405020304" pitchFamily="18" charset="0"/>
              </a:rPr>
              <a:t>Provide emergency vehicle priority </a:t>
            </a:r>
          </a:p>
          <a:p>
            <a:pPr marL="285750" marR="0" lvl="0" indent="-285750" algn="l" defTabSz="914400" rtl="0" eaLnBrk="0" fontAlgn="base" latinLnBrk="0" hangingPunct="0">
              <a:lnSpc>
                <a:spcPct val="15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mj-lt"/>
                <a:cs typeface="Times New Roman" panose="02020603050405020304" pitchFamily="18" charset="0"/>
              </a:rPr>
              <a:t>Improve traffic flow in smart cities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7">
          <a:extLst>
            <a:ext uri="{FF2B5EF4-FFF2-40B4-BE49-F238E27FC236}">
              <a16:creationId xmlns:a16="http://schemas.microsoft.com/office/drawing/2014/main" id="{0C00C4A6-08A9-8C5E-F99A-C52587232E07}"/>
            </a:ext>
          </a:extLst>
        </p:cNvPr>
        <p:cNvGrpSpPr/>
        <p:nvPr/>
      </p:nvGrpSpPr>
      <p:grpSpPr>
        <a:xfrm>
          <a:off x="0" y="0"/>
          <a:ext cx="0" cy="0"/>
          <a:chOff x="0" y="0"/>
          <a:chExt cx="0" cy="0"/>
        </a:xfrm>
      </p:grpSpPr>
      <p:sp>
        <p:nvSpPr>
          <p:cNvPr id="98" name="Google Shape;98;p2">
            <a:extLst>
              <a:ext uri="{FF2B5EF4-FFF2-40B4-BE49-F238E27FC236}">
                <a16:creationId xmlns:a16="http://schemas.microsoft.com/office/drawing/2014/main" id="{CA6134AF-13DF-7FE2-64FE-7D45AABCD719}"/>
              </a:ext>
            </a:extLst>
          </p:cNvPr>
          <p:cNvSpPr txBox="1">
            <a:spLocks noGrp="1"/>
          </p:cNvSpPr>
          <p:nvPr>
            <p:ph type="title"/>
          </p:nvPr>
        </p:nvSpPr>
        <p:spPr>
          <a:xfrm>
            <a:off x="-1072831" y="223881"/>
            <a:ext cx="10668000" cy="487500"/>
          </a:xfrm>
          <a:prstGeom prst="rect">
            <a:avLst/>
          </a:prstGeom>
          <a:noFill/>
          <a:ln>
            <a:noFill/>
          </a:ln>
        </p:spPr>
        <p:txBody>
          <a:bodyPr spcFirstLastPara="1" wrap="square" lIns="91425" tIns="45700" rIns="91425" bIns="45700" anchor="ctr" anchorCtr="0">
            <a:noAutofit/>
          </a:bodyPr>
          <a:lstStyle/>
          <a:p>
            <a:pPr lvl="0" algn="ctr"/>
            <a:r>
              <a:rPr lang="en-IN" sz="3200" dirty="0">
                <a:latin typeface="Cambria" panose="02040503050406030204" pitchFamily="18" charset="0"/>
                <a:ea typeface="Cambria" panose="02040503050406030204" pitchFamily="18" charset="0"/>
                <a:cs typeface="Cambria"/>
                <a:sym typeface="Cambria"/>
              </a:rPr>
              <a:t>Existing methods and Drawbacks</a:t>
            </a:r>
            <a:endParaRPr lang="en-US" sz="3200" dirty="0">
              <a:latin typeface="Cambria" panose="02040503050406030204" pitchFamily="18" charset="0"/>
              <a:ea typeface="Cambria" panose="02040503050406030204" pitchFamily="18" charset="0"/>
              <a:cs typeface="Cambria"/>
              <a:sym typeface="Cambria"/>
            </a:endParaRPr>
          </a:p>
        </p:txBody>
      </p:sp>
      <p:sp>
        <p:nvSpPr>
          <p:cNvPr id="99" name="Google Shape;99;p2">
            <a:extLst>
              <a:ext uri="{FF2B5EF4-FFF2-40B4-BE49-F238E27FC236}">
                <a16:creationId xmlns:a16="http://schemas.microsoft.com/office/drawing/2014/main" id="{5F4EDA04-C2A3-51BC-F709-5403FBB31446}"/>
              </a:ext>
            </a:extLst>
          </p:cNvPr>
          <p:cNvSpPr txBox="1">
            <a:spLocks noGrp="1"/>
          </p:cNvSpPr>
          <p:nvPr>
            <p:ph type="body" idx="1"/>
          </p:nvPr>
        </p:nvSpPr>
        <p:spPr>
          <a:xfrm>
            <a:off x="648929" y="1583267"/>
            <a:ext cx="10989310" cy="3217333"/>
          </a:xfrm>
          <a:prstGeom prst="rect">
            <a:avLst/>
          </a:prstGeom>
          <a:noFill/>
          <a:ln>
            <a:noFill/>
          </a:ln>
        </p:spPr>
        <p:txBody>
          <a:bodyPr spcFirstLastPara="1" wrap="square" lIns="91425" tIns="45700" rIns="91425" bIns="45700" anchor="b" anchorCtr="0">
            <a:normAutofit/>
          </a:bodyPr>
          <a:lstStyle/>
          <a:p>
            <a:pPr marL="342900" lvl="0" indent="-190500" algn="just" rtl="0">
              <a:lnSpc>
                <a:spcPct val="100000"/>
              </a:lnSpc>
              <a:spcBef>
                <a:spcPts val="0"/>
              </a:spcBef>
              <a:spcAft>
                <a:spcPts val="0"/>
              </a:spcAft>
              <a:buSzPts val="2400"/>
              <a:buNone/>
            </a:pPr>
            <a:endParaRPr lang="en-US" sz="1800" b="1"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800" u="sng" dirty="0">
              <a:latin typeface="Cambria" panose="02040503050406030204" pitchFamily="18" charset="0"/>
              <a:ea typeface="Cambria" panose="02040503050406030204" pitchFamily="18" charset="0"/>
              <a:cs typeface="Cambria"/>
              <a:sym typeface="Cambria"/>
            </a:endParaRPr>
          </a:p>
          <a:p>
            <a:pPr marL="342900" lvl="0" indent="-190500">
              <a:lnSpc>
                <a:spcPct val="200000"/>
              </a:lnSpc>
              <a:spcBef>
                <a:spcPts val="0"/>
              </a:spcBef>
              <a:buNone/>
            </a:pPr>
            <a:endParaRPr lang="en-US" sz="1700" dirty="0">
              <a:latin typeface="Cambria" panose="02040503050406030204" pitchFamily="18" charset="0"/>
              <a:ea typeface="Cambria" panose="02040503050406030204" pitchFamily="18" charset="0"/>
            </a:endParaRPr>
          </a:p>
          <a:p>
            <a:pPr marL="342900" lvl="0" indent="-190500">
              <a:lnSpc>
                <a:spcPct val="200000"/>
              </a:lnSpc>
              <a:spcBef>
                <a:spcPts val="0"/>
              </a:spcBef>
              <a:buNone/>
            </a:pPr>
            <a:endParaRPr lang="en-US" sz="1200" dirty="0">
              <a:latin typeface="Cambria" panose="02040503050406030204" pitchFamily="18" charset="0"/>
              <a:ea typeface="Cambria" panose="02040503050406030204" pitchFamily="18" charset="0"/>
            </a:endParaRPr>
          </a:p>
          <a:p>
            <a:pPr marL="342900" lvl="0" indent="-190500">
              <a:lnSpc>
                <a:spcPct val="200000"/>
              </a:lnSpc>
              <a:spcBef>
                <a:spcPts val="0"/>
              </a:spcBef>
              <a:buNone/>
            </a:pPr>
            <a:endParaRPr lang="en-US" b="1" u="sng" dirty="0">
              <a:latin typeface="Cambria" panose="02040503050406030204" pitchFamily="18" charset="0"/>
              <a:ea typeface="Cambria" panose="02040503050406030204" pitchFamily="18" charset="0"/>
              <a:cs typeface="Cambria"/>
              <a:sym typeface="Cambria"/>
            </a:endParaRPr>
          </a:p>
        </p:txBody>
      </p:sp>
      <p:sp>
        <p:nvSpPr>
          <p:cNvPr id="5" name="Rectangle 4">
            <a:extLst>
              <a:ext uri="{FF2B5EF4-FFF2-40B4-BE49-F238E27FC236}">
                <a16:creationId xmlns:a16="http://schemas.microsoft.com/office/drawing/2014/main" id="{5A2AAC4D-DD3C-3C36-27F8-E871CD51C61C}"/>
              </a:ext>
            </a:extLst>
          </p:cNvPr>
          <p:cNvSpPr>
            <a:spLocks noChangeArrowheads="1"/>
          </p:cNvSpPr>
          <p:nvPr/>
        </p:nvSpPr>
        <p:spPr bwMode="auto">
          <a:xfrm>
            <a:off x="553761" y="2178653"/>
            <a:ext cx="9278496" cy="1154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a:p>
            <a:pPr marL="0" marR="0" lvl="0" indent="0" algn="l" defTabSz="914400" rtl="0" eaLnBrk="0" fontAlgn="base" latinLnBrk="0" hangingPunct="0">
              <a:lnSpc>
                <a:spcPct val="150000"/>
              </a:lnSpc>
              <a:spcBef>
                <a:spcPct val="0"/>
              </a:spcBef>
              <a:spcAft>
                <a:spcPct val="0"/>
              </a:spcAft>
              <a:buClrTx/>
              <a:buSzTx/>
              <a:buFontTx/>
              <a:buChar char="•"/>
              <a:tabLst/>
            </a:pPr>
            <a:endParaRPr kumimoji="0" lang="en-US" altLang="en-US" sz="160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
        <p:nvSpPr>
          <p:cNvPr id="4" name="Rectangle 2">
            <a:extLst>
              <a:ext uri="{FF2B5EF4-FFF2-40B4-BE49-F238E27FC236}">
                <a16:creationId xmlns:a16="http://schemas.microsoft.com/office/drawing/2014/main" id="{A7C77E93-55C4-0339-768A-8AE951E181DF}"/>
              </a:ext>
            </a:extLst>
          </p:cNvPr>
          <p:cNvSpPr>
            <a:spLocks noChangeArrowheads="1"/>
          </p:cNvSpPr>
          <p:nvPr/>
        </p:nvSpPr>
        <p:spPr bwMode="auto">
          <a:xfrm>
            <a:off x="944233" y="901893"/>
            <a:ext cx="6173523" cy="48628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nSpc>
                <a:spcPct val="150000"/>
              </a:lnSpc>
            </a:pPr>
            <a:r>
              <a:rPr lang="en-US" sz="2400" b="1" dirty="0"/>
              <a:t>Existing methods:</a:t>
            </a:r>
          </a:p>
          <a:p>
            <a:pPr marL="342900" indent="-342900">
              <a:lnSpc>
                <a:spcPct val="150000"/>
              </a:lnSpc>
              <a:buFont typeface="Arial" panose="020B0604020202020204" pitchFamily="34" charset="0"/>
              <a:buChar char="•"/>
            </a:pPr>
            <a:r>
              <a:rPr lang="en-US" sz="2400" dirty="0"/>
              <a:t>Fixed-time traffic signals </a:t>
            </a:r>
          </a:p>
          <a:p>
            <a:pPr marL="342900" indent="-342900">
              <a:lnSpc>
                <a:spcPct val="150000"/>
              </a:lnSpc>
              <a:buFont typeface="Arial" panose="020B0604020202020204" pitchFamily="34" charset="0"/>
              <a:buChar char="•"/>
            </a:pPr>
            <a:r>
              <a:rPr lang="en-US" sz="2400" dirty="0"/>
              <a:t>Manual traffic monitoring </a:t>
            </a:r>
          </a:p>
          <a:p>
            <a:pPr marL="342900" indent="-342900">
              <a:lnSpc>
                <a:spcPct val="150000"/>
              </a:lnSpc>
              <a:buFont typeface="Arial" panose="020B0604020202020204" pitchFamily="34" charset="0"/>
              <a:buChar char="•"/>
            </a:pPr>
            <a:r>
              <a:rPr lang="en-US" sz="2400" dirty="0"/>
              <a:t>Limited parking management </a:t>
            </a:r>
          </a:p>
          <a:p>
            <a:pPr>
              <a:lnSpc>
                <a:spcPct val="150000"/>
              </a:lnSpc>
            </a:pPr>
            <a:r>
              <a:rPr lang="en-US" sz="2400" b="1" dirty="0"/>
              <a:t>Drawbacks:</a:t>
            </a:r>
          </a:p>
          <a:p>
            <a:pPr marL="342900" indent="-342900">
              <a:lnSpc>
                <a:spcPct val="150000"/>
              </a:lnSpc>
              <a:buFont typeface="Arial" panose="020B0604020202020204" pitchFamily="34" charset="0"/>
              <a:buChar char="•"/>
            </a:pPr>
            <a:r>
              <a:rPr lang="en-US" sz="2400" dirty="0"/>
              <a:t>No real-time prediction </a:t>
            </a:r>
          </a:p>
          <a:p>
            <a:pPr marL="342900" indent="-342900">
              <a:lnSpc>
                <a:spcPct val="150000"/>
              </a:lnSpc>
              <a:buFont typeface="Arial" panose="020B0604020202020204" pitchFamily="34" charset="0"/>
              <a:buChar char="•"/>
            </a:pPr>
            <a:r>
              <a:rPr lang="en-US" sz="2400" dirty="0"/>
              <a:t>Traffic congestion during peak hours </a:t>
            </a:r>
          </a:p>
          <a:p>
            <a:pPr marL="342900" indent="-342900">
              <a:lnSpc>
                <a:spcPct val="150000"/>
              </a:lnSpc>
              <a:buFont typeface="Arial" panose="020B0604020202020204" pitchFamily="34" charset="0"/>
              <a:buChar char="•"/>
            </a:pPr>
            <a:r>
              <a:rPr lang="en-US" sz="2400" dirty="0"/>
              <a:t>No emergency vehicle prioritization</a:t>
            </a:r>
          </a:p>
          <a:p>
            <a:pPr marL="342900" lvl="0" indent="-342900" eaLnBrk="0" fontAlgn="base" hangingPunct="0">
              <a:spcBef>
                <a:spcPct val="0"/>
              </a:spcBef>
              <a:spcAft>
                <a:spcPct val="0"/>
              </a:spcAft>
              <a:buClrTx/>
              <a:buFont typeface="Arial" panose="020B0604020202020204" pitchFamily="34" charset="0"/>
              <a:buChar char="•"/>
            </a:pPr>
            <a:endParaRPr kumimoji="0" lang="en-US" altLang="en-US" sz="220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279413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390115-610D-9F14-49E2-5C1773E69E9B}"/>
              </a:ext>
            </a:extLst>
          </p:cNvPr>
          <p:cNvSpPr>
            <a:spLocks noGrp="1"/>
          </p:cNvSpPr>
          <p:nvPr>
            <p:ph type="title"/>
          </p:nvPr>
        </p:nvSpPr>
        <p:spPr/>
        <p:txBody>
          <a:bodyPr/>
          <a:lstStyle/>
          <a:p>
            <a:r>
              <a:rPr lang="en-IN" dirty="0"/>
              <a:t>Proposed Method</a:t>
            </a:r>
          </a:p>
        </p:txBody>
      </p:sp>
      <p:sp>
        <p:nvSpPr>
          <p:cNvPr id="3" name="Text Placeholder 2">
            <a:extLst>
              <a:ext uri="{FF2B5EF4-FFF2-40B4-BE49-F238E27FC236}">
                <a16:creationId xmlns:a16="http://schemas.microsoft.com/office/drawing/2014/main" id="{C991A9C4-0FEF-0E43-0250-0CB29B56D5FC}"/>
              </a:ext>
            </a:extLst>
          </p:cNvPr>
          <p:cNvSpPr>
            <a:spLocks noGrp="1"/>
          </p:cNvSpPr>
          <p:nvPr>
            <p:ph type="body" idx="1"/>
          </p:nvPr>
        </p:nvSpPr>
        <p:spPr>
          <a:xfrm>
            <a:off x="392176" y="952500"/>
            <a:ext cx="10668000" cy="4953000"/>
          </a:xfrm>
        </p:spPr>
        <p:txBody>
          <a:bodyPr/>
          <a:lstStyle/>
          <a:p>
            <a:pPr>
              <a:lnSpc>
                <a:spcPct val="150000"/>
              </a:lnSpc>
            </a:pPr>
            <a:r>
              <a:rPr lang="en-US" dirty="0"/>
              <a:t>The proposed system uses machine learning algorithms to analyze traffic data and predict congestion levels. Computer vision techniques detect available parking slots, and the system dynamically optimizes traffic signals and routes.</a:t>
            </a:r>
            <a:endParaRPr lang="en-IN" dirty="0"/>
          </a:p>
        </p:txBody>
      </p:sp>
    </p:spTree>
    <p:extLst>
      <p:ext uri="{BB962C8B-B14F-4D97-AF65-F5344CB8AC3E}">
        <p14:creationId xmlns:p14="http://schemas.microsoft.com/office/powerpoint/2010/main" val="190043994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9E3D144-C6CA-EC1C-EED9-F2AD8B8E8F23}"/>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3AE59853-2A12-BF74-FF13-B11CA4419872}"/>
              </a:ext>
            </a:extLst>
          </p:cNvPr>
          <p:cNvSpPr txBox="1">
            <a:spLocks noGrp="1"/>
          </p:cNvSpPr>
          <p:nvPr>
            <p:ph type="title"/>
          </p:nvPr>
        </p:nvSpPr>
        <p:spPr>
          <a:xfrm>
            <a:off x="832104" y="771386"/>
            <a:ext cx="10651110" cy="487500"/>
          </a:xfrm>
          <a:prstGeom prst="rect">
            <a:avLst/>
          </a:prstGeom>
          <a:noFill/>
          <a:ln>
            <a:noFill/>
          </a:ln>
        </p:spPr>
        <p:txBody>
          <a:bodyPr spcFirstLastPara="1" wrap="square" lIns="91425" tIns="45700" rIns="91425" bIns="45700" anchor="ctr" anchorCtr="0">
            <a:noAutofit/>
          </a:bodyPr>
          <a:lstStyle/>
          <a:p>
            <a:r>
              <a:rPr lang="en-US" sz="3200" dirty="0">
                <a:ea typeface="Cambria" panose="02040503050406030204" pitchFamily="18" charset="0"/>
                <a:cs typeface="Calibri" panose="020F0502020204030204" pitchFamily="34" charset="0"/>
              </a:rPr>
              <a:t>Architecture Diagram</a:t>
            </a:r>
            <a:br>
              <a:rPr lang="en-US" sz="3200" dirty="0">
                <a:ea typeface="Cambria" panose="02040503050406030204" pitchFamily="18" charset="0"/>
                <a:cs typeface="Calibri" panose="020F0502020204030204" pitchFamily="34" charset="0"/>
              </a:rPr>
            </a:br>
            <a:br>
              <a:rPr lang="en-US" sz="3200" dirty="0">
                <a:latin typeface="Cambria" panose="02040503050406030204" pitchFamily="18" charset="0"/>
                <a:ea typeface="Cambria" panose="02040503050406030204" pitchFamily="18" charset="0"/>
                <a:cs typeface="Calibri" panose="020F0502020204030204" pitchFamily="34" charset="0"/>
              </a:rPr>
            </a:br>
            <a:endParaRPr lang="en-IN" sz="3200" dirty="0">
              <a:latin typeface="Cambria"/>
              <a:ea typeface="Cambria"/>
              <a:cs typeface="Cambria"/>
              <a:sym typeface="Cambria"/>
            </a:endParaRPr>
          </a:p>
        </p:txBody>
      </p:sp>
      <p:graphicFrame>
        <p:nvGraphicFramePr>
          <p:cNvPr id="2" name="Table 1">
            <a:extLst>
              <a:ext uri="{FF2B5EF4-FFF2-40B4-BE49-F238E27FC236}">
                <a16:creationId xmlns:a16="http://schemas.microsoft.com/office/drawing/2014/main" id="{6F618CBA-91AD-B415-4D28-BF5C136EE588}"/>
              </a:ext>
            </a:extLst>
          </p:cNvPr>
          <p:cNvGraphicFramePr>
            <a:graphicFrameLocks noGrp="1"/>
          </p:cNvGraphicFramePr>
          <p:nvPr>
            <p:extLst>
              <p:ext uri="{D42A27DB-BD31-4B8C-83A1-F6EECF244321}">
                <p14:modId xmlns:p14="http://schemas.microsoft.com/office/powerpoint/2010/main" val="227654053"/>
              </p:ext>
            </p:extLst>
          </p:nvPr>
        </p:nvGraphicFramePr>
        <p:xfrm>
          <a:off x="1413164" y="1326552"/>
          <a:ext cx="5994746" cy="3289900"/>
        </p:xfrm>
        <a:graphic>
          <a:graphicData uri="http://schemas.openxmlformats.org/drawingml/2006/table">
            <a:tbl>
              <a:tblPr>
                <a:tableStyleId>{70602FFC-E6F1-48FD-B3E5-CC246D8D6623}</a:tableStyleId>
              </a:tblPr>
              <a:tblGrid>
                <a:gridCol w="5994746">
                  <a:extLst>
                    <a:ext uri="{9D8B030D-6E8A-4147-A177-3AD203B41FA5}">
                      <a16:colId xmlns:a16="http://schemas.microsoft.com/office/drawing/2014/main" val="3376330943"/>
                    </a:ext>
                  </a:extLst>
                </a:gridCol>
              </a:tblGrid>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1329265645"/>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579197889"/>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292279435"/>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799093266"/>
                  </a:ext>
                </a:extLst>
              </a:tr>
              <a:tr h="328990">
                <a:tc>
                  <a:txBody>
                    <a:bodyPr/>
                    <a:lstStyle/>
                    <a:p>
                      <a:pPr algn="ctr">
                        <a:buNone/>
                      </a:pPr>
                      <a:endParaRPr lang="en-IN" sz="80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3585473590"/>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829830700"/>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650339127"/>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4083652748"/>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2390436475"/>
                  </a:ext>
                </a:extLst>
              </a:tr>
              <a:tr h="328990">
                <a:tc>
                  <a:txBody>
                    <a:bodyPr/>
                    <a:lstStyle/>
                    <a:p>
                      <a:pPr algn="ctr">
                        <a:buNone/>
                      </a:pPr>
                      <a:endParaRPr lang="en-IN" sz="800" dirty="0">
                        <a:effectLst/>
                        <a:latin typeface="Times New Roman" panose="02020603050405020304" pitchFamily="18" charset="0"/>
                        <a:ea typeface="SimSun" panose="02010600030101010101" pitchFamily="2" charset="-122"/>
                      </a:endParaRPr>
                    </a:p>
                  </a:txBody>
                  <a:tcPr marL="68580" marR="68580" marT="0" marB="0" anchor="ctr"/>
                </a:tc>
                <a:extLst>
                  <a:ext uri="{0D108BD9-81ED-4DB2-BD59-A6C34878D82A}">
                    <a16:rowId xmlns:a16="http://schemas.microsoft.com/office/drawing/2014/main" val="4068020242"/>
                  </a:ext>
                </a:extLst>
              </a:tr>
            </a:tbl>
          </a:graphicData>
        </a:graphic>
      </p:graphicFrame>
      <p:pic>
        <p:nvPicPr>
          <p:cNvPr id="4" name="Picture 3">
            <a:extLst>
              <a:ext uri="{FF2B5EF4-FFF2-40B4-BE49-F238E27FC236}">
                <a16:creationId xmlns:a16="http://schemas.microsoft.com/office/drawing/2014/main" id="{9BBFB603-3506-7C16-150D-594FA9DCCEBB}"/>
              </a:ext>
            </a:extLst>
          </p:cNvPr>
          <p:cNvPicPr>
            <a:picLocks noChangeAspect="1"/>
          </p:cNvPicPr>
          <p:nvPr/>
        </p:nvPicPr>
        <p:blipFill>
          <a:blip r:embed="rId3"/>
          <a:stretch>
            <a:fillRect/>
          </a:stretch>
        </p:blipFill>
        <p:spPr>
          <a:xfrm>
            <a:off x="2043270" y="1258885"/>
            <a:ext cx="8024273" cy="4349913"/>
          </a:xfrm>
          <a:prstGeom prst="rect">
            <a:avLst/>
          </a:prstGeom>
        </p:spPr>
      </p:pic>
    </p:spTree>
    <p:extLst>
      <p:ext uri="{BB962C8B-B14F-4D97-AF65-F5344CB8AC3E}">
        <p14:creationId xmlns:p14="http://schemas.microsoft.com/office/powerpoint/2010/main" val="967402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D55436D3-8F7A-F413-F26D-5345E4A167CF}"/>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4BBD6356-F635-1BF3-EE97-540135524692}"/>
              </a:ext>
            </a:extLst>
          </p:cNvPr>
          <p:cNvSpPr txBox="1">
            <a:spLocks noGrp="1"/>
          </p:cNvSpPr>
          <p:nvPr>
            <p:ph type="title"/>
          </p:nvPr>
        </p:nvSpPr>
        <p:spPr>
          <a:xfrm>
            <a:off x="741045" y="799724"/>
            <a:ext cx="9887975" cy="487500"/>
          </a:xfrm>
          <a:prstGeom prst="rect">
            <a:avLst/>
          </a:prstGeom>
          <a:noFill/>
          <a:ln>
            <a:noFill/>
          </a:ln>
        </p:spPr>
        <p:txBody>
          <a:bodyPr spcFirstLastPara="1" wrap="square" lIns="91425" tIns="45700" rIns="91425" bIns="45700" anchor="ctr" anchorCtr="0">
            <a:noAutofit/>
          </a:bodyPr>
          <a:lstStyle/>
          <a:p>
            <a:r>
              <a:rPr lang="en-IN" sz="3200" dirty="0"/>
              <a:t>Modules &amp; Technologies Used</a:t>
            </a:r>
            <a:br>
              <a:rPr lang="en-US" sz="3200" dirty="0">
                <a:latin typeface="Cambria" panose="02040503050406030204" pitchFamily="18" charset="0"/>
                <a:ea typeface="Cambria" panose="02040503050406030204" pitchFamily="18" charset="0"/>
                <a:cs typeface="Calibri" panose="020F0502020204030204" pitchFamily="34" charset="0"/>
              </a:rPr>
            </a:br>
            <a:br>
              <a:rPr lang="en-US" sz="3200" dirty="0">
                <a:latin typeface="Cambria" panose="02040503050406030204" pitchFamily="18" charset="0"/>
                <a:ea typeface="Cambria" panose="02040503050406030204" pitchFamily="18" charset="0"/>
                <a:cs typeface="Calibri" panose="020F0502020204030204" pitchFamily="34" charset="0"/>
              </a:rPr>
            </a:br>
            <a:endParaRPr lang="en-IN" sz="3200" dirty="0">
              <a:latin typeface="Cambria"/>
              <a:ea typeface="Cambria"/>
              <a:cs typeface="Cambria"/>
              <a:sym typeface="Cambria"/>
            </a:endParaRPr>
          </a:p>
        </p:txBody>
      </p:sp>
      <p:sp>
        <p:nvSpPr>
          <p:cNvPr id="5" name="Rectangle 2">
            <a:extLst>
              <a:ext uri="{FF2B5EF4-FFF2-40B4-BE49-F238E27FC236}">
                <a16:creationId xmlns:a16="http://schemas.microsoft.com/office/drawing/2014/main" id="{F9669CF2-9296-4E4A-08BB-5F942DD533E1}"/>
              </a:ext>
            </a:extLst>
          </p:cNvPr>
          <p:cNvSpPr>
            <a:spLocks noChangeArrowheads="1"/>
          </p:cNvSpPr>
          <p:nvPr/>
        </p:nvSpPr>
        <p:spPr bwMode="auto">
          <a:xfrm>
            <a:off x="886968" y="1043474"/>
            <a:ext cx="8686800" cy="42600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tabLst/>
            </a:pPr>
            <a:endParaRPr lang="en-US" sz="2200" dirty="0"/>
          </a:p>
        </p:txBody>
      </p:sp>
      <p:sp>
        <p:nvSpPr>
          <p:cNvPr id="3" name="TextBox 2">
            <a:extLst>
              <a:ext uri="{FF2B5EF4-FFF2-40B4-BE49-F238E27FC236}">
                <a16:creationId xmlns:a16="http://schemas.microsoft.com/office/drawing/2014/main" id="{E3FA1912-0116-6B6A-CD15-58886FF17D99}"/>
              </a:ext>
            </a:extLst>
          </p:cNvPr>
          <p:cNvSpPr txBox="1"/>
          <p:nvPr/>
        </p:nvSpPr>
        <p:spPr>
          <a:xfrm>
            <a:off x="741045" y="945579"/>
            <a:ext cx="10709910" cy="4455835"/>
          </a:xfrm>
          <a:prstGeom prst="rect">
            <a:avLst/>
          </a:prstGeom>
          <a:noFill/>
        </p:spPr>
        <p:txBody>
          <a:bodyPr wrap="square">
            <a:spAutoFit/>
          </a:bodyPr>
          <a:lstStyle/>
          <a:p>
            <a:pPr algn="just">
              <a:lnSpc>
                <a:spcPct val="150000"/>
              </a:lnSpc>
            </a:pPr>
            <a:r>
              <a:rPr lang="en-US" sz="2400" dirty="0"/>
              <a:t>The system is divided into several functional modules, including traffic prediction, parking detection, vehicle routing, and user interface management. Each module performs a specific task and contributes to the overall functionality of the system. The project is developed using Python as the primary programming language. Libraries such as </a:t>
            </a:r>
            <a:r>
              <a:rPr lang="en-US" sz="2400" b="1" dirty="0"/>
              <a:t>OpenCV</a:t>
            </a:r>
            <a:r>
              <a:rPr lang="en-US" sz="2400" dirty="0"/>
              <a:t> are used for computer vision tasks, while machine learning models are implemented for traffic prediction. </a:t>
            </a:r>
            <a:r>
              <a:rPr lang="en-US" sz="2400" b="1" dirty="0" err="1"/>
              <a:t>Streamlit</a:t>
            </a:r>
            <a:r>
              <a:rPr lang="en-US" sz="2400" dirty="0"/>
              <a:t> is used to build an interactive web interface that allows users to monitor traffic conditions and access parking information.</a:t>
            </a:r>
            <a:endParaRPr lang="en-IN" sz="2400" dirty="0"/>
          </a:p>
        </p:txBody>
      </p:sp>
    </p:spTree>
    <p:extLst>
      <p:ext uri="{BB962C8B-B14F-4D97-AF65-F5344CB8AC3E}">
        <p14:creationId xmlns:p14="http://schemas.microsoft.com/office/powerpoint/2010/main" val="14790669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517D8-89BF-8F68-4AC0-1C1BA64DA2EB}"/>
              </a:ext>
            </a:extLst>
          </p:cNvPr>
          <p:cNvSpPr>
            <a:spLocks noGrp="1"/>
          </p:cNvSpPr>
          <p:nvPr>
            <p:ph type="title"/>
          </p:nvPr>
        </p:nvSpPr>
        <p:spPr/>
        <p:txBody>
          <a:bodyPr/>
          <a:lstStyle/>
          <a:p>
            <a:r>
              <a:rPr lang="en-IN" dirty="0"/>
              <a:t>GitHub Repository</a:t>
            </a:r>
          </a:p>
        </p:txBody>
      </p:sp>
      <p:sp>
        <p:nvSpPr>
          <p:cNvPr id="3" name="Text Placeholder 2">
            <a:extLst>
              <a:ext uri="{FF2B5EF4-FFF2-40B4-BE49-F238E27FC236}">
                <a16:creationId xmlns:a16="http://schemas.microsoft.com/office/drawing/2014/main" id="{1834C7AC-AD2C-09D8-298C-36C69BBA8242}"/>
              </a:ext>
            </a:extLst>
          </p:cNvPr>
          <p:cNvSpPr>
            <a:spLocks noGrp="1"/>
          </p:cNvSpPr>
          <p:nvPr>
            <p:ph type="body" idx="1"/>
          </p:nvPr>
        </p:nvSpPr>
        <p:spPr/>
        <p:txBody>
          <a:bodyPr/>
          <a:lstStyle/>
          <a:p>
            <a:endParaRPr lang="en-IN" dirty="0"/>
          </a:p>
          <a:p>
            <a:endParaRPr lang="en-IN" dirty="0"/>
          </a:p>
          <a:p>
            <a:endParaRPr lang="en-IN" dirty="0"/>
          </a:p>
          <a:p>
            <a:r>
              <a:rPr lang="en-IN" dirty="0"/>
              <a:t>Link: </a:t>
            </a:r>
            <a:r>
              <a:rPr lang="en-IN" dirty="0">
                <a:hlinkClick r:id="rId2"/>
              </a:rPr>
              <a:t>https://github.com/SThousif/Smart-Traffic-Management-System-for-Urban-Congestion </a:t>
            </a:r>
            <a:endParaRPr lang="en-IN" dirty="0"/>
          </a:p>
          <a:p>
            <a:pPr marL="76200" indent="0">
              <a:buNone/>
            </a:pPr>
            <a:r>
              <a:rPr lang="en-IN" dirty="0"/>
              <a:t>    </a:t>
            </a:r>
          </a:p>
        </p:txBody>
      </p:sp>
    </p:spTree>
    <p:extLst>
      <p:ext uri="{BB962C8B-B14F-4D97-AF65-F5344CB8AC3E}">
        <p14:creationId xmlns:p14="http://schemas.microsoft.com/office/powerpoint/2010/main" val="28167680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AB6E04-C38D-69F7-550B-CF49A67C468F}"/>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EA01FCD5-7956-9D5D-8543-1386D42BEDD9}"/>
              </a:ext>
            </a:extLst>
          </p:cNvPr>
          <p:cNvSpPr txBox="1"/>
          <p:nvPr/>
        </p:nvSpPr>
        <p:spPr>
          <a:xfrm>
            <a:off x="3696930" y="-70855"/>
            <a:ext cx="6096000" cy="924356"/>
          </a:xfrm>
          <a:prstGeom prst="rect">
            <a:avLst/>
          </a:prstGeom>
          <a:noFill/>
        </p:spPr>
        <p:txBody>
          <a:bodyPr wrap="square">
            <a:spAutoFit/>
          </a:bodyPr>
          <a:lstStyle/>
          <a:p>
            <a:pPr marL="152400" algn="just">
              <a:lnSpc>
                <a:spcPct val="200000"/>
              </a:lnSpc>
            </a:pPr>
            <a:r>
              <a:rPr lang="en-US" sz="3200" b="1" u="sng" dirty="0">
                <a:solidFill>
                  <a:schemeClr val="bg2"/>
                </a:solidFill>
                <a:latin typeface="Cambria" panose="02040503050406030204" pitchFamily="18" charset="0"/>
                <a:ea typeface="Cambria" panose="02040503050406030204" pitchFamily="18" charset="0"/>
                <a:cs typeface="Calibri" panose="020F0502020204030204" pitchFamily="34" charset="0"/>
              </a:rPr>
              <a:t>Working Screenshots</a:t>
            </a:r>
          </a:p>
        </p:txBody>
      </p:sp>
      <p:pic>
        <p:nvPicPr>
          <p:cNvPr id="4" name="Image 35">
            <a:extLst>
              <a:ext uri="{FF2B5EF4-FFF2-40B4-BE49-F238E27FC236}">
                <a16:creationId xmlns:a16="http://schemas.microsoft.com/office/drawing/2014/main" id="{A8DD12B2-6DBD-5ECD-A8DA-FE6970356057}"/>
              </a:ext>
            </a:extLst>
          </p:cNvPr>
          <p:cNvPicPr>
            <a:picLocks/>
          </p:cNvPicPr>
          <p:nvPr/>
        </p:nvPicPr>
        <p:blipFill>
          <a:blip r:embed="rId2" cstate="print"/>
          <a:stretch>
            <a:fillRect/>
          </a:stretch>
        </p:blipFill>
        <p:spPr>
          <a:xfrm>
            <a:off x="6420993" y="1513297"/>
            <a:ext cx="5330190" cy="2912400"/>
          </a:xfrm>
          <a:prstGeom prst="rect">
            <a:avLst/>
          </a:prstGeom>
        </p:spPr>
      </p:pic>
      <p:sp>
        <p:nvSpPr>
          <p:cNvPr id="6" name="TextBox 5">
            <a:extLst>
              <a:ext uri="{FF2B5EF4-FFF2-40B4-BE49-F238E27FC236}">
                <a16:creationId xmlns:a16="http://schemas.microsoft.com/office/drawing/2014/main" id="{0BEE763B-D5B6-E206-E50E-B3179357EFD0}"/>
              </a:ext>
            </a:extLst>
          </p:cNvPr>
          <p:cNvSpPr txBox="1"/>
          <p:nvPr/>
        </p:nvSpPr>
        <p:spPr>
          <a:xfrm>
            <a:off x="324993" y="4449420"/>
            <a:ext cx="6096000" cy="702565"/>
          </a:xfrm>
          <a:prstGeom prst="rect">
            <a:avLst/>
          </a:prstGeom>
          <a:noFill/>
        </p:spPr>
        <p:txBody>
          <a:bodyPr wrap="square">
            <a:spAutoFit/>
          </a:bodyPr>
          <a:lstStyle/>
          <a:p>
            <a:pPr marL="850265" marR="873760">
              <a:lnSpc>
                <a:spcPct val="151000"/>
              </a:lnSpc>
            </a:pPr>
            <a:r>
              <a:rPr lang="en-US" b="1" dirty="0">
                <a:latin typeface="Times New Roman" panose="02020603050405020304" pitchFamily="18" charset="0"/>
                <a:cs typeface="Times New Roman" panose="02020603050405020304" pitchFamily="18" charset="0"/>
              </a:rPr>
              <a:t>Fig. 1</a:t>
            </a:r>
            <a:r>
              <a:rPr lang="en-US" b="1" dirty="0"/>
              <a:t>. </a:t>
            </a:r>
            <a:r>
              <a:rPr lang="en-US" dirty="0">
                <a:latin typeface="Times New Roman" panose="02020603050405020304" pitchFamily="18" charset="0"/>
                <a:cs typeface="Times New Roman" panose="02020603050405020304" pitchFamily="18" charset="0"/>
              </a:rPr>
              <a:t>The main landing page providing navigation to parking and traffic prediction features.</a:t>
            </a:r>
          </a:p>
        </p:txBody>
      </p:sp>
      <p:sp>
        <p:nvSpPr>
          <p:cNvPr id="9" name="TextBox 8">
            <a:extLst>
              <a:ext uri="{FF2B5EF4-FFF2-40B4-BE49-F238E27FC236}">
                <a16:creationId xmlns:a16="http://schemas.microsoft.com/office/drawing/2014/main" id="{370EEAC6-80C7-385D-7284-4B076BC7C87E}"/>
              </a:ext>
            </a:extLst>
          </p:cNvPr>
          <p:cNvSpPr txBox="1"/>
          <p:nvPr/>
        </p:nvSpPr>
        <p:spPr>
          <a:xfrm>
            <a:off x="6038088" y="4425697"/>
            <a:ext cx="6096000" cy="703847"/>
          </a:xfrm>
          <a:prstGeom prst="rect">
            <a:avLst/>
          </a:prstGeom>
          <a:noFill/>
        </p:spPr>
        <p:txBody>
          <a:bodyPr wrap="square">
            <a:spAutoFit/>
          </a:bodyPr>
          <a:lstStyle/>
          <a:p>
            <a:pPr marL="850265" marR="873760">
              <a:lnSpc>
                <a:spcPct val="151000"/>
              </a:lnSpc>
              <a:spcBef>
                <a:spcPts val="805"/>
              </a:spcBef>
              <a:buNone/>
            </a:pPr>
            <a:r>
              <a:rPr lang="en-US" sz="1400" b="1" dirty="0">
                <a:effectLst/>
                <a:latin typeface="Times New Roman" panose="02020603050405020304" pitchFamily="18" charset="0"/>
                <a:ea typeface="Times New Roman" panose="02020603050405020304" pitchFamily="18" charset="0"/>
              </a:rPr>
              <a:t>Fig. </a:t>
            </a:r>
            <a:r>
              <a:rPr lang="en-US" b="1" dirty="0">
                <a:latin typeface="Times New Roman" panose="02020603050405020304" pitchFamily="18" charset="0"/>
                <a:ea typeface="Times New Roman" panose="02020603050405020304" pitchFamily="18" charset="0"/>
              </a:rPr>
              <a:t>2. </a:t>
            </a:r>
            <a:r>
              <a:rPr lang="en-US" sz="1400" dirty="0">
                <a:effectLst/>
                <a:latin typeface="Times New Roman" panose="02020603050405020304" pitchFamily="18" charset="0"/>
                <a:ea typeface="Times New Roman" panose="02020603050405020304" pitchFamily="18" charset="0"/>
              </a:rPr>
              <a:t>Page showing output of the parking</a:t>
            </a:r>
            <a:r>
              <a:rPr lang="en-US" sz="1400" spc="-1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vacancy prediction model with slot availability.</a:t>
            </a:r>
          </a:p>
        </p:txBody>
      </p:sp>
      <p:pic>
        <p:nvPicPr>
          <p:cNvPr id="12" name="Picture 11">
            <a:extLst>
              <a:ext uri="{FF2B5EF4-FFF2-40B4-BE49-F238E27FC236}">
                <a16:creationId xmlns:a16="http://schemas.microsoft.com/office/drawing/2014/main" id="{B29B4E85-6E67-EAEE-A4EE-842AC0843F27}"/>
              </a:ext>
            </a:extLst>
          </p:cNvPr>
          <p:cNvPicPr>
            <a:picLocks noChangeAspect="1"/>
          </p:cNvPicPr>
          <p:nvPr/>
        </p:nvPicPr>
        <p:blipFill>
          <a:blip r:embed="rId3"/>
          <a:stretch>
            <a:fillRect/>
          </a:stretch>
        </p:blipFill>
        <p:spPr>
          <a:xfrm>
            <a:off x="556145" y="1513297"/>
            <a:ext cx="5539855" cy="2936123"/>
          </a:xfrm>
          <a:prstGeom prst="rect">
            <a:avLst/>
          </a:prstGeom>
        </p:spPr>
      </p:pic>
    </p:spTree>
    <p:extLst>
      <p:ext uri="{BB962C8B-B14F-4D97-AF65-F5344CB8AC3E}">
        <p14:creationId xmlns:p14="http://schemas.microsoft.com/office/powerpoint/2010/main" val="318808164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E6E64D-C363-35E4-2796-68BB338012A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140C25E-C11A-E37A-8648-180020A3AF1A}"/>
              </a:ext>
            </a:extLst>
          </p:cNvPr>
          <p:cNvSpPr txBox="1"/>
          <p:nvPr/>
        </p:nvSpPr>
        <p:spPr>
          <a:xfrm>
            <a:off x="4703928" y="-47672"/>
            <a:ext cx="6096000" cy="924356"/>
          </a:xfrm>
          <a:prstGeom prst="rect">
            <a:avLst/>
          </a:prstGeom>
          <a:noFill/>
        </p:spPr>
        <p:txBody>
          <a:bodyPr wrap="square">
            <a:spAutoFit/>
          </a:bodyPr>
          <a:lstStyle/>
          <a:p>
            <a:pPr marL="152400" algn="just">
              <a:lnSpc>
                <a:spcPct val="200000"/>
              </a:lnSpc>
            </a:pPr>
            <a:r>
              <a:rPr lang="en-US" sz="3200" b="1" u="sng" dirty="0">
                <a:solidFill>
                  <a:schemeClr val="bg2"/>
                </a:solidFill>
                <a:latin typeface="Cambria" panose="02040503050406030204" pitchFamily="18" charset="0"/>
                <a:ea typeface="Cambria" panose="02040503050406030204" pitchFamily="18" charset="0"/>
                <a:cs typeface="Calibri" panose="020F0502020204030204" pitchFamily="34" charset="0"/>
              </a:rPr>
              <a:t>Screenshots</a:t>
            </a:r>
          </a:p>
        </p:txBody>
      </p:sp>
      <p:pic>
        <p:nvPicPr>
          <p:cNvPr id="3" name="Image 36">
            <a:extLst>
              <a:ext uri="{FF2B5EF4-FFF2-40B4-BE49-F238E27FC236}">
                <a16:creationId xmlns:a16="http://schemas.microsoft.com/office/drawing/2014/main" id="{BE86032D-7361-6C49-0747-D632C6A77664}"/>
              </a:ext>
            </a:extLst>
          </p:cNvPr>
          <p:cNvPicPr>
            <a:picLocks/>
          </p:cNvPicPr>
          <p:nvPr/>
        </p:nvPicPr>
        <p:blipFill>
          <a:blip r:embed="rId2" cstate="print"/>
          <a:stretch>
            <a:fillRect/>
          </a:stretch>
        </p:blipFill>
        <p:spPr>
          <a:xfrm>
            <a:off x="640919" y="1729508"/>
            <a:ext cx="5339715" cy="2223656"/>
          </a:xfrm>
          <a:prstGeom prst="rect">
            <a:avLst/>
          </a:prstGeom>
        </p:spPr>
      </p:pic>
      <p:pic>
        <p:nvPicPr>
          <p:cNvPr id="5" name="Image 39">
            <a:extLst>
              <a:ext uri="{FF2B5EF4-FFF2-40B4-BE49-F238E27FC236}">
                <a16:creationId xmlns:a16="http://schemas.microsoft.com/office/drawing/2014/main" id="{6941FEB1-60B2-3164-0AF0-8D92C8D83D5A}"/>
              </a:ext>
            </a:extLst>
          </p:cNvPr>
          <p:cNvPicPr>
            <a:picLocks/>
          </p:cNvPicPr>
          <p:nvPr/>
        </p:nvPicPr>
        <p:blipFill>
          <a:blip r:embed="rId3" cstate="print"/>
          <a:stretch>
            <a:fillRect/>
          </a:stretch>
        </p:blipFill>
        <p:spPr>
          <a:xfrm>
            <a:off x="6211368" y="1729508"/>
            <a:ext cx="5334635" cy="2395170"/>
          </a:xfrm>
          <a:prstGeom prst="rect">
            <a:avLst/>
          </a:prstGeom>
        </p:spPr>
      </p:pic>
      <p:sp>
        <p:nvSpPr>
          <p:cNvPr id="7" name="TextBox 6">
            <a:extLst>
              <a:ext uri="{FF2B5EF4-FFF2-40B4-BE49-F238E27FC236}">
                <a16:creationId xmlns:a16="http://schemas.microsoft.com/office/drawing/2014/main" id="{ABB0125E-72A5-5167-FFC6-A541CB264D7D}"/>
              </a:ext>
            </a:extLst>
          </p:cNvPr>
          <p:cNvSpPr txBox="1"/>
          <p:nvPr/>
        </p:nvSpPr>
        <p:spPr>
          <a:xfrm>
            <a:off x="544945" y="4187042"/>
            <a:ext cx="6096000" cy="703847"/>
          </a:xfrm>
          <a:prstGeom prst="rect">
            <a:avLst/>
          </a:prstGeom>
          <a:noFill/>
        </p:spPr>
        <p:txBody>
          <a:bodyPr wrap="square">
            <a:spAutoFit/>
          </a:bodyPr>
          <a:lstStyle/>
          <a:p>
            <a:pPr marL="850265" marR="873760">
              <a:lnSpc>
                <a:spcPct val="151000"/>
              </a:lnSpc>
              <a:spcBef>
                <a:spcPts val="905"/>
              </a:spcBef>
              <a:buNone/>
            </a:pPr>
            <a:r>
              <a:rPr lang="en-US" sz="1400" b="1" dirty="0">
                <a:effectLst/>
                <a:latin typeface="Times New Roman" panose="02020603050405020304" pitchFamily="18" charset="0"/>
                <a:ea typeface="Times New Roman" panose="02020603050405020304" pitchFamily="18" charset="0"/>
              </a:rPr>
              <a:t>Fig. 3. </a:t>
            </a:r>
            <a:r>
              <a:rPr lang="en-US" sz="1400" dirty="0">
                <a:effectLst/>
                <a:latin typeface="Times New Roman" panose="02020603050405020304" pitchFamily="18" charset="0"/>
                <a:ea typeface="Times New Roman" panose="02020603050405020304" pitchFamily="18" charset="0"/>
              </a:rPr>
              <a:t>Secure</a:t>
            </a:r>
            <a:r>
              <a:rPr lang="en-US" sz="1400" spc="16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login</a:t>
            </a:r>
            <a:r>
              <a:rPr lang="en-US" sz="1400" spc="15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interface</a:t>
            </a:r>
            <a:r>
              <a:rPr lang="en-US" sz="1400" spc="14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for</a:t>
            </a:r>
            <a:r>
              <a:rPr lang="en-US" sz="1400" spc="15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administrators</a:t>
            </a:r>
            <a:r>
              <a:rPr lang="en-US" sz="1400" spc="17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to</a:t>
            </a:r>
            <a:r>
              <a:rPr lang="en-US" sz="1400" spc="15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access</a:t>
            </a:r>
            <a:r>
              <a:rPr lang="en-US" sz="1400" spc="17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management </a:t>
            </a:r>
            <a:r>
              <a:rPr lang="en-US" sz="1400" spc="-10" dirty="0">
                <a:effectLst/>
                <a:latin typeface="Times New Roman" panose="02020603050405020304" pitchFamily="18" charset="0"/>
                <a:ea typeface="Times New Roman" panose="02020603050405020304" pitchFamily="18" charset="0"/>
              </a:rPr>
              <a:t>functionalities.</a:t>
            </a:r>
            <a:endParaRPr lang="en-US" sz="14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4F72937C-46CA-89AB-E64F-538BC99E57E6}"/>
              </a:ext>
            </a:extLst>
          </p:cNvPr>
          <p:cNvSpPr txBox="1"/>
          <p:nvPr/>
        </p:nvSpPr>
        <p:spPr>
          <a:xfrm>
            <a:off x="5551055" y="4358556"/>
            <a:ext cx="6096000" cy="523220"/>
          </a:xfrm>
          <a:prstGeom prst="rect">
            <a:avLst/>
          </a:prstGeom>
          <a:noFill/>
        </p:spPr>
        <p:txBody>
          <a:bodyPr wrap="square">
            <a:spAutoFit/>
          </a:bodyPr>
          <a:lstStyle/>
          <a:p>
            <a:pPr marL="850265" marR="0">
              <a:spcBef>
                <a:spcPts val="5"/>
              </a:spcBef>
              <a:buNone/>
            </a:pPr>
            <a:r>
              <a:rPr lang="en-US" sz="1400" b="1" dirty="0">
                <a:effectLst/>
                <a:latin typeface="Times New Roman" panose="02020603050405020304" pitchFamily="18" charset="0"/>
                <a:ea typeface="Times New Roman" panose="02020603050405020304" pitchFamily="18" charset="0"/>
              </a:rPr>
              <a:t>Fig. 4. </a:t>
            </a:r>
            <a:r>
              <a:rPr lang="en-US" sz="1400" dirty="0">
                <a:effectLst/>
                <a:latin typeface="Times New Roman" panose="02020603050405020304" pitchFamily="18" charset="0"/>
                <a:ea typeface="Times New Roman" panose="02020603050405020304" pitchFamily="18" charset="0"/>
              </a:rPr>
              <a:t>User</a:t>
            </a:r>
            <a:r>
              <a:rPr lang="en-US" sz="1400" spc="3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login</a:t>
            </a:r>
            <a:r>
              <a:rPr lang="en-US" sz="1400" spc="5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interface</a:t>
            </a:r>
            <a:r>
              <a:rPr lang="en-US" sz="1400" spc="3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to</a:t>
            </a:r>
            <a:r>
              <a:rPr lang="en-US" sz="1400" spc="2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access</a:t>
            </a:r>
            <a:r>
              <a:rPr lang="en-US" sz="1400" spc="5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parking</a:t>
            </a:r>
            <a:r>
              <a:rPr lang="en-US" sz="1400" spc="4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and</a:t>
            </a:r>
            <a:r>
              <a:rPr lang="en-US" sz="1400" spc="5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traffic</a:t>
            </a:r>
            <a:r>
              <a:rPr lang="en-US" sz="1400" spc="3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prediction</a:t>
            </a:r>
            <a:r>
              <a:rPr lang="en-US" sz="1400" spc="50" dirty="0">
                <a:effectLst/>
                <a:latin typeface="Times New Roman" panose="02020603050405020304" pitchFamily="18" charset="0"/>
                <a:ea typeface="Times New Roman" panose="02020603050405020304" pitchFamily="18" charset="0"/>
              </a:rPr>
              <a:t> </a:t>
            </a:r>
            <a:r>
              <a:rPr lang="en-US" sz="1400" spc="-10" dirty="0">
                <a:effectLst/>
                <a:latin typeface="Times New Roman" panose="02020603050405020304" pitchFamily="18" charset="0"/>
                <a:ea typeface="Times New Roman" panose="02020603050405020304" pitchFamily="18" charset="0"/>
              </a:rPr>
              <a:t>services.</a:t>
            </a:r>
            <a:endParaRPr lang="en-US" sz="1400" dirty="0">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40943048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45">
            <a:extLst>
              <a:ext uri="{FF2B5EF4-FFF2-40B4-BE49-F238E27FC236}">
                <a16:creationId xmlns:a16="http://schemas.microsoft.com/office/drawing/2014/main" id="{13FAF569-991B-2871-43B8-18B8250AA2E8}"/>
              </a:ext>
            </a:extLst>
          </p:cNvPr>
          <p:cNvPicPr>
            <a:picLocks/>
          </p:cNvPicPr>
          <p:nvPr/>
        </p:nvPicPr>
        <p:blipFill>
          <a:blip r:embed="rId2" cstate="print"/>
          <a:stretch>
            <a:fillRect/>
          </a:stretch>
        </p:blipFill>
        <p:spPr>
          <a:xfrm>
            <a:off x="681414" y="1710690"/>
            <a:ext cx="5331460" cy="2602692"/>
          </a:xfrm>
          <a:prstGeom prst="rect">
            <a:avLst/>
          </a:prstGeom>
        </p:spPr>
      </p:pic>
      <p:pic>
        <p:nvPicPr>
          <p:cNvPr id="3" name="Image 47">
            <a:extLst>
              <a:ext uri="{FF2B5EF4-FFF2-40B4-BE49-F238E27FC236}">
                <a16:creationId xmlns:a16="http://schemas.microsoft.com/office/drawing/2014/main" id="{9A542560-20DB-8245-3056-62B3AF98553D}"/>
              </a:ext>
            </a:extLst>
          </p:cNvPr>
          <p:cNvPicPr>
            <a:picLocks/>
          </p:cNvPicPr>
          <p:nvPr/>
        </p:nvPicPr>
        <p:blipFill>
          <a:blip r:embed="rId3" cstate="print"/>
          <a:stretch>
            <a:fillRect/>
          </a:stretch>
        </p:blipFill>
        <p:spPr>
          <a:xfrm>
            <a:off x="6179128" y="1710689"/>
            <a:ext cx="5324475" cy="2602691"/>
          </a:xfrm>
          <a:prstGeom prst="rect">
            <a:avLst/>
          </a:prstGeom>
        </p:spPr>
      </p:pic>
      <p:sp>
        <p:nvSpPr>
          <p:cNvPr id="5" name="TextBox 4">
            <a:extLst>
              <a:ext uri="{FF2B5EF4-FFF2-40B4-BE49-F238E27FC236}">
                <a16:creationId xmlns:a16="http://schemas.microsoft.com/office/drawing/2014/main" id="{7EB156AC-A491-C4F6-B3BF-7E7DE083CEA8}"/>
              </a:ext>
            </a:extLst>
          </p:cNvPr>
          <p:cNvSpPr txBox="1"/>
          <p:nvPr/>
        </p:nvSpPr>
        <p:spPr>
          <a:xfrm>
            <a:off x="688397" y="4313380"/>
            <a:ext cx="6096000" cy="703847"/>
          </a:xfrm>
          <a:prstGeom prst="rect">
            <a:avLst/>
          </a:prstGeom>
          <a:noFill/>
        </p:spPr>
        <p:txBody>
          <a:bodyPr wrap="square">
            <a:spAutoFit/>
          </a:bodyPr>
          <a:lstStyle/>
          <a:p>
            <a:pPr marL="850265" marR="873760">
              <a:lnSpc>
                <a:spcPct val="151000"/>
              </a:lnSpc>
              <a:buNone/>
            </a:pPr>
            <a:r>
              <a:rPr lang="en-US" sz="1400" b="1" dirty="0">
                <a:effectLst/>
                <a:latin typeface="Times New Roman" panose="02020603050405020304" pitchFamily="18" charset="0"/>
                <a:ea typeface="Times New Roman" panose="02020603050405020304" pitchFamily="18" charset="0"/>
              </a:rPr>
              <a:t>Fig. 5. </a:t>
            </a:r>
            <a:r>
              <a:rPr lang="en-US" sz="1400" dirty="0">
                <a:effectLst/>
                <a:latin typeface="Times New Roman" panose="02020603050405020304" pitchFamily="18" charset="0"/>
                <a:ea typeface="Times New Roman" panose="02020603050405020304" pitchFamily="18" charset="0"/>
              </a:rPr>
              <a:t>Visual representation of estimated vehicle flow on different </a:t>
            </a:r>
            <a:r>
              <a:rPr lang="en-US" sz="1400" spc="-10" dirty="0">
                <a:effectLst/>
                <a:latin typeface="Times New Roman" panose="02020603050405020304" pitchFamily="18" charset="0"/>
                <a:ea typeface="Times New Roman" panose="02020603050405020304" pitchFamily="18" charset="0"/>
              </a:rPr>
              <a:t>routes.</a:t>
            </a:r>
            <a:endParaRPr lang="en-US" sz="1400" dirty="0">
              <a:effectLst/>
              <a:latin typeface="Times New Roman" panose="02020603050405020304" pitchFamily="18" charset="0"/>
              <a:ea typeface="Times New Roman" panose="02020603050405020304" pitchFamily="18" charset="0"/>
            </a:endParaRPr>
          </a:p>
        </p:txBody>
      </p:sp>
      <p:sp>
        <p:nvSpPr>
          <p:cNvPr id="7" name="TextBox 6">
            <a:extLst>
              <a:ext uri="{FF2B5EF4-FFF2-40B4-BE49-F238E27FC236}">
                <a16:creationId xmlns:a16="http://schemas.microsoft.com/office/drawing/2014/main" id="{585009C7-FF1D-4FFD-B418-9E3FA270260E}"/>
              </a:ext>
            </a:extLst>
          </p:cNvPr>
          <p:cNvSpPr txBox="1"/>
          <p:nvPr/>
        </p:nvSpPr>
        <p:spPr>
          <a:xfrm>
            <a:off x="5616924" y="4313380"/>
            <a:ext cx="6096000" cy="523220"/>
          </a:xfrm>
          <a:prstGeom prst="rect">
            <a:avLst/>
          </a:prstGeom>
          <a:noFill/>
        </p:spPr>
        <p:txBody>
          <a:bodyPr wrap="square">
            <a:spAutoFit/>
          </a:bodyPr>
          <a:lstStyle/>
          <a:p>
            <a:pPr marL="850265" marR="0">
              <a:buNone/>
            </a:pPr>
            <a:r>
              <a:rPr lang="en-US" sz="1400" b="1" dirty="0">
                <a:effectLst/>
                <a:latin typeface="Times New Roman" panose="02020603050405020304" pitchFamily="18" charset="0"/>
                <a:ea typeface="Times New Roman" panose="02020603050405020304" pitchFamily="18" charset="0"/>
              </a:rPr>
              <a:t>Fig. 6.  </a:t>
            </a:r>
            <a:r>
              <a:rPr lang="en-US" sz="1400" dirty="0">
                <a:effectLst/>
                <a:latin typeface="Times New Roman" panose="02020603050405020304" pitchFamily="18" charset="0"/>
                <a:ea typeface="Times New Roman" panose="02020603050405020304" pitchFamily="18" charset="0"/>
              </a:rPr>
              <a:t>Interactive</a:t>
            </a:r>
            <a:r>
              <a:rPr lang="en-US" sz="1400" spc="5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map</a:t>
            </a:r>
            <a:r>
              <a:rPr lang="en-US" sz="1400" spc="4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showing</a:t>
            </a:r>
            <a:r>
              <a:rPr lang="en-US" sz="1400" spc="3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parking</a:t>
            </a:r>
            <a:r>
              <a:rPr lang="en-US" sz="1400" spc="5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locations</a:t>
            </a:r>
            <a:r>
              <a:rPr lang="en-US" sz="1400" spc="5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and</a:t>
            </a:r>
            <a:r>
              <a:rPr lang="en-US" sz="1400" spc="40"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real-time</a:t>
            </a:r>
            <a:r>
              <a:rPr lang="en-US" sz="1400" spc="45" dirty="0">
                <a:effectLst/>
                <a:latin typeface="Times New Roman" panose="02020603050405020304" pitchFamily="18" charset="0"/>
                <a:ea typeface="Times New Roman" panose="02020603050405020304" pitchFamily="18" charset="0"/>
              </a:rPr>
              <a:t> </a:t>
            </a:r>
            <a:r>
              <a:rPr lang="en-US" sz="1400" dirty="0">
                <a:effectLst/>
                <a:latin typeface="Times New Roman" panose="02020603050405020304" pitchFamily="18" charset="0"/>
                <a:ea typeface="Times New Roman" panose="02020603050405020304" pitchFamily="18" charset="0"/>
              </a:rPr>
              <a:t>traffic</a:t>
            </a:r>
            <a:r>
              <a:rPr lang="en-US" sz="1400" spc="50" dirty="0">
                <a:effectLst/>
                <a:latin typeface="Times New Roman" panose="02020603050405020304" pitchFamily="18" charset="0"/>
                <a:ea typeface="Times New Roman" panose="02020603050405020304" pitchFamily="18" charset="0"/>
              </a:rPr>
              <a:t> </a:t>
            </a:r>
            <a:r>
              <a:rPr lang="en-US" sz="1400" spc="-10" dirty="0">
                <a:effectLst/>
                <a:latin typeface="Times New Roman" panose="02020603050405020304" pitchFamily="18" charset="0"/>
                <a:ea typeface="Times New Roman" panose="02020603050405020304" pitchFamily="18" charset="0"/>
              </a:rPr>
              <a:t>data.</a:t>
            </a:r>
            <a:endParaRPr lang="en-US" sz="1400" dirty="0">
              <a:effectLst/>
              <a:latin typeface="Times New Roman" panose="02020603050405020304" pitchFamily="18" charset="0"/>
              <a:ea typeface="Times New Roman" panose="02020603050405020304" pitchFamily="18" charset="0"/>
            </a:endParaRPr>
          </a:p>
        </p:txBody>
      </p:sp>
      <p:sp>
        <p:nvSpPr>
          <p:cNvPr id="9" name="TextBox 8">
            <a:extLst>
              <a:ext uri="{FF2B5EF4-FFF2-40B4-BE49-F238E27FC236}">
                <a16:creationId xmlns:a16="http://schemas.microsoft.com/office/drawing/2014/main" id="{015D433B-182A-F19E-959F-3C086A0FB2D3}"/>
              </a:ext>
            </a:extLst>
          </p:cNvPr>
          <p:cNvSpPr txBox="1"/>
          <p:nvPr/>
        </p:nvSpPr>
        <p:spPr>
          <a:xfrm>
            <a:off x="4618183" y="-52834"/>
            <a:ext cx="6096000" cy="924356"/>
          </a:xfrm>
          <a:prstGeom prst="rect">
            <a:avLst/>
          </a:prstGeom>
          <a:noFill/>
        </p:spPr>
        <p:txBody>
          <a:bodyPr wrap="square">
            <a:spAutoFit/>
          </a:bodyPr>
          <a:lstStyle/>
          <a:p>
            <a:pPr marL="152400" algn="just">
              <a:lnSpc>
                <a:spcPct val="200000"/>
              </a:lnSpc>
            </a:pPr>
            <a:r>
              <a:rPr lang="en-US" sz="3200" b="1" u="sng" dirty="0">
                <a:solidFill>
                  <a:schemeClr val="bg2"/>
                </a:solidFill>
                <a:latin typeface="Cambria" panose="02040503050406030204" pitchFamily="18" charset="0"/>
                <a:ea typeface="Cambria" panose="02040503050406030204" pitchFamily="18" charset="0"/>
                <a:cs typeface="Calibri" panose="020F0502020204030204" pitchFamily="34" charset="0"/>
              </a:rPr>
              <a:t>Screenshots</a:t>
            </a:r>
          </a:p>
        </p:txBody>
      </p:sp>
    </p:spTree>
    <p:extLst>
      <p:ext uri="{BB962C8B-B14F-4D97-AF65-F5344CB8AC3E}">
        <p14:creationId xmlns:p14="http://schemas.microsoft.com/office/powerpoint/2010/main" val="26952544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4A274BD-692C-3C36-B933-42018A03BA4B}"/>
            </a:ext>
          </a:extLst>
        </p:cNvPr>
        <p:cNvGrpSpPr/>
        <p:nvPr/>
      </p:nvGrpSpPr>
      <p:grpSpPr>
        <a:xfrm>
          <a:off x="0" y="0"/>
          <a:ext cx="0" cy="0"/>
          <a:chOff x="0" y="0"/>
          <a:chExt cx="0" cy="0"/>
        </a:xfrm>
      </p:grpSpPr>
      <p:sp>
        <p:nvSpPr>
          <p:cNvPr id="104" name="Google Shape;104;p3">
            <a:extLst>
              <a:ext uri="{FF2B5EF4-FFF2-40B4-BE49-F238E27FC236}">
                <a16:creationId xmlns:a16="http://schemas.microsoft.com/office/drawing/2014/main" id="{03B8733F-9939-1331-CBD2-79E44BCAA80F}"/>
              </a:ext>
            </a:extLst>
          </p:cNvPr>
          <p:cNvSpPr txBox="1">
            <a:spLocks noGrp="1"/>
          </p:cNvSpPr>
          <p:nvPr>
            <p:ph type="title"/>
          </p:nvPr>
        </p:nvSpPr>
        <p:spPr>
          <a:xfrm>
            <a:off x="1356852" y="839052"/>
            <a:ext cx="12591845" cy="487500"/>
          </a:xfrm>
          <a:prstGeom prst="rect">
            <a:avLst/>
          </a:prstGeom>
          <a:noFill/>
          <a:ln>
            <a:noFill/>
          </a:ln>
        </p:spPr>
        <p:txBody>
          <a:bodyPr spcFirstLastPara="1" wrap="square" lIns="91425" tIns="45700" rIns="91425" bIns="45700" anchor="ctr" anchorCtr="0">
            <a:noAutofit/>
          </a:bodyPr>
          <a:lstStyle/>
          <a:p>
            <a:r>
              <a:rPr lang="en-US" sz="3200" dirty="0">
                <a:latin typeface="Cambria" panose="02040503050406030204" pitchFamily="18" charset="0"/>
                <a:ea typeface="Cambria" panose="02040503050406030204" pitchFamily="18" charset="0"/>
                <a:cs typeface="Calibri" panose="020F0502020204030204" pitchFamily="34" charset="0"/>
              </a:rPr>
              <a:t>Timeline </a:t>
            </a:r>
            <a:r>
              <a:rPr lang="en-US" sz="3200" dirty="0">
                <a:latin typeface="Cambria"/>
                <a:ea typeface="Cambria"/>
                <a:cs typeface="Cambria"/>
                <a:sym typeface="Cambria"/>
              </a:rPr>
              <a:t>of the Project (Gantt Chart)</a:t>
            </a:r>
            <a:br>
              <a:rPr lang="en-US" sz="3200" dirty="0">
                <a:latin typeface="Cambria" panose="02040503050406030204" pitchFamily="18" charset="0"/>
                <a:ea typeface="Cambria" panose="02040503050406030204" pitchFamily="18" charset="0"/>
                <a:cs typeface="Calibri" panose="020F0502020204030204" pitchFamily="34" charset="0"/>
              </a:rPr>
            </a:br>
            <a:br>
              <a:rPr lang="en-US" sz="3200" dirty="0">
                <a:latin typeface="Cambria" panose="02040503050406030204" pitchFamily="18" charset="0"/>
                <a:ea typeface="Cambria" panose="02040503050406030204" pitchFamily="18" charset="0"/>
                <a:cs typeface="Calibri" panose="020F0502020204030204" pitchFamily="34" charset="0"/>
              </a:rPr>
            </a:br>
            <a:endParaRPr lang="en-IN" sz="3200" dirty="0">
              <a:latin typeface="Cambria"/>
              <a:ea typeface="Cambria"/>
              <a:cs typeface="Cambria"/>
              <a:sym typeface="Cambria"/>
            </a:endParaRPr>
          </a:p>
        </p:txBody>
      </p:sp>
      <p:sp>
        <p:nvSpPr>
          <p:cNvPr id="105" name="Google Shape;105;p3">
            <a:extLst>
              <a:ext uri="{FF2B5EF4-FFF2-40B4-BE49-F238E27FC236}">
                <a16:creationId xmlns:a16="http://schemas.microsoft.com/office/drawing/2014/main" id="{D43D7E31-95C7-CD19-2DB2-704BFF06B368}"/>
              </a:ext>
            </a:extLst>
          </p:cNvPr>
          <p:cNvSpPr txBox="1">
            <a:spLocks noGrp="1"/>
          </p:cNvSpPr>
          <p:nvPr>
            <p:ph type="body" idx="1"/>
          </p:nvPr>
        </p:nvSpPr>
        <p:spPr>
          <a:xfrm>
            <a:off x="304800" y="1009650"/>
            <a:ext cx="10962969" cy="5848350"/>
          </a:xfrm>
          <a:prstGeom prst="rect">
            <a:avLst/>
          </a:prstGeom>
          <a:noFill/>
          <a:ln>
            <a:noFill/>
          </a:ln>
        </p:spPr>
        <p:txBody>
          <a:bodyPr spcFirstLastPara="1" wrap="square" lIns="91425" tIns="45700" rIns="91425" bIns="45700" anchor="t" anchorCtr="0">
            <a:normAutofit/>
          </a:bodyPr>
          <a:lstStyle/>
          <a:p>
            <a:pPr marL="0" indent="0" eaLnBrk="0" fontAlgn="base" hangingPunct="0">
              <a:spcBef>
                <a:spcPct val="0"/>
              </a:spcBef>
              <a:spcAft>
                <a:spcPct val="0"/>
              </a:spcAft>
              <a:buClrTx/>
              <a:buSzTx/>
              <a:buNone/>
            </a:pPr>
            <a:r>
              <a:rPr lang="en-US" sz="1800" dirty="0">
                <a:latin typeface="Verdana" panose="020B0604030504040204" pitchFamily="34" charset="0"/>
                <a:ea typeface="Verdana" panose="020B0604030504040204" pitchFamily="34" charset="0"/>
                <a:cs typeface="Cambria"/>
                <a:sym typeface="Cambria"/>
              </a:rPr>
              <a:t>Gantt Chart</a:t>
            </a:r>
          </a:p>
          <a:p>
            <a:pPr marL="0" lvl="0" indent="0" eaLnBrk="0" fontAlgn="base" hangingPunct="0">
              <a:spcBef>
                <a:spcPct val="0"/>
              </a:spcBef>
              <a:spcAft>
                <a:spcPct val="0"/>
              </a:spcAft>
              <a:buClrTx/>
              <a:buSzTx/>
              <a:buNone/>
            </a:pPr>
            <a:endParaRPr lang="en-US" sz="1400" dirty="0"/>
          </a:p>
        </p:txBody>
      </p:sp>
      <p:graphicFrame>
        <p:nvGraphicFramePr>
          <p:cNvPr id="5" name="Table 4">
            <a:extLst>
              <a:ext uri="{FF2B5EF4-FFF2-40B4-BE49-F238E27FC236}">
                <a16:creationId xmlns:a16="http://schemas.microsoft.com/office/drawing/2014/main" id="{DCB839EB-41EF-3CF1-2626-737BC84DA78F}"/>
              </a:ext>
            </a:extLst>
          </p:cNvPr>
          <p:cNvGraphicFramePr>
            <a:graphicFrameLocks noGrp="1"/>
          </p:cNvGraphicFramePr>
          <p:nvPr>
            <p:extLst>
              <p:ext uri="{D42A27DB-BD31-4B8C-83A1-F6EECF244321}">
                <p14:modId xmlns:p14="http://schemas.microsoft.com/office/powerpoint/2010/main" val="3071219172"/>
              </p:ext>
            </p:extLst>
          </p:nvPr>
        </p:nvGraphicFramePr>
        <p:xfrm>
          <a:off x="419100" y="1486182"/>
          <a:ext cx="11048994" cy="4341979"/>
        </p:xfrm>
        <a:graphic>
          <a:graphicData uri="http://schemas.openxmlformats.org/drawingml/2006/table">
            <a:tbl>
              <a:tblPr/>
              <a:tblGrid>
                <a:gridCol w="1227666">
                  <a:extLst>
                    <a:ext uri="{9D8B030D-6E8A-4147-A177-3AD203B41FA5}">
                      <a16:colId xmlns:a16="http://schemas.microsoft.com/office/drawing/2014/main" val="2573539532"/>
                    </a:ext>
                  </a:extLst>
                </a:gridCol>
                <a:gridCol w="1227666">
                  <a:extLst>
                    <a:ext uri="{9D8B030D-6E8A-4147-A177-3AD203B41FA5}">
                      <a16:colId xmlns:a16="http://schemas.microsoft.com/office/drawing/2014/main" val="536620191"/>
                    </a:ext>
                  </a:extLst>
                </a:gridCol>
                <a:gridCol w="1227666">
                  <a:extLst>
                    <a:ext uri="{9D8B030D-6E8A-4147-A177-3AD203B41FA5}">
                      <a16:colId xmlns:a16="http://schemas.microsoft.com/office/drawing/2014/main" val="3491328624"/>
                    </a:ext>
                  </a:extLst>
                </a:gridCol>
                <a:gridCol w="1227666">
                  <a:extLst>
                    <a:ext uri="{9D8B030D-6E8A-4147-A177-3AD203B41FA5}">
                      <a16:colId xmlns:a16="http://schemas.microsoft.com/office/drawing/2014/main" val="2546634336"/>
                    </a:ext>
                  </a:extLst>
                </a:gridCol>
                <a:gridCol w="1227666">
                  <a:extLst>
                    <a:ext uri="{9D8B030D-6E8A-4147-A177-3AD203B41FA5}">
                      <a16:colId xmlns:a16="http://schemas.microsoft.com/office/drawing/2014/main" val="2882573078"/>
                    </a:ext>
                  </a:extLst>
                </a:gridCol>
                <a:gridCol w="1227666">
                  <a:extLst>
                    <a:ext uri="{9D8B030D-6E8A-4147-A177-3AD203B41FA5}">
                      <a16:colId xmlns:a16="http://schemas.microsoft.com/office/drawing/2014/main" val="3501370062"/>
                    </a:ext>
                  </a:extLst>
                </a:gridCol>
                <a:gridCol w="1227666">
                  <a:extLst>
                    <a:ext uri="{9D8B030D-6E8A-4147-A177-3AD203B41FA5}">
                      <a16:colId xmlns:a16="http://schemas.microsoft.com/office/drawing/2014/main" val="3714841057"/>
                    </a:ext>
                  </a:extLst>
                </a:gridCol>
                <a:gridCol w="1227666">
                  <a:extLst>
                    <a:ext uri="{9D8B030D-6E8A-4147-A177-3AD203B41FA5}">
                      <a16:colId xmlns:a16="http://schemas.microsoft.com/office/drawing/2014/main" val="2368935465"/>
                    </a:ext>
                  </a:extLst>
                </a:gridCol>
                <a:gridCol w="1227666">
                  <a:extLst>
                    <a:ext uri="{9D8B030D-6E8A-4147-A177-3AD203B41FA5}">
                      <a16:colId xmlns:a16="http://schemas.microsoft.com/office/drawing/2014/main" val="1954199068"/>
                    </a:ext>
                  </a:extLst>
                </a:gridCol>
              </a:tblGrid>
              <a:tr h="228370">
                <a:tc>
                  <a:txBody>
                    <a:bodyPr/>
                    <a:lstStyle/>
                    <a:p>
                      <a:pPr>
                        <a:buNone/>
                      </a:pPr>
                      <a:r>
                        <a:rPr lang="en-IN" sz="1300"/>
                        <a:t>Phase</a:t>
                      </a:r>
                    </a:p>
                  </a:txBody>
                  <a:tcPr marL="83011" marR="83011" marT="41506" marB="41506" anchor="ctr">
                    <a:lnL>
                      <a:noFill/>
                    </a:lnL>
                    <a:lnR>
                      <a:noFill/>
                    </a:lnR>
                    <a:lnT>
                      <a:noFill/>
                    </a:lnT>
                    <a:lnB>
                      <a:noFill/>
                    </a:lnB>
                    <a:noFill/>
                  </a:tcPr>
                </a:tc>
                <a:tc>
                  <a:txBody>
                    <a:bodyPr/>
                    <a:lstStyle/>
                    <a:p>
                      <a:pPr>
                        <a:buNone/>
                      </a:pPr>
                      <a:r>
                        <a:rPr lang="en-IN" sz="1300"/>
                        <a:t>Week 1</a:t>
                      </a:r>
                    </a:p>
                  </a:txBody>
                  <a:tcPr marL="83011" marR="83011" marT="41506" marB="41506" anchor="ctr">
                    <a:lnL>
                      <a:noFill/>
                    </a:lnL>
                    <a:lnR>
                      <a:noFill/>
                    </a:lnR>
                    <a:lnT>
                      <a:noFill/>
                    </a:lnT>
                    <a:lnB>
                      <a:noFill/>
                    </a:lnB>
                    <a:noFill/>
                  </a:tcPr>
                </a:tc>
                <a:tc>
                  <a:txBody>
                    <a:bodyPr/>
                    <a:lstStyle/>
                    <a:p>
                      <a:pPr>
                        <a:buNone/>
                      </a:pPr>
                      <a:r>
                        <a:rPr lang="en-IN" sz="1300"/>
                        <a:t>Week 2</a:t>
                      </a:r>
                    </a:p>
                  </a:txBody>
                  <a:tcPr marL="83011" marR="83011" marT="41506" marB="41506" anchor="ctr">
                    <a:lnL>
                      <a:noFill/>
                    </a:lnL>
                    <a:lnR>
                      <a:noFill/>
                    </a:lnR>
                    <a:lnT>
                      <a:noFill/>
                    </a:lnT>
                    <a:lnB>
                      <a:noFill/>
                    </a:lnB>
                    <a:noFill/>
                  </a:tcPr>
                </a:tc>
                <a:tc>
                  <a:txBody>
                    <a:bodyPr/>
                    <a:lstStyle/>
                    <a:p>
                      <a:pPr>
                        <a:buNone/>
                      </a:pPr>
                      <a:r>
                        <a:rPr lang="en-IN" sz="1300"/>
                        <a:t>Week 3</a:t>
                      </a:r>
                    </a:p>
                  </a:txBody>
                  <a:tcPr marL="83011" marR="83011" marT="41506" marB="41506" anchor="ctr">
                    <a:lnL>
                      <a:noFill/>
                    </a:lnL>
                    <a:lnR>
                      <a:noFill/>
                    </a:lnR>
                    <a:lnT>
                      <a:noFill/>
                    </a:lnT>
                    <a:lnB>
                      <a:noFill/>
                    </a:lnB>
                    <a:noFill/>
                  </a:tcPr>
                </a:tc>
                <a:tc>
                  <a:txBody>
                    <a:bodyPr/>
                    <a:lstStyle/>
                    <a:p>
                      <a:pPr>
                        <a:buNone/>
                      </a:pPr>
                      <a:r>
                        <a:rPr lang="en-IN" sz="1300"/>
                        <a:t>Week 4</a:t>
                      </a:r>
                    </a:p>
                  </a:txBody>
                  <a:tcPr marL="83011" marR="83011" marT="41506" marB="41506" anchor="ctr">
                    <a:lnL>
                      <a:noFill/>
                    </a:lnL>
                    <a:lnR>
                      <a:noFill/>
                    </a:lnR>
                    <a:lnT>
                      <a:noFill/>
                    </a:lnT>
                    <a:lnB>
                      <a:noFill/>
                    </a:lnB>
                    <a:noFill/>
                  </a:tcPr>
                </a:tc>
                <a:tc>
                  <a:txBody>
                    <a:bodyPr/>
                    <a:lstStyle/>
                    <a:p>
                      <a:pPr>
                        <a:buNone/>
                      </a:pPr>
                      <a:r>
                        <a:rPr lang="en-IN" sz="1300"/>
                        <a:t>Week 5</a:t>
                      </a:r>
                    </a:p>
                  </a:txBody>
                  <a:tcPr marL="83011" marR="83011" marT="41506" marB="41506" anchor="ctr">
                    <a:lnL>
                      <a:noFill/>
                    </a:lnL>
                    <a:lnR>
                      <a:noFill/>
                    </a:lnR>
                    <a:lnT>
                      <a:noFill/>
                    </a:lnT>
                    <a:lnB>
                      <a:noFill/>
                    </a:lnB>
                    <a:noFill/>
                  </a:tcPr>
                </a:tc>
                <a:tc>
                  <a:txBody>
                    <a:bodyPr/>
                    <a:lstStyle/>
                    <a:p>
                      <a:pPr>
                        <a:buNone/>
                      </a:pPr>
                      <a:r>
                        <a:rPr lang="en-IN" sz="1300"/>
                        <a:t>Week 6</a:t>
                      </a:r>
                    </a:p>
                  </a:txBody>
                  <a:tcPr marL="83011" marR="83011" marT="41506" marB="41506" anchor="ctr">
                    <a:lnL>
                      <a:noFill/>
                    </a:lnL>
                    <a:lnR>
                      <a:noFill/>
                    </a:lnR>
                    <a:lnT>
                      <a:noFill/>
                    </a:lnT>
                    <a:lnB>
                      <a:noFill/>
                    </a:lnB>
                    <a:noFill/>
                  </a:tcPr>
                </a:tc>
                <a:tc>
                  <a:txBody>
                    <a:bodyPr/>
                    <a:lstStyle/>
                    <a:p>
                      <a:pPr>
                        <a:buNone/>
                      </a:pPr>
                      <a:r>
                        <a:rPr lang="en-IN" sz="1300"/>
                        <a:t>Week 7</a:t>
                      </a:r>
                    </a:p>
                  </a:txBody>
                  <a:tcPr marL="83011" marR="83011" marT="41506" marB="41506" anchor="ctr">
                    <a:lnL>
                      <a:noFill/>
                    </a:lnL>
                    <a:lnR>
                      <a:noFill/>
                    </a:lnR>
                    <a:lnT>
                      <a:noFill/>
                    </a:lnT>
                    <a:lnB>
                      <a:noFill/>
                    </a:lnB>
                    <a:noFill/>
                  </a:tcPr>
                </a:tc>
                <a:tc>
                  <a:txBody>
                    <a:bodyPr/>
                    <a:lstStyle/>
                    <a:p>
                      <a:pPr>
                        <a:buNone/>
                      </a:pPr>
                      <a:r>
                        <a:rPr lang="en-IN" sz="1300"/>
                        <a:t>Week 8</a:t>
                      </a:r>
                    </a:p>
                  </a:txBody>
                  <a:tcPr marL="83011" marR="83011" marT="41506" marB="41506" anchor="ctr">
                    <a:lnL>
                      <a:noFill/>
                    </a:lnL>
                    <a:lnR>
                      <a:noFill/>
                    </a:lnR>
                    <a:lnT>
                      <a:noFill/>
                    </a:lnT>
                    <a:lnB>
                      <a:noFill/>
                    </a:lnB>
                    <a:noFill/>
                  </a:tcPr>
                </a:tc>
                <a:extLst>
                  <a:ext uri="{0D108BD9-81ED-4DB2-BD59-A6C34878D82A}">
                    <a16:rowId xmlns:a16="http://schemas.microsoft.com/office/drawing/2014/main" val="1798152899"/>
                  </a:ext>
                </a:extLst>
              </a:tr>
              <a:tr h="854137">
                <a:tc>
                  <a:txBody>
                    <a:bodyPr/>
                    <a:lstStyle/>
                    <a:p>
                      <a:pPr>
                        <a:buNone/>
                      </a:pPr>
                      <a:r>
                        <a:rPr lang="en-IN" sz="1300" b="1"/>
                        <a:t>1. Requirement Gathering &amp; Analysis</a:t>
                      </a:r>
                      <a:endParaRPr lang="en-IN" sz="130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1149716505"/>
                  </a:ext>
                </a:extLst>
              </a:tr>
              <a:tr h="696796">
                <a:tc>
                  <a:txBody>
                    <a:bodyPr/>
                    <a:lstStyle/>
                    <a:p>
                      <a:pPr>
                        <a:buNone/>
                      </a:pPr>
                      <a:r>
                        <a:rPr lang="en-US" sz="1300" b="1"/>
                        <a:t>2. Design (UI/UX &amp; Architecture)</a:t>
                      </a:r>
                      <a:endParaRPr lang="en-US" sz="1300"/>
                    </a:p>
                  </a:txBody>
                  <a:tcPr marL="83011" marR="83011" marT="41506" marB="41506" anchor="ctr">
                    <a:lnL>
                      <a:noFill/>
                    </a:lnL>
                    <a:lnR>
                      <a:noFill/>
                    </a:lnR>
                    <a:lnT>
                      <a:noFill/>
                    </a:lnT>
                    <a:lnB>
                      <a:noFill/>
                    </a:lnB>
                    <a:noFill/>
                  </a:tcPr>
                </a:tc>
                <a:tc>
                  <a:txBody>
                    <a:bodyPr/>
                    <a:lstStyle/>
                    <a:p>
                      <a:pPr>
                        <a:buNone/>
                      </a:pPr>
                      <a:endParaRPr lang="en-IN" sz="1300" dirty="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1857165368"/>
                  </a:ext>
                </a:extLst>
              </a:tr>
              <a:tr h="854137">
                <a:tc>
                  <a:txBody>
                    <a:bodyPr/>
                    <a:lstStyle/>
                    <a:p>
                      <a:pPr>
                        <a:buNone/>
                      </a:pPr>
                      <a:r>
                        <a:rPr lang="en-IN" sz="1300" b="1"/>
                        <a:t>3. Development (Frontend &amp; Backend)</a:t>
                      </a: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dirty="0"/>
                    </a:p>
                  </a:txBody>
                  <a:tcPr marL="83011" marR="83011" marT="41506" marB="41506" anchor="ctr">
                    <a:lnL>
                      <a:noFill/>
                    </a:lnL>
                    <a:lnR>
                      <a:noFill/>
                    </a:lnR>
                    <a:lnT>
                      <a:noFill/>
                    </a:lnT>
                    <a:lnB>
                      <a:noFill/>
                    </a:lnB>
                    <a:noFill/>
                  </a:tcPr>
                </a:tc>
                <a:tc>
                  <a:txBody>
                    <a:bodyPr/>
                    <a:lstStyle/>
                    <a:p>
                      <a:pPr>
                        <a:buNone/>
                      </a:pPr>
                      <a:r>
                        <a:rPr lang="en-IN" sz="1300" dirty="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dirty="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567889540"/>
                  </a:ext>
                </a:extLst>
              </a:tr>
              <a:tr h="539455">
                <a:tc>
                  <a:txBody>
                    <a:bodyPr/>
                    <a:lstStyle/>
                    <a:p>
                      <a:pPr>
                        <a:buNone/>
                      </a:pPr>
                      <a:r>
                        <a:rPr lang="en-IN" sz="1300" b="1"/>
                        <a:t>4. Testing &amp; Debugging</a:t>
                      </a: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r>
                        <a:rPr lang="en-IN" sz="1300" dirty="0"/>
                        <a:t>██████</a:t>
                      </a:r>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extLst>
                  <a:ext uri="{0D108BD9-81ED-4DB2-BD59-A6C34878D82A}">
                    <a16:rowId xmlns:a16="http://schemas.microsoft.com/office/drawing/2014/main" val="2839919912"/>
                  </a:ext>
                </a:extLst>
              </a:tr>
              <a:tr h="854137">
                <a:tc>
                  <a:txBody>
                    <a:bodyPr/>
                    <a:lstStyle/>
                    <a:p>
                      <a:pPr>
                        <a:buNone/>
                      </a:pPr>
                      <a:r>
                        <a:rPr lang="en-IN" sz="1300" b="1" dirty="0"/>
                        <a:t>5. Deployment &amp; Documentation</a:t>
                      </a:r>
                      <a:endParaRPr lang="en-IN" sz="1300" dirty="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endParaRPr lang="en-IN" sz="1300"/>
                    </a:p>
                  </a:txBody>
                  <a:tcPr marL="83011" marR="83011" marT="41506" marB="41506" anchor="ctr">
                    <a:lnL>
                      <a:noFill/>
                    </a:lnL>
                    <a:lnR>
                      <a:noFill/>
                    </a:lnR>
                    <a:lnT>
                      <a:noFill/>
                    </a:lnT>
                    <a:lnB>
                      <a:noFill/>
                    </a:lnB>
                    <a:noFill/>
                  </a:tcPr>
                </a:tc>
                <a:tc>
                  <a:txBody>
                    <a:bodyPr/>
                    <a:lstStyle/>
                    <a:p>
                      <a:pPr>
                        <a:buNone/>
                      </a:pPr>
                      <a:r>
                        <a:rPr lang="en-IN" sz="1300"/>
                        <a:t>██████</a:t>
                      </a:r>
                    </a:p>
                  </a:txBody>
                  <a:tcPr marL="83011" marR="83011" marT="41506" marB="41506" anchor="ctr">
                    <a:lnL>
                      <a:noFill/>
                    </a:lnL>
                    <a:lnR>
                      <a:noFill/>
                    </a:lnR>
                    <a:lnT>
                      <a:noFill/>
                    </a:lnT>
                    <a:lnB>
                      <a:noFill/>
                    </a:lnB>
                    <a:noFill/>
                  </a:tcPr>
                </a:tc>
                <a:tc>
                  <a:txBody>
                    <a:bodyPr/>
                    <a:lstStyle/>
                    <a:p>
                      <a:pPr>
                        <a:buNone/>
                      </a:pPr>
                      <a:r>
                        <a:rPr lang="en-IN" sz="1300" dirty="0"/>
                        <a:t>██████</a:t>
                      </a:r>
                    </a:p>
                  </a:txBody>
                  <a:tcPr marL="83011" marR="83011" marT="41506" marB="41506" anchor="ctr">
                    <a:lnL>
                      <a:noFill/>
                    </a:lnL>
                    <a:lnR>
                      <a:noFill/>
                    </a:lnR>
                    <a:lnT>
                      <a:noFill/>
                    </a:lnT>
                    <a:lnB>
                      <a:noFill/>
                    </a:lnB>
                    <a:noFill/>
                  </a:tcPr>
                </a:tc>
                <a:extLst>
                  <a:ext uri="{0D108BD9-81ED-4DB2-BD59-A6C34878D82A}">
                    <a16:rowId xmlns:a16="http://schemas.microsoft.com/office/drawing/2014/main" val="1597888679"/>
                  </a:ext>
                </a:extLst>
              </a:tr>
            </a:tbl>
          </a:graphicData>
        </a:graphic>
      </p:graphicFrame>
    </p:spTree>
    <p:extLst>
      <p:ext uri="{BB962C8B-B14F-4D97-AF65-F5344CB8AC3E}">
        <p14:creationId xmlns:p14="http://schemas.microsoft.com/office/powerpoint/2010/main" val="1602586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10"/>
          <p:cNvSpPr txBox="1">
            <a:spLocks noGrp="1"/>
          </p:cNvSpPr>
          <p:nvPr>
            <p:ph type="title"/>
          </p:nvPr>
        </p:nvSpPr>
        <p:spPr>
          <a:xfrm>
            <a:off x="901290" y="274499"/>
            <a:ext cx="10668000" cy="4875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2800"/>
              <a:buNone/>
            </a:pPr>
            <a:r>
              <a:rPr lang="en-US" dirty="0">
                <a:latin typeface="Cambria"/>
                <a:ea typeface="Cambria"/>
                <a:cs typeface="Cambria"/>
                <a:sym typeface="Cambria"/>
              </a:rPr>
              <a:t>References (IEEE Paper format)</a:t>
            </a:r>
            <a:endParaRPr dirty="0">
              <a:latin typeface="Cambria"/>
              <a:ea typeface="Cambria"/>
              <a:cs typeface="Cambria"/>
              <a:sym typeface="Cambria"/>
            </a:endParaRPr>
          </a:p>
        </p:txBody>
      </p:sp>
      <p:sp>
        <p:nvSpPr>
          <p:cNvPr id="151" name="Google Shape;151;p10"/>
          <p:cNvSpPr txBox="1">
            <a:spLocks noGrp="1"/>
          </p:cNvSpPr>
          <p:nvPr>
            <p:ph type="body" idx="1"/>
          </p:nvPr>
        </p:nvSpPr>
        <p:spPr>
          <a:xfrm>
            <a:off x="147484" y="988143"/>
            <a:ext cx="11895164" cy="5869857"/>
          </a:xfrm>
          <a:prstGeom prst="rect">
            <a:avLst/>
          </a:prstGeom>
          <a:noFill/>
          <a:ln>
            <a:noFill/>
          </a:ln>
        </p:spPr>
        <p:txBody>
          <a:bodyPr spcFirstLastPara="1" wrap="square" lIns="91425" tIns="45700" rIns="91425" bIns="45700" anchor="t" anchorCtr="0">
            <a:normAutofit/>
          </a:bodyPr>
          <a:lstStyle/>
          <a:p>
            <a:pPr>
              <a:buFont typeface="Wingdings" panose="05000000000000000000" pitchFamily="2" charset="2"/>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[1] Al-</a:t>
            </a:r>
            <a:r>
              <a:rPr lang="en-US" sz="1500" dirty="0" err="1">
                <a:latin typeface="Times New Roman" panose="02020603050405020304" pitchFamily="18" charset="0"/>
                <a:ea typeface="Cambria" panose="02040503050406030204" pitchFamily="18" charset="0"/>
                <a:cs typeface="Times New Roman" panose="02020603050405020304" pitchFamily="18" charset="0"/>
              </a:rPr>
              <a:t>Heety</a:t>
            </a:r>
            <a:r>
              <a:rPr lang="en-US" sz="1500" dirty="0">
                <a:latin typeface="Times New Roman" panose="02020603050405020304" pitchFamily="18" charset="0"/>
                <a:ea typeface="Cambria" panose="02040503050406030204" pitchFamily="18" charset="0"/>
                <a:cs typeface="Times New Roman" panose="02020603050405020304" pitchFamily="18" charset="0"/>
              </a:rPr>
              <a:t>, O.S., Zakaria, Z., Abu-</a:t>
            </a:r>
            <a:r>
              <a:rPr lang="en-US" sz="1500" dirty="0" err="1">
                <a:latin typeface="Times New Roman" panose="02020603050405020304" pitchFamily="18" charset="0"/>
                <a:ea typeface="Cambria" panose="02040503050406030204" pitchFamily="18" charset="0"/>
                <a:cs typeface="Times New Roman" panose="02020603050405020304" pitchFamily="18" charset="0"/>
              </a:rPr>
              <a:t>Khadrah</a:t>
            </a:r>
            <a:r>
              <a:rPr lang="en-US" sz="1500" dirty="0">
                <a:latin typeface="Times New Roman" panose="02020603050405020304" pitchFamily="18" charset="0"/>
                <a:ea typeface="Cambria" panose="02040503050406030204" pitchFamily="18" charset="0"/>
                <a:cs typeface="Times New Roman" panose="02020603050405020304" pitchFamily="18" charset="0"/>
              </a:rPr>
              <a:t>, A., Ismail, M., Shakir, M.M., Alani, S. and </a:t>
            </a:r>
            <a:r>
              <a:rPr lang="en-US" sz="1500" dirty="0" err="1">
                <a:latin typeface="Times New Roman" panose="02020603050405020304" pitchFamily="18" charset="0"/>
                <a:ea typeface="Cambria" panose="02040503050406030204" pitchFamily="18" charset="0"/>
                <a:cs typeface="Times New Roman" panose="02020603050405020304" pitchFamily="18" charset="0"/>
              </a:rPr>
              <a:t>Alsariera</a:t>
            </a:r>
            <a:r>
              <a:rPr lang="en-US" sz="1500" dirty="0">
                <a:latin typeface="Times New Roman" panose="02020603050405020304" pitchFamily="18" charset="0"/>
                <a:ea typeface="Cambria" panose="02040503050406030204" pitchFamily="18" charset="0"/>
                <a:cs typeface="Times New Roman" panose="02020603050405020304" pitchFamily="18" charset="0"/>
              </a:rPr>
              <a:t>, H., 2026. Traffic jam control with emergency conscious and reinforcement learning-based non-dominated sorting genetic algorithm. IEEE Access.</a:t>
            </a:r>
          </a:p>
          <a:p>
            <a:pPr>
              <a:buFont typeface="Wingdings" panose="05000000000000000000" pitchFamily="2" charset="2"/>
              <a:buChar char="§"/>
            </a:pPr>
            <a:endParaRPr lang="en-US" sz="1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[2] Goswami, A. and </a:t>
            </a:r>
            <a:r>
              <a:rPr lang="en-US" sz="1500" dirty="0" err="1">
                <a:latin typeface="Times New Roman" panose="02020603050405020304" pitchFamily="18" charset="0"/>
                <a:ea typeface="Cambria" panose="02040503050406030204" pitchFamily="18" charset="0"/>
                <a:cs typeface="Times New Roman" panose="02020603050405020304" pitchFamily="18" charset="0"/>
              </a:rPr>
              <a:t>Kadao</a:t>
            </a:r>
            <a:r>
              <a:rPr lang="en-US" sz="1500" dirty="0">
                <a:latin typeface="Times New Roman" panose="02020603050405020304" pitchFamily="18" charset="0"/>
                <a:ea typeface="Cambria" panose="02040503050406030204" pitchFamily="18" charset="0"/>
                <a:cs typeface="Times New Roman" panose="02020603050405020304" pitchFamily="18" charset="0"/>
              </a:rPr>
              <a:t>, A.K., 2025. Indian metro congestion reduction using smart traffic management systems. Next Generation Smart Systems, pp.1022–1031.</a:t>
            </a:r>
          </a:p>
          <a:p>
            <a:pPr>
              <a:buFont typeface="Wingdings" panose="05000000000000000000" pitchFamily="2" charset="2"/>
              <a:buChar char="§"/>
            </a:pPr>
            <a:endParaRPr lang="en-US" sz="1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[3] Xu, Y. and Li, Y., 2025. A multi-source data fusion framework of risk field and traffic congestion prediction in real-time urban environments. IEEE Access, vol. 13.</a:t>
            </a:r>
          </a:p>
          <a:p>
            <a:pPr>
              <a:buFont typeface="Wingdings" panose="05000000000000000000" pitchFamily="2" charset="2"/>
              <a:buChar char="§"/>
            </a:pPr>
            <a:endParaRPr lang="en-US" sz="1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[4] </a:t>
            </a:r>
            <a:r>
              <a:rPr lang="en-US" sz="1500" dirty="0" err="1">
                <a:latin typeface="Times New Roman" panose="02020603050405020304" pitchFamily="18" charset="0"/>
                <a:ea typeface="Cambria" panose="02040503050406030204" pitchFamily="18" charset="0"/>
                <a:cs typeface="Times New Roman" panose="02020603050405020304" pitchFamily="18" charset="0"/>
              </a:rPr>
              <a:t>Prathiba</a:t>
            </a:r>
            <a:r>
              <a:rPr lang="en-US" sz="1500" dirty="0">
                <a:latin typeface="Times New Roman" panose="02020603050405020304" pitchFamily="18" charset="0"/>
                <a:ea typeface="Cambria" panose="02040503050406030204" pitchFamily="18" charset="0"/>
                <a:cs typeface="Times New Roman" panose="02020603050405020304" pitchFamily="18" charset="0"/>
              </a:rPr>
              <a:t>, S.B., Krishnamoorthy, S.R., Kannan, K.S., Selvaraj, A.K., </a:t>
            </a:r>
            <a:r>
              <a:rPr lang="en-US" sz="1500" dirty="0" err="1">
                <a:latin typeface="Times New Roman" panose="02020603050405020304" pitchFamily="18" charset="0"/>
                <a:ea typeface="Cambria" panose="02040503050406030204" pitchFamily="18" charset="0"/>
                <a:cs typeface="Times New Roman" panose="02020603050405020304" pitchFamily="18" charset="0"/>
              </a:rPr>
              <a:t>Ranganayakulu</a:t>
            </a:r>
            <a:r>
              <a:rPr lang="en-US" sz="1500" dirty="0">
                <a:latin typeface="Times New Roman" panose="02020603050405020304" pitchFamily="18" charset="0"/>
                <a:ea typeface="Cambria" panose="02040503050406030204" pitchFamily="18" charset="0"/>
                <a:cs typeface="Times New Roman" panose="02020603050405020304" pitchFamily="18" charset="0"/>
              </a:rPr>
              <a:t>, D., Fang, K. and </a:t>
            </a:r>
            <a:r>
              <a:rPr lang="en-US" sz="1500" dirty="0" err="1">
                <a:latin typeface="Times New Roman" panose="02020603050405020304" pitchFamily="18" charset="0"/>
                <a:ea typeface="Cambria" panose="02040503050406030204" pitchFamily="18" charset="0"/>
                <a:cs typeface="Times New Roman" panose="02020603050405020304" pitchFamily="18" charset="0"/>
              </a:rPr>
              <a:t>Gadekallu</a:t>
            </a:r>
            <a:r>
              <a:rPr lang="en-US" sz="1500" dirty="0">
                <a:latin typeface="Times New Roman" panose="02020603050405020304" pitchFamily="18" charset="0"/>
                <a:ea typeface="Cambria" panose="02040503050406030204" pitchFamily="18" charset="0"/>
                <a:cs typeface="Times New Roman" panose="02020603050405020304" pitchFamily="18" charset="0"/>
              </a:rPr>
              <a:t>, T.R., 2025. Digital twin-powered traffic and power grid optimization system in 6G-driven smart cities in real-time. IEEE Internet of Things Journal.</a:t>
            </a:r>
          </a:p>
          <a:p>
            <a:pPr>
              <a:buFont typeface="Wingdings" panose="05000000000000000000" pitchFamily="2" charset="2"/>
              <a:buChar char="§"/>
            </a:pPr>
            <a:endParaRPr lang="en-US" sz="1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[5] </a:t>
            </a:r>
            <a:r>
              <a:rPr lang="en-US" sz="1500" dirty="0" err="1">
                <a:latin typeface="Times New Roman" panose="02020603050405020304" pitchFamily="18" charset="0"/>
                <a:ea typeface="Cambria" panose="02040503050406030204" pitchFamily="18" charset="0"/>
                <a:cs typeface="Times New Roman" panose="02020603050405020304" pitchFamily="18" charset="0"/>
              </a:rPr>
              <a:t>Wairagade</a:t>
            </a:r>
            <a:r>
              <a:rPr lang="en-US" sz="1500" dirty="0">
                <a:latin typeface="Times New Roman" panose="02020603050405020304" pitchFamily="18" charset="0"/>
                <a:ea typeface="Cambria" panose="02040503050406030204" pitchFamily="18" charset="0"/>
                <a:cs typeface="Times New Roman" panose="02020603050405020304" pitchFamily="18" charset="0"/>
              </a:rPr>
              <a:t>, A., Ugale, K. and Waghmare, R., 2025. Urban congestion reduction using AI-powered smart traffic management system. International Journal of Scientific Research and Engineering Trends, 11(2).</a:t>
            </a:r>
          </a:p>
          <a:p>
            <a:pPr>
              <a:buFont typeface="Wingdings" panose="05000000000000000000" pitchFamily="2" charset="2"/>
              <a:buChar char="§"/>
            </a:pPr>
            <a:endParaRPr lang="en-US" sz="1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[6] </a:t>
            </a:r>
            <a:r>
              <a:rPr lang="en-US" sz="1500" dirty="0" err="1">
                <a:latin typeface="Times New Roman" panose="02020603050405020304" pitchFamily="18" charset="0"/>
                <a:ea typeface="Cambria" panose="02040503050406030204" pitchFamily="18" charset="0"/>
                <a:cs typeface="Times New Roman" panose="02020603050405020304" pitchFamily="18" charset="0"/>
              </a:rPr>
              <a:t>Naramdeo</a:t>
            </a:r>
            <a:r>
              <a:rPr lang="en-US" sz="1500" dirty="0">
                <a:latin typeface="Times New Roman" panose="02020603050405020304" pitchFamily="18" charset="0"/>
                <a:ea typeface="Cambria" panose="02040503050406030204" pitchFamily="18" charset="0"/>
                <a:cs typeface="Times New Roman" panose="02020603050405020304" pitchFamily="18" charset="0"/>
              </a:rPr>
              <a:t>, K., </a:t>
            </a:r>
            <a:r>
              <a:rPr lang="en-US" sz="1500" dirty="0" err="1">
                <a:latin typeface="Times New Roman" panose="02020603050405020304" pitchFamily="18" charset="0"/>
                <a:ea typeface="Cambria" panose="02040503050406030204" pitchFamily="18" charset="0"/>
                <a:cs typeface="Times New Roman" panose="02020603050405020304" pitchFamily="18" charset="0"/>
              </a:rPr>
              <a:t>Madake</a:t>
            </a:r>
            <a:r>
              <a:rPr lang="en-US" sz="1500" dirty="0">
                <a:latin typeface="Times New Roman" panose="02020603050405020304" pitchFamily="18" charset="0"/>
                <a:ea typeface="Cambria" panose="02040503050406030204" pitchFamily="18" charset="0"/>
                <a:cs typeface="Times New Roman" panose="02020603050405020304" pitchFamily="18" charset="0"/>
              </a:rPr>
              <a:t>, S., Patil, J. and Patil, P., 2025. Smart traffic management system in urban environment. Journal of Novel Research and Innovative Development, 3(6).</a:t>
            </a:r>
          </a:p>
          <a:p>
            <a:pPr>
              <a:buFont typeface="Wingdings" panose="05000000000000000000" pitchFamily="2" charset="2"/>
              <a:buChar char="§"/>
            </a:pPr>
            <a:endParaRPr lang="en-US" sz="1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1500" dirty="0">
                <a:latin typeface="Times New Roman" panose="02020603050405020304" pitchFamily="18" charset="0"/>
                <a:ea typeface="Cambria" panose="02040503050406030204" pitchFamily="18" charset="0"/>
                <a:cs typeface="Times New Roman" panose="02020603050405020304" pitchFamily="18" charset="0"/>
              </a:rPr>
              <a:t>[7] </a:t>
            </a:r>
            <a:r>
              <a:rPr lang="en-US" sz="1500" dirty="0" err="1">
                <a:latin typeface="Times New Roman" panose="02020603050405020304" pitchFamily="18" charset="0"/>
                <a:ea typeface="Cambria" panose="02040503050406030204" pitchFamily="18" charset="0"/>
                <a:cs typeface="Times New Roman" panose="02020603050405020304" pitchFamily="18" charset="0"/>
              </a:rPr>
              <a:t>Laanaoui</a:t>
            </a:r>
            <a:r>
              <a:rPr lang="en-US" sz="1500" dirty="0">
                <a:latin typeface="Times New Roman" panose="02020603050405020304" pitchFamily="18" charset="0"/>
                <a:ea typeface="Cambria" panose="02040503050406030204" pitchFamily="18" charset="0"/>
                <a:cs typeface="Times New Roman" panose="02020603050405020304" pitchFamily="18" charset="0"/>
              </a:rPr>
              <a:t>, M.D., Lachgar, M., Mohamed, H., Hamid, H., Villar, S.G. and Ashraf, I., 2024. SETEC: Enhancing urban traffic management using real-time load balancing and anomaly detection. IEEE Access, vol. 12.</a:t>
            </a:r>
          </a:p>
          <a:p>
            <a:pPr>
              <a:buFont typeface="Wingdings" panose="05000000000000000000" pitchFamily="2" charset="2"/>
              <a:buChar char="§"/>
            </a:pPr>
            <a:endParaRPr lang="en-US" sz="1800"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endParaRPr lang="en-US" sz="1700" dirty="0">
              <a:latin typeface="Cambria" panose="02040503050406030204" pitchFamily="18" charset="0"/>
              <a:ea typeface="Cambria" panose="02040503050406030204" pitchFamily="18" charset="0"/>
            </a:endParaRPr>
          </a:p>
          <a:p>
            <a:pPr marL="0" indent="0" eaLnBrk="0" fontAlgn="base" hangingPunct="0">
              <a:spcBef>
                <a:spcPct val="0"/>
              </a:spcBef>
              <a:spcAft>
                <a:spcPct val="0"/>
              </a:spcAft>
              <a:buClrTx/>
              <a:buSzTx/>
              <a:buNone/>
            </a:pPr>
            <a:endParaRPr lang="en-US" sz="1700"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endParaRPr lang="en-US" sz="1700" dirty="0">
              <a:latin typeface="Cambria" panose="02040503050406030204" pitchFamily="18" charset="0"/>
              <a:ea typeface="Cambria" panose="02040503050406030204" pitchFamily="18" charset="0"/>
            </a:endParaRPr>
          </a:p>
          <a:p>
            <a:pPr marL="0" indent="0" eaLnBrk="0" fontAlgn="base" hangingPunct="0">
              <a:spcBef>
                <a:spcPct val="0"/>
              </a:spcBef>
              <a:spcAft>
                <a:spcPct val="0"/>
              </a:spcAft>
              <a:buClrTx/>
              <a:buSzTx/>
              <a:buNone/>
            </a:pPr>
            <a:endParaRPr lang="en-US" sz="1700" dirty="0">
              <a:latin typeface="Cambria" panose="02040503050406030204" pitchFamily="18" charset="0"/>
              <a:ea typeface="Cambria" panose="02040503050406030204" pitchFamily="18" charset="0"/>
            </a:endParaRPr>
          </a:p>
          <a:p>
            <a:pPr marL="0" lvl="0" indent="0" eaLnBrk="0" fontAlgn="base" hangingPunct="0">
              <a:spcBef>
                <a:spcPct val="0"/>
              </a:spcBef>
              <a:spcAft>
                <a:spcPct val="0"/>
              </a:spcAft>
              <a:buClrTx/>
              <a:buSzTx/>
              <a:buNone/>
            </a:pPr>
            <a:endParaRPr lang="en-US" sz="1700" dirty="0">
              <a:latin typeface="Cambria" panose="02040503050406030204" pitchFamily="18" charset="0"/>
              <a:ea typeface="Cambria" panose="02040503050406030204" pitchFamily="18" charset="0"/>
            </a:endParaRPr>
          </a:p>
          <a:p>
            <a:pPr marL="152400" lvl="0" indent="0" algn="l" rtl="0">
              <a:lnSpc>
                <a:spcPct val="100000"/>
              </a:lnSpc>
              <a:spcBef>
                <a:spcPts val="0"/>
              </a:spcBef>
              <a:spcAft>
                <a:spcPts val="0"/>
              </a:spcAft>
              <a:buSzPts val="2400"/>
              <a:buNone/>
            </a:pPr>
            <a:endParaRPr sz="1700" dirty="0">
              <a:latin typeface="Cambria"/>
              <a:ea typeface="Cambria"/>
              <a:cs typeface="Cambria"/>
              <a:sym typeface="Cambria"/>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2AAD0-12D6-2A94-F610-C7CF468D054B}"/>
              </a:ext>
            </a:extLst>
          </p:cNvPr>
          <p:cNvSpPr>
            <a:spLocks noGrp="1"/>
          </p:cNvSpPr>
          <p:nvPr>
            <p:ph type="title"/>
          </p:nvPr>
        </p:nvSpPr>
        <p:spPr/>
        <p:txBody>
          <a:bodyPr/>
          <a:lstStyle/>
          <a:p>
            <a:r>
              <a:rPr lang="en-US" dirty="0">
                <a:latin typeface="Cambria"/>
                <a:ea typeface="Cambria"/>
                <a:cs typeface="Cambria"/>
                <a:sym typeface="Cambria"/>
              </a:rPr>
              <a:t>References (IEEE Paper format)</a:t>
            </a:r>
            <a:endParaRPr lang="en-US" dirty="0"/>
          </a:p>
        </p:txBody>
      </p:sp>
      <p:sp>
        <p:nvSpPr>
          <p:cNvPr id="3" name="Text Placeholder 2">
            <a:extLst>
              <a:ext uri="{FF2B5EF4-FFF2-40B4-BE49-F238E27FC236}">
                <a16:creationId xmlns:a16="http://schemas.microsoft.com/office/drawing/2014/main" id="{68C4C5C3-E284-7622-F820-51218517F2C9}"/>
              </a:ext>
            </a:extLst>
          </p:cNvPr>
          <p:cNvSpPr>
            <a:spLocks noGrp="1"/>
          </p:cNvSpPr>
          <p:nvPr>
            <p:ph type="body" idx="1"/>
          </p:nvPr>
        </p:nvSpPr>
        <p:spPr>
          <a:xfrm>
            <a:off x="363557" y="1109950"/>
            <a:ext cx="11534659" cy="5191698"/>
          </a:xfrm>
        </p:spPr>
        <p:txBody>
          <a:bodyPr>
            <a:normAutofit fontScale="40000" lnSpcReduction="20000"/>
          </a:bodyPr>
          <a:lstStyle/>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[8] Bhat, C.R., Raghunath, K.M.K., Kumar, V.V., Kannan, V.A., Mahesh, T.R., Manikandan, K. and Krishnamoorthy, N., 2024. Redefining urban traffic dynamics using TCN-FL based traffic prediction and control measures. IEEE Access, vol. 12.</a:t>
            </a:r>
          </a:p>
          <a:p>
            <a:pPr>
              <a:buFont typeface="Wingdings" panose="05000000000000000000" pitchFamily="2" charset="2"/>
              <a:buChar char="§"/>
            </a:pPr>
            <a:endParaRPr lang="en-US" sz="3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[9] Fadila, J.N., Wahab, N.H.A., Alshammari, A., </a:t>
            </a:r>
            <a:r>
              <a:rPr lang="en-US" sz="3500" dirty="0" err="1">
                <a:latin typeface="Times New Roman" panose="02020603050405020304" pitchFamily="18" charset="0"/>
                <a:ea typeface="Cambria" panose="02040503050406030204" pitchFamily="18" charset="0"/>
                <a:cs typeface="Times New Roman" panose="02020603050405020304" pitchFamily="18" charset="0"/>
              </a:rPr>
              <a:t>Aqarni</a:t>
            </a:r>
            <a:r>
              <a:rPr lang="en-US" sz="3500" dirty="0">
                <a:latin typeface="Times New Roman" panose="02020603050405020304" pitchFamily="18" charset="0"/>
                <a:ea typeface="Cambria" panose="02040503050406030204" pitchFamily="18" charset="0"/>
                <a:cs typeface="Times New Roman" panose="02020603050405020304" pitchFamily="18" charset="0"/>
              </a:rPr>
              <a:t>, A., Al-</a:t>
            </a:r>
            <a:r>
              <a:rPr lang="en-US" sz="3500" dirty="0" err="1">
                <a:latin typeface="Times New Roman" panose="02020603050405020304" pitchFamily="18" charset="0"/>
                <a:ea typeface="Cambria" panose="02040503050406030204" pitchFamily="18" charset="0"/>
                <a:cs typeface="Times New Roman" panose="02020603050405020304" pitchFamily="18" charset="0"/>
              </a:rPr>
              <a:t>Dhaqm</a:t>
            </a:r>
            <a:r>
              <a:rPr lang="en-US" sz="3500" dirty="0">
                <a:latin typeface="Times New Roman" panose="02020603050405020304" pitchFamily="18" charset="0"/>
                <a:ea typeface="Cambria" panose="02040503050406030204" pitchFamily="18" charset="0"/>
                <a:cs typeface="Times New Roman" panose="02020603050405020304" pitchFamily="18" charset="0"/>
              </a:rPr>
              <a:t>, A. and Aziz, N., 2024. Fourth industrial revolution smart urban traffic management at scale: A comprehensive review. IEEE Access, vol. 12.</a:t>
            </a:r>
          </a:p>
          <a:p>
            <a:pPr>
              <a:buFont typeface="Wingdings" panose="05000000000000000000" pitchFamily="2" charset="2"/>
              <a:buChar char="§"/>
            </a:pPr>
            <a:endParaRPr lang="en-US" sz="3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[10] Wang, C., Ma, X., Jia, L., Lai, Z., Yang, Z., Yan, H. and Zhao, J., 2024. CPS architecture development for urban roadway intersections based on MBSE. Journal of Intelligent and Connected Vehicles, 7(3), pp.190–204.</a:t>
            </a:r>
          </a:p>
          <a:p>
            <a:pPr>
              <a:buFont typeface="Wingdings" panose="05000000000000000000" pitchFamily="2" charset="2"/>
              <a:buChar char="§"/>
            </a:pPr>
            <a:endParaRPr lang="en-US" sz="3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[11] Xu, H., Berres, A., </a:t>
            </a:r>
            <a:r>
              <a:rPr lang="en-US" sz="3500" dirty="0" err="1">
                <a:latin typeface="Times New Roman" panose="02020603050405020304" pitchFamily="18" charset="0"/>
                <a:ea typeface="Cambria" panose="02040503050406030204" pitchFamily="18" charset="0"/>
                <a:cs typeface="Times New Roman" panose="02020603050405020304" pitchFamily="18" charset="0"/>
              </a:rPr>
              <a:t>Yoginath</a:t>
            </a:r>
            <a:r>
              <a:rPr lang="en-US" sz="3500" dirty="0">
                <a:latin typeface="Times New Roman" panose="02020603050405020304" pitchFamily="18" charset="0"/>
                <a:ea typeface="Cambria" panose="02040503050406030204" pitchFamily="18" charset="0"/>
                <a:cs typeface="Times New Roman" panose="02020603050405020304" pitchFamily="18" charset="0"/>
              </a:rPr>
              <a:t>, S.B., Sorensen, H., Nugent, P.J., Severino, J., Tennille, S.A., Moore, A., Jones, W. and Sanyal, J., 2023. Smart mobility in the cloud: Digital twin for situational awareness and cyber-physical control in real-time. IEEE Transactions on Intelligent Transportation Systems, 24(3), pp.3145–3160.</a:t>
            </a:r>
          </a:p>
          <a:p>
            <a:pPr>
              <a:buFont typeface="Wingdings" panose="05000000000000000000" pitchFamily="2" charset="2"/>
              <a:buChar char="§"/>
            </a:pPr>
            <a:endParaRPr lang="en-US" sz="3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[12] Jin, J., Rong, D., Pang, Y., Ye, P., Ji, Q., Wang, X., Wang, G. and Wang, F.Y., 2022. An agent-based traffic recommendation system: Urban traffic management strategy revisiting and revising. IEEE Transactions on Systems, Man, and Cybernetics: Systems, 52(11), pp.7289–7301.</a:t>
            </a:r>
          </a:p>
          <a:p>
            <a:pPr>
              <a:buFont typeface="Wingdings" panose="05000000000000000000" pitchFamily="2" charset="2"/>
              <a:buChar char="§"/>
            </a:pPr>
            <a:endParaRPr lang="en-US" sz="3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[13] Oliveira, L.F.P., Manera, L.T. and Luz, P.D.G., 2021. Smart traffic light control system with real-time observation. IEEE Internet of Things Journal, 8(5), pp.3384–3393.</a:t>
            </a:r>
          </a:p>
          <a:p>
            <a:pPr>
              <a:buFont typeface="Wingdings" panose="05000000000000000000" pitchFamily="2" charset="2"/>
              <a:buChar char="§"/>
            </a:pPr>
            <a:endParaRPr lang="en-US" sz="3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[14] </a:t>
            </a:r>
            <a:r>
              <a:rPr lang="en-US" sz="3500" dirty="0" err="1">
                <a:latin typeface="Times New Roman" panose="02020603050405020304" pitchFamily="18" charset="0"/>
                <a:ea typeface="Cambria" panose="02040503050406030204" pitchFamily="18" charset="0"/>
                <a:cs typeface="Times New Roman" panose="02020603050405020304" pitchFamily="18" charset="0"/>
              </a:rPr>
              <a:t>Nagapragna</a:t>
            </a:r>
            <a:r>
              <a:rPr lang="en-US" sz="3500" dirty="0">
                <a:latin typeface="Times New Roman" panose="02020603050405020304" pitchFamily="18" charset="0"/>
                <a:ea typeface="Cambria" panose="02040503050406030204" pitchFamily="18" charset="0"/>
                <a:cs typeface="Times New Roman" panose="02020603050405020304" pitchFamily="18" charset="0"/>
              </a:rPr>
              <a:t>, H. and Joshi, S.S., 2017. Smart traffic management system. Sapthagiri College of Engineering, Bangalore.</a:t>
            </a:r>
          </a:p>
          <a:p>
            <a:pPr>
              <a:buFont typeface="Wingdings" panose="05000000000000000000" pitchFamily="2" charset="2"/>
              <a:buChar char="§"/>
            </a:pPr>
            <a:endParaRPr lang="en-US" sz="3500" dirty="0">
              <a:latin typeface="Times New Roman" panose="02020603050405020304" pitchFamily="18" charset="0"/>
              <a:ea typeface="Cambria" panose="02040503050406030204" pitchFamily="18" charset="0"/>
              <a:cs typeface="Times New Roman" panose="02020603050405020304" pitchFamily="18" charset="0"/>
            </a:endParaRPr>
          </a:p>
          <a:p>
            <a:pPr>
              <a:buFont typeface="Wingdings" panose="05000000000000000000" pitchFamily="2" charset="2"/>
              <a:buChar char="§"/>
            </a:pPr>
            <a:r>
              <a:rPr lang="en-US" sz="3500" dirty="0">
                <a:latin typeface="Times New Roman" panose="02020603050405020304" pitchFamily="18" charset="0"/>
                <a:ea typeface="Cambria" panose="02040503050406030204" pitchFamily="18" charset="0"/>
                <a:cs typeface="Times New Roman" panose="02020603050405020304" pitchFamily="18" charset="0"/>
              </a:rPr>
              <a:t>[15] Lanke, N. and Koul, S., 2013. Smart traffic management system. International Journal of Computer Applications, 75(7), pp.19–22.</a:t>
            </a:r>
          </a:p>
          <a:p>
            <a:endParaRPr lang="en-US" dirty="0"/>
          </a:p>
        </p:txBody>
      </p:sp>
    </p:spTree>
    <p:extLst>
      <p:ext uri="{BB962C8B-B14F-4D97-AF65-F5344CB8AC3E}">
        <p14:creationId xmlns:p14="http://schemas.microsoft.com/office/powerpoint/2010/main" val="1572025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pic>
        <p:nvPicPr>
          <p:cNvPr id="156" name="Google Shape;156;p11"/>
          <p:cNvPicPr preferRelativeResize="0"/>
          <p:nvPr/>
        </p:nvPicPr>
        <p:blipFill rotWithShape="1">
          <a:blip r:embed="rId3">
            <a:alphaModFix/>
          </a:blip>
          <a:srcRect/>
          <a:stretch/>
        </p:blipFill>
        <p:spPr>
          <a:xfrm>
            <a:off x="1844139" y="1702517"/>
            <a:ext cx="5621532" cy="3935471"/>
          </a:xfrm>
          <a:prstGeom prst="rect">
            <a:avLst/>
          </a:prstGeom>
          <a:noFill/>
          <a:ln>
            <a:noFill/>
          </a:ln>
        </p:spPr>
      </p:pic>
    </p:spTree>
  </p:cSld>
  <p:clrMapOvr>
    <a:masterClrMapping/>
  </p:clrMapOvr>
</p:sld>
</file>

<file path=ppt/theme/theme1.xml><?xml version="1.0" encoding="utf-8"?>
<a:theme xmlns:a="http://schemas.openxmlformats.org/drawingml/2006/main" name="Bioinformatics">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1738</TotalTime>
  <Words>1535</Words>
  <Application>Microsoft Office PowerPoint</Application>
  <PresentationFormat>Widescreen</PresentationFormat>
  <Paragraphs>184</Paragraphs>
  <Slides>17</Slides>
  <Notes>11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17</vt:i4>
      </vt:variant>
    </vt:vector>
  </HeadingPairs>
  <TitlesOfParts>
    <vt:vector size="25" baseType="lpstr">
      <vt:lpstr>Arial</vt:lpstr>
      <vt:lpstr>Arial MT</vt:lpstr>
      <vt:lpstr>Calibri</vt:lpstr>
      <vt:lpstr>Cambria</vt:lpstr>
      <vt:lpstr>Times New Roman</vt:lpstr>
      <vt:lpstr>Verdana</vt:lpstr>
      <vt:lpstr>Wingdings</vt:lpstr>
      <vt:lpstr>Bioinformatics</vt:lpstr>
      <vt:lpstr>Smart Traffic Management System for Urban Congestion  </vt:lpstr>
      <vt:lpstr>Content</vt:lpstr>
      <vt:lpstr>Problem Statement</vt:lpstr>
      <vt:lpstr>Literature Survey</vt:lpstr>
      <vt:lpstr>Objectives</vt:lpstr>
      <vt:lpstr>Existing methods and Drawbacks</vt:lpstr>
      <vt:lpstr>Proposed Method</vt:lpstr>
      <vt:lpstr>Architecture Diagram  </vt:lpstr>
      <vt:lpstr>Modules &amp; Technologies Used  </vt:lpstr>
      <vt:lpstr>GitHub Repository</vt:lpstr>
      <vt:lpstr>PowerPoint Presentation</vt:lpstr>
      <vt:lpstr>PowerPoint Presentation</vt:lpstr>
      <vt:lpstr>PowerPoint Presentation</vt:lpstr>
      <vt:lpstr>Timeline of the Project (Gantt Chart)  </vt:lpstr>
      <vt:lpstr>References (IEEE Paper format)</vt:lpstr>
      <vt:lpstr>References (IEEE Paper format)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Admin</dc:creator>
  <cp:lastModifiedBy>Syed Thousif</cp:lastModifiedBy>
  <cp:revision>37</cp:revision>
  <dcterms:modified xsi:type="dcterms:W3CDTF">2026-04-21T19:26:30Z</dcterms:modified>
</cp:coreProperties>
</file>