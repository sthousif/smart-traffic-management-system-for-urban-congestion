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80" r:id="rId4"/>
    <p:sldId id="259" r:id="rId5"/>
    <p:sldId id="269" r:id="rId6"/>
    <p:sldId id="260" r:id="rId7"/>
    <p:sldId id="261" r:id="rId8"/>
    <p:sldId id="263" r:id="rId9"/>
    <p:sldId id="264" r:id="rId10"/>
    <p:sldId id="272" r:id="rId11"/>
    <p:sldId id="275" r:id="rId12"/>
    <p:sldId id="279" r:id="rId13"/>
    <p:sldId id="265" r:id="rId14"/>
    <p:sldId id="267" r:id="rId15"/>
    <p:sldId id="281" r:id="rId16"/>
    <p:sldId id="268"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2"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876" y="2125980"/>
            <a:ext cx="10368598" cy="1440180"/>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6102" y="886967"/>
            <a:ext cx="10668000" cy="59690"/>
          </a:xfrm>
          <a:custGeom>
            <a:avLst/>
            <a:gdLst/>
            <a:ahLst/>
            <a:cxnLst/>
            <a:rect l="l" t="t" r="r" b="b"/>
            <a:pathLst>
              <a:path w="10668000" h="59690">
                <a:moveTo>
                  <a:pt x="10668000" y="47498"/>
                </a:moveTo>
                <a:lnTo>
                  <a:pt x="0" y="47498"/>
                </a:lnTo>
                <a:lnTo>
                  <a:pt x="0" y="59436"/>
                </a:lnTo>
                <a:lnTo>
                  <a:pt x="10668000" y="59436"/>
                </a:lnTo>
                <a:lnTo>
                  <a:pt x="10668000" y="47498"/>
                </a:lnTo>
                <a:close/>
              </a:path>
              <a:path w="10668000" h="59690">
                <a:moveTo>
                  <a:pt x="10668000" y="0"/>
                </a:moveTo>
                <a:lnTo>
                  <a:pt x="0" y="0"/>
                </a:lnTo>
                <a:lnTo>
                  <a:pt x="0" y="35687"/>
                </a:lnTo>
                <a:lnTo>
                  <a:pt x="10668000" y="35687"/>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89320"/>
            <a:ext cx="12193523" cy="868680"/>
          </a:xfrm>
          <a:prstGeom prst="rect">
            <a:avLst/>
          </a:prstGeom>
        </p:spPr>
      </p:pic>
      <p:sp>
        <p:nvSpPr>
          <p:cNvPr id="2" name="Holder 2"/>
          <p:cNvSpPr>
            <a:spLocks noGrp="1"/>
          </p:cNvSpPr>
          <p:nvPr>
            <p:ph type="title"/>
          </p:nvPr>
        </p:nvSpPr>
        <p:spPr>
          <a:xfrm>
            <a:off x="891946" y="283286"/>
            <a:ext cx="5189855" cy="533272"/>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a:xfrm>
            <a:off x="770636" y="1128217"/>
            <a:ext cx="10427970" cy="476377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hyperlink" Target="mailto:https://github.com/SThousif/Smart-Traffic-Management-System-for-Urban-Conges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2400" y="1371600"/>
            <a:ext cx="11751389" cy="4557017"/>
          </a:xfrm>
          <a:prstGeom prst="rect">
            <a:avLst/>
          </a:prstGeom>
        </p:spPr>
        <p:txBody>
          <a:bodyPr vert="horz" wrap="square" lIns="0" tIns="14605" rIns="0" bIns="0" rtlCol="0">
            <a:spAutoFit/>
          </a:bodyPr>
          <a:lstStyle/>
          <a:p>
            <a:pPr marL="1933575" marR="747395" indent="-750570" algn="ctr">
              <a:lnSpc>
                <a:spcPct val="100000"/>
              </a:lnSpc>
              <a:spcBef>
                <a:spcPts val="115"/>
              </a:spcBef>
            </a:pPr>
            <a:r>
              <a:rPr lang="en-US" sz="2400" b="1" dirty="0"/>
              <a:t>Smart Traffic Management System for Urban Congestion </a:t>
            </a:r>
          </a:p>
          <a:p>
            <a:pPr marL="6964680">
              <a:lnSpc>
                <a:spcPct val="100000"/>
              </a:lnSpc>
              <a:spcBef>
                <a:spcPts val="1630"/>
              </a:spcBef>
            </a:pPr>
            <a:endParaRPr lang="en-IN" sz="1800" b="1" dirty="0">
              <a:solidFill>
                <a:srgbClr val="17365D"/>
              </a:solidFill>
              <a:latin typeface="Cambria"/>
              <a:cs typeface="Cambria"/>
            </a:endParaRPr>
          </a:p>
          <a:p>
            <a:pPr marL="6964680">
              <a:lnSpc>
                <a:spcPct val="100000"/>
              </a:lnSpc>
              <a:spcBef>
                <a:spcPts val="1630"/>
              </a:spcBef>
            </a:pPr>
            <a:r>
              <a:rPr sz="1800" b="1" dirty="0">
                <a:solidFill>
                  <a:srgbClr val="17365D"/>
                </a:solidFill>
                <a:latin typeface="Cambria"/>
                <a:cs typeface="Cambria"/>
              </a:rPr>
              <a:t>Under</a:t>
            </a:r>
            <a:r>
              <a:rPr sz="1800" b="1" spc="-35" dirty="0">
                <a:solidFill>
                  <a:srgbClr val="17365D"/>
                </a:solidFill>
                <a:latin typeface="Cambria"/>
                <a:cs typeface="Cambria"/>
              </a:rPr>
              <a:t> </a:t>
            </a:r>
            <a:r>
              <a:rPr sz="1800" b="1" dirty="0">
                <a:solidFill>
                  <a:srgbClr val="17365D"/>
                </a:solidFill>
                <a:latin typeface="Cambria"/>
                <a:cs typeface="Cambria"/>
              </a:rPr>
              <a:t>the</a:t>
            </a:r>
            <a:r>
              <a:rPr sz="1800" b="1" spc="25" dirty="0">
                <a:solidFill>
                  <a:srgbClr val="17365D"/>
                </a:solidFill>
                <a:latin typeface="Cambria"/>
                <a:cs typeface="Cambria"/>
              </a:rPr>
              <a:t> </a:t>
            </a:r>
            <a:r>
              <a:rPr sz="1800" b="1" spc="-10" dirty="0">
                <a:solidFill>
                  <a:srgbClr val="17365D"/>
                </a:solidFill>
                <a:latin typeface="Cambria"/>
                <a:cs typeface="Cambria"/>
              </a:rPr>
              <a:t>Supervision</a:t>
            </a:r>
            <a:r>
              <a:rPr sz="1800" b="1" spc="-75" dirty="0">
                <a:solidFill>
                  <a:srgbClr val="17365D"/>
                </a:solidFill>
                <a:latin typeface="Cambria"/>
                <a:cs typeface="Cambria"/>
              </a:rPr>
              <a:t> </a:t>
            </a:r>
            <a:r>
              <a:rPr sz="1800" b="1" spc="-25" dirty="0">
                <a:solidFill>
                  <a:srgbClr val="17365D"/>
                </a:solidFill>
                <a:latin typeface="Cambria"/>
                <a:cs typeface="Cambria"/>
              </a:rPr>
              <a:t>of,</a:t>
            </a:r>
            <a:endParaRPr lang="en-IN" sz="1800" dirty="0">
              <a:latin typeface="Cambria"/>
              <a:cs typeface="Cambria"/>
            </a:endParaRPr>
          </a:p>
          <a:p>
            <a:pPr marL="1933575" marR="747395" indent="-750570" algn="l">
              <a:lnSpc>
                <a:spcPct val="100000"/>
              </a:lnSpc>
              <a:spcBef>
                <a:spcPts val="115"/>
              </a:spcBef>
            </a:pPr>
            <a:r>
              <a:rPr lang="en-IN" sz="1800" b="1" dirty="0">
                <a:solidFill>
                  <a:srgbClr val="17365D"/>
                </a:solidFill>
                <a:latin typeface="Cambria"/>
                <a:cs typeface="Cambria"/>
              </a:rPr>
              <a:t>Batch</a:t>
            </a:r>
            <a:r>
              <a:rPr lang="en-IN" sz="1800" b="1" spc="-25" dirty="0">
                <a:solidFill>
                  <a:srgbClr val="17365D"/>
                </a:solidFill>
                <a:latin typeface="Cambria"/>
                <a:cs typeface="Cambria"/>
              </a:rPr>
              <a:t> </a:t>
            </a:r>
            <a:r>
              <a:rPr lang="en-IN" sz="1800" b="1" dirty="0">
                <a:solidFill>
                  <a:srgbClr val="17365D"/>
                </a:solidFill>
                <a:latin typeface="Cambria"/>
                <a:cs typeface="Cambria"/>
              </a:rPr>
              <a:t>Number:</a:t>
            </a:r>
            <a:r>
              <a:rPr lang="en-IN" sz="1800" b="1" spc="-45" dirty="0">
                <a:solidFill>
                  <a:srgbClr val="17365D"/>
                </a:solidFill>
                <a:latin typeface="Cambria"/>
                <a:cs typeface="Cambria"/>
              </a:rPr>
              <a:t> </a:t>
            </a:r>
            <a:r>
              <a:rPr lang="en-IN" sz="1550" b="1" spc="-10" dirty="0">
                <a:solidFill>
                  <a:srgbClr val="17365D"/>
                </a:solidFill>
                <a:latin typeface="Verdana"/>
                <a:cs typeface="Verdana"/>
              </a:rPr>
              <a:t>CSE_14</a:t>
            </a:r>
            <a:endParaRPr lang="en-IN" sz="1550" dirty="0">
              <a:latin typeface="Verdana"/>
              <a:cs typeface="Verdana"/>
            </a:endParaRPr>
          </a:p>
          <a:p>
            <a:pPr marL="6964680">
              <a:lnSpc>
                <a:spcPct val="100000"/>
              </a:lnSpc>
            </a:pPr>
            <a:r>
              <a:rPr lang="en-IN" sz="1700" b="1" dirty="0">
                <a:solidFill>
                  <a:srgbClr val="17365D"/>
                </a:solidFill>
                <a:latin typeface="Cambria"/>
                <a:cs typeface="Cambria"/>
              </a:rPr>
              <a:t>Guide</a:t>
            </a:r>
            <a:r>
              <a:rPr lang="en-IN" sz="1700" b="1" spc="-35" dirty="0">
                <a:solidFill>
                  <a:srgbClr val="17365D"/>
                </a:solidFill>
                <a:latin typeface="Cambria"/>
                <a:cs typeface="Cambria"/>
              </a:rPr>
              <a:t> </a:t>
            </a:r>
            <a:r>
              <a:rPr lang="en-IN" sz="1700" b="1" dirty="0">
                <a:solidFill>
                  <a:srgbClr val="17365D"/>
                </a:solidFill>
                <a:latin typeface="Cambria"/>
                <a:cs typeface="Cambria"/>
              </a:rPr>
              <a:t>–</a:t>
            </a:r>
            <a:r>
              <a:rPr lang="en-IN" sz="1700" b="1" spc="-30" dirty="0">
                <a:solidFill>
                  <a:srgbClr val="17365D"/>
                </a:solidFill>
                <a:latin typeface="Cambria"/>
                <a:cs typeface="Cambria"/>
              </a:rPr>
              <a:t> MS. </a:t>
            </a:r>
            <a:r>
              <a:rPr lang="en-IN" sz="1700" b="1" spc="-30" dirty="0" err="1">
                <a:solidFill>
                  <a:srgbClr val="17365D"/>
                </a:solidFill>
                <a:latin typeface="Cambria"/>
                <a:cs typeface="Cambria"/>
              </a:rPr>
              <a:t>Kummara</a:t>
            </a:r>
            <a:r>
              <a:rPr lang="en-IN" sz="1700" b="1" spc="-30" dirty="0">
                <a:solidFill>
                  <a:srgbClr val="17365D"/>
                </a:solidFill>
                <a:latin typeface="Cambria"/>
                <a:cs typeface="Cambria"/>
              </a:rPr>
              <a:t> Sruthi (Assistant Professor)</a:t>
            </a:r>
            <a:endParaRPr lang="en-IN" sz="1700" dirty="0">
              <a:latin typeface="Cambria"/>
              <a:cs typeface="Cambria"/>
            </a:endParaRPr>
          </a:p>
          <a:p>
            <a:pPr marL="6964680">
              <a:lnSpc>
                <a:spcPct val="100000"/>
              </a:lnSpc>
              <a:spcBef>
                <a:spcPts val="305"/>
              </a:spcBef>
            </a:pPr>
            <a:r>
              <a:rPr sz="1700" b="1" dirty="0">
                <a:solidFill>
                  <a:srgbClr val="17365D"/>
                </a:solidFill>
                <a:latin typeface="Cambria"/>
                <a:cs typeface="Cambria"/>
              </a:rPr>
              <a:t>School</a:t>
            </a:r>
            <a:r>
              <a:rPr sz="1700" b="1" spc="-45" dirty="0">
                <a:solidFill>
                  <a:srgbClr val="17365D"/>
                </a:solidFill>
                <a:latin typeface="Cambria"/>
                <a:cs typeface="Cambria"/>
              </a:rPr>
              <a:t> </a:t>
            </a:r>
            <a:r>
              <a:rPr sz="1700" b="1" dirty="0">
                <a:solidFill>
                  <a:srgbClr val="17365D"/>
                </a:solidFill>
                <a:latin typeface="Cambria"/>
                <a:cs typeface="Cambria"/>
              </a:rPr>
              <a:t>of</a:t>
            </a:r>
            <a:r>
              <a:rPr sz="1700" b="1" spc="-35" dirty="0">
                <a:solidFill>
                  <a:srgbClr val="17365D"/>
                </a:solidFill>
                <a:latin typeface="Cambria"/>
                <a:cs typeface="Cambria"/>
              </a:rPr>
              <a:t> </a:t>
            </a:r>
            <a:r>
              <a:rPr sz="1700" b="1" spc="-10" dirty="0">
                <a:solidFill>
                  <a:srgbClr val="17365D"/>
                </a:solidFill>
                <a:latin typeface="Cambria"/>
                <a:cs typeface="Cambria"/>
              </a:rPr>
              <a:t>Computer</a:t>
            </a:r>
            <a:r>
              <a:rPr sz="1700" b="1" spc="-50" dirty="0">
                <a:solidFill>
                  <a:srgbClr val="17365D"/>
                </a:solidFill>
                <a:latin typeface="Cambria"/>
                <a:cs typeface="Cambria"/>
              </a:rPr>
              <a:t> </a:t>
            </a:r>
            <a:r>
              <a:rPr sz="1700" b="1" dirty="0">
                <a:solidFill>
                  <a:srgbClr val="17365D"/>
                </a:solidFill>
                <a:latin typeface="Cambria"/>
                <a:cs typeface="Cambria"/>
              </a:rPr>
              <a:t>Science</a:t>
            </a:r>
            <a:r>
              <a:rPr sz="1700" b="1" spc="5" dirty="0">
                <a:solidFill>
                  <a:srgbClr val="17365D"/>
                </a:solidFill>
                <a:latin typeface="Cambria"/>
                <a:cs typeface="Cambria"/>
              </a:rPr>
              <a:t> </a:t>
            </a:r>
            <a:r>
              <a:rPr sz="1700" b="1" dirty="0">
                <a:solidFill>
                  <a:srgbClr val="17365D"/>
                </a:solidFill>
                <a:latin typeface="Cambria"/>
                <a:cs typeface="Cambria"/>
              </a:rPr>
              <a:t>and</a:t>
            </a:r>
            <a:r>
              <a:rPr sz="1700" b="1" spc="-30" dirty="0">
                <a:solidFill>
                  <a:srgbClr val="17365D"/>
                </a:solidFill>
                <a:latin typeface="Cambria"/>
                <a:cs typeface="Cambria"/>
              </a:rPr>
              <a:t> </a:t>
            </a:r>
            <a:r>
              <a:rPr sz="1700" b="1" spc="-10" dirty="0">
                <a:solidFill>
                  <a:srgbClr val="17365D"/>
                </a:solidFill>
                <a:latin typeface="Cambria"/>
                <a:cs typeface="Cambria"/>
              </a:rPr>
              <a:t>Engineering</a:t>
            </a:r>
            <a:endParaRPr sz="1700" dirty="0">
              <a:latin typeface="Cambria"/>
              <a:cs typeface="Cambria"/>
            </a:endParaRPr>
          </a:p>
          <a:p>
            <a:pPr marL="6964680">
              <a:lnSpc>
                <a:spcPct val="100000"/>
              </a:lnSpc>
              <a:spcBef>
                <a:spcPts val="300"/>
              </a:spcBef>
            </a:pPr>
            <a:r>
              <a:rPr sz="1700" b="1" dirty="0">
                <a:solidFill>
                  <a:srgbClr val="17365D"/>
                </a:solidFill>
                <a:latin typeface="Cambria"/>
                <a:cs typeface="Cambria"/>
              </a:rPr>
              <a:t>Presidency</a:t>
            </a:r>
            <a:r>
              <a:rPr sz="1700" b="1" spc="-9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12700">
              <a:lnSpc>
                <a:spcPct val="100000"/>
              </a:lnSpc>
              <a:spcBef>
                <a:spcPts val="1605"/>
              </a:spcBef>
            </a:pPr>
            <a:endParaRPr lang="en-IN" sz="1800" b="1" dirty="0">
              <a:solidFill>
                <a:srgbClr val="4F81BC"/>
              </a:solidFill>
              <a:latin typeface="Cambria"/>
              <a:cs typeface="Cambria"/>
            </a:endParaRPr>
          </a:p>
          <a:p>
            <a:pPr marL="12700">
              <a:lnSpc>
                <a:spcPct val="100000"/>
              </a:lnSpc>
              <a:spcBef>
                <a:spcPts val="1605"/>
              </a:spcBef>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50" dirty="0">
                <a:solidFill>
                  <a:srgbClr val="4F81BC"/>
                </a:solidFill>
                <a:latin typeface="Cambria"/>
                <a:cs typeface="Cambria"/>
              </a:rPr>
              <a:t> </a:t>
            </a:r>
            <a:r>
              <a:rPr sz="1800" b="1" spc="-10" dirty="0">
                <a:solidFill>
                  <a:srgbClr val="4F81BC"/>
                </a:solidFill>
                <a:latin typeface="Cambria"/>
                <a:cs typeface="Cambria"/>
              </a:rPr>
              <a:t>Program:</a:t>
            </a:r>
            <a:r>
              <a:rPr lang="en-IN" sz="1800" b="1" spc="-10" dirty="0">
                <a:solidFill>
                  <a:srgbClr val="4F81BC"/>
                </a:solidFill>
                <a:latin typeface="Cambria"/>
                <a:cs typeface="Cambria"/>
              </a:rPr>
              <a:t> </a:t>
            </a:r>
            <a:r>
              <a:rPr lang="en-IN" sz="1800" b="1" spc="-10" dirty="0">
                <a:solidFill>
                  <a:schemeClr val="tx1"/>
                </a:solidFill>
                <a:latin typeface="Cambria"/>
                <a:cs typeface="Cambria"/>
              </a:rPr>
              <a:t>School Of Computer Science &amp; Engineering</a:t>
            </a:r>
            <a:endParaRPr sz="1800" dirty="0">
              <a:solidFill>
                <a:schemeClr val="tx1"/>
              </a:solidFill>
              <a:latin typeface="Cambria"/>
              <a:cs typeface="Cambria"/>
            </a:endParaRPr>
          </a:p>
          <a:p>
            <a:pPr marL="12700">
              <a:lnSpc>
                <a:spcPct val="100000"/>
              </a:lnSpc>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HoD:</a:t>
            </a:r>
            <a:r>
              <a:rPr sz="1800" b="1" spc="25" dirty="0">
                <a:solidFill>
                  <a:srgbClr val="4F81BC"/>
                </a:solidFill>
                <a:latin typeface="Cambria"/>
                <a:cs typeface="Cambria"/>
              </a:rPr>
              <a:t> </a:t>
            </a:r>
            <a:r>
              <a:rPr sz="1800" b="1" dirty="0">
                <a:latin typeface="Arial"/>
                <a:cs typeface="Arial"/>
              </a:rPr>
              <a:t>Dr.</a:t>
            </a:r>
            <a:r>
              <a:rPr sz="1800" b="1" spc="-30" dirty="0">
                <a:latin typeface="Arial"/>
                <a:cs typeface="Arial"/>
              </a:rPr>
              <a:t> </a:t>
            </a:r>
            <a:r>
              <a:rPr lang="en-IN" sz="1800" b="1" dirty="0">
                <a:latin typeface="Arial"/>
                <a:cs typeface="Arial"/>
              </a:rPr>
              <a:t>Asif Mohammed, Dr. Blessed Prince</a:t>
            </a:r>
            <a:endParaRPr sz="1800" dirty="0">
              <a:latin typeface="Arial"/>
              <a:cs typeface="Arial"/>
            </a:endParaRPr>
          </a:p>
          <a:p>
            <a:pPr marL="12700">
              <a:lnSpc>
                <a:spcPct val="100000"/>
              </a:lnSpc>
              <a:spcBef>
                <a:spcPts val="5"/>
              </a:spcBef>
            </a:pPr>
            <a:r>
              <a:rPr sz="1800" b="1" dirty="0">
                <a:solidFill>
                  <a:srgbClr val="4F81BC"/>
                </a:solidFill>
                <a:latin typeface="Cambria"/>
                <a:cs typeface="Cambria"/>
              </a:rPr>
              <a:t>Name</a:t>
            </a:r>
            <a:r>
              <a:rPr sz="1800" b="1" spc="-70" dirty="0">
                <a:solidFill>
                  <a:srgbClr val="4F81BC"/>
                </a:solidFill>
                <a:latin typeface="Cambria"/>
                <a:cs typeface="Cambria"/>
              </a:rPr>
              <a:t> </a:t>
            </a:r>
            <a:r>
              <a:rPr sz="1800" b="1" dirty="0">
                <a:solidFill>
                  <a:srgbClr val="4F81BC"/>
                </a:solidFill>
                <a:latin typeface="Cambria"/>
                <a:cs typeface="Cambria"/>
              </a:rPr>
              <a:t>of</a:t>
            </a:r>
            <a:r>
              <a:rPr sz="1800" b="1" spc="-25" dirty="0">
                <a:solidFill>
                  <a:srgbClr val="4F81BC"/>
                </a:solidFill>
                <a:latin typeface="Cambria"/>
                <a:cs typeface="Cambria"/>
              </a:rPr>
              <a:t> </a:t>
            </a:r>
            <a:r>
              <a:rPr sz="1800" b="1" dirty="0">
                <a:solidFill>
                  <a:srgbClr val="4F81BC"/>
                </a:solidFill>
                <a:latin typeface="Cambria"/>
                <a:cs typeface="Cambria"/>
              </a:rPr>
              <a:t>the</a:t>
            </a:r>
            <a:r>
              <a:rPr sz="1800" b="1" spc="-65" dirty="0">
                <a:solidFill>
                  <a:srgbClr val="4F81BC"/>
                </a:solidFill>
                <a:latin typeface="Cambria"/>
                <a:cs typeface="Cambria"/>
              </a:rPr>
              <a:t> </a:t>
            </a:r>
            <a:r>
              <a:rPr sz="1800" b="1" dirty="0">
                <a:solidFill>
                  <a:srgbClr val="4F81BC"/>
                </a:solidFill>
                <a:latin typeface="Cambria"/>
                <a:cs typeface="Cambria"/>
              </a:rPr>
              <a:t>Program</a:t>
            </a:r>
            <a:r>
              <a:rPr sz="1800" b="1" spc="-30" dirty="0">
                <a:solidFill>
                  <a:srgbClr val="4F81BC"/>
                </a:solidFill>
                <a:latin typeface="Cambria"/>
                <a:cs typeface="Cambria"/>
              </a:rPr>
              <a:t> </a:t>
            </a:r>
            <a:r>
              <a:rPr sz="1800" b="1" dirty="0">
                <a:solidFill>
                  <a:srgbClr val="4F81BC"/>
                </a:solidFill>
                <a:latin typeface="Cambria"/>
                <a:cs typeface="Cambria"/>
              </a:rPr>
              <a:t>Project</a:t>
            </a:r>
            <a:r>
              <a:rPr sz="1800" b="1" spc="-50" dirty="0">
                <a:solidFill>
                  <a:srgbClr val="4F81BC"/>
                </a:solidFill>
                <a:latin typeface="Cambria"/>
                <a:cs typeface="Cambria"/>
              </a:rPr>
              <a:t> </a:t>
            </a:r>
            <a:r>
              <a:rPr sz="1800" b="1" dirty="0">
                <a:solidFill>
                  <a:srgbClr val="4F81BC"/>
                </a:solidFill>
                <a:latin typeface="Cambria"/>
                <a:cs typeface="Cambria"/>
              </a:rPr>
              <a:t>Coordinator:</a:t>
            </a:r>
            <a:r>
              <a:rPr sz="1800" b="1" spc="20" dirty="0">
                <a:solidFill>
                  <a:srgbClr val="4F81BC"/>
                </a:solidFill>
                <a:latin typeface="Cambria"/>
                <a:cs typeface="Cambria"/>
              </a:rPr>
              <a:t> </a:t>
            </a:r>
            <a:r>
              <a:rPr lang="en-IN" sz="1800" b="1" dirty="0">
                <a:latin typeface="Arial" panose="020B0604020202020204" pitchFamily="34" charset="0"/>
                <a:ea typeface="Cambria" panose="02040503050406030204" pitchFamily="18" charset="0"/>
                <a:cs typeface="Arial" panose="020B0604020202020204" pitchFamily="34" charset="0"/>
              </a:rPr>
              <a:t>Dr. </a:t>
            </a:r>
            <a:r>
              <a:rPr lang="en-IN" sz="1800" b="1" dirty="0" err="1">
                <a:latin typeface="Arial" panose="020B0604020202020204" pitchFamily="34" charset="0"/>
                <a:ea typeface="Cambria" panose="02040503050406030204" pitchFamily="18" charset="0"/>
                <a:cs typeface="Arial" panose="020B0604020202020204" pitchFamily="34" charset="0"/>
              </a:rPr>
              <a:t>Jayavadivel</a:t>
            </a:r>
            <a:r>
              <a:rPr lang="en-IN" sz="1800" b="1" dirty="0">
                <a:latin typeface="Arial" panose="020B0604020202020204" pitchFamily="34" charset="0"/>
                <a:ea typeface="Cambria" panose="02040503050406030204" pitchFamily="18" charset="0"/>
                <a:cs typeface="Arial" panose="020B0604020202020204" pitchFamily="34" charset="0"/>
              </a:rPr>
              <a:t> Ravi</a:t>
            </a:r>
            <a:r>
              <a:rPr lang="en-IN" sz="1800" b="1" dirty="0">
                <a:latin typeface="Arial" panose="020B0604020202020204" pitchFamily="34" charset="0"/>
                <a:cs typeface="Arial" panose="020B0604020202020204" pitchFamily="34" charset="0"/>
              </a:rPr>
              <a:t>, </a:t>
            </a:r>
            <a:r>
              <a:rPr lang="en-IN" b="1" spc="20" dirty="0">
                <a:solidFill>
                  <a:schemeClr val="tx1"/>
                </a:solidFill>
                <a:latin typeface="Arial"/>
                <a:cs typeface="Arial"/>
              </a:rPr>
              <a:t>Mr. </a:t>
            </a:r>
            <a:r>
              <a:rPr lang="en-IN" b="1" spc="20" dirty="0" err="1">
                <a:solidFill>
                  <a:schemeClr val="tx1"/>
                </a:solidFill>
                <a:latin typeface="Arial"/>
                <a:cs typeface="Arial"/>
              </a:rPr>
              <a:t>Muthuraju</a:t>
            </a:r>
            <a:r>
              <a:rPr lang="en-IN" b="1" spc="20" dirty="0">
                <a:solidFill>
                  <a:schemeClr val="tx1"/>
                </a:solidFill>
                <a:latin typeface="Arial"/>
                <a:cs typeface="Arial"/>
              </a:rPr>
              <a:t> V</a:t>
            </a:r>
          </a:p>
          <a:p>
            <a:pPr marL="12700">
              <a:lnSpc>
                <a:spcPct val="100000"/>
              </a:lnSpc>
              <a:spcBef>
                <a:spcPts val="5"/>
              </a:spcBef>
            </a:pPr>
            <a:r>
              <a:rPr sz="1800" b="1" dirty="0">
                <a:solidFill>
                  <a:srgbClr val="4F81BC"/>
                </a:solidFill>
                <a:latin typeface="Cambria"/>
                <a:cs typeface="Cambria"/>
              </a:rPr>
              <a:t>Name</a:t>
            </a:r>
            <a:r>
              <a:rPr sz="1800" b="1" spc="-45"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School</a:t>
            </a:r>
            <a:r>
              <a:rPr sz="1800" b="1" spc="35" dirty="0">
                <a:solidFill>
                  <a:srgbClr val="4F81BC"/>
                </a:solidFill>
                <a:latin typeface="Cambria"/>
                <a:cs typeface="Cambria"/>
              </a:rPr>
              <a:t> </a:t>
            </a:r>
            <a:r>
              <a:rPr sz="1800" b="1" dirty="0">
                <a:solidFill>
                  <a:srgbClr val="4F81BC"/>
                </a:solidFill>
                <a:latin typeface="Cambria"/>
                <a:cs typeface="Cambria"/>
              </a:rPr>
              <a:t>Project Coordinators:</a:t>
            </a:r>
            <a:r>
              <a:rPr sz="1800" b="1" spc="10" dirty="0">
                <a:solidFill>
                  <a:srgbClr val="4F81BC"/>
                </a:solidFill>
                <a:latin typeface="Cambria"/>
                <a:cs typeface="Cambria"/>
              </a:rPr>
              <a:t> </a:t>
            </a:r>
            <a:r>
              <a:rPr sz="1800" b="1" dirty="0">
                <a:latin typeface="Arial" panose="020B0604020202020204" pitchFamily="34" charset="0"/>
                <a:cs typeface="Arial" panose="020B0604020202020204" pitchFamily="34" charset="0"/>
              </a:rPr>
              <a:t>Dr.</a:t>
            </a:r>
            <a:r>
              <a:rPr sz="1800" b="1" spc="-1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Sampath</a:t>
            </a:r>
            <a:r>
              <a:rPr sz="1800" b="1" spc="-45"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A</a:t>
            </a:r>
            <a:r>
              <a:rPr sz="1800" b="1" spc="-15"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K</a:t>
            </a:r>
            <a:r>
              <a:rPr sz="1800" b="1" spc="-25"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a:t>
            </a:r>
            <a:r>
              <a:rPr sz="1800" b="1" spc="-45"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Dr.</a:t>
            </a:r>
            <a:r>
              <a:rPr sz="1800" b="1" spc="-5"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Geetha</a:t>
            </a:r>
            <a:r>
              <a:rPr sz="1800" b="1" spc="-40" dirty="0">
                <a:latin typeface="Arial" panose="020B0604020202020204" pitchFamily="34" charset="0"/>
                <a:cs typeface="Arial" panose="020B0604020202020204" pitchFamily="34" charset="0"/>
              </a:rPr>
              <a:t> </a:t>
            </a:r>
            <a:r>
              <a:rPr sz="1800" b="1" spc="-50" dirty="0">
                <a:latin typeface="Arial" panose="020B0604020202020204" pitchFamily="34" charset="0"/>
                <a:cs typeface="Arial" panose="020B0604020202020204" pitchFamily="34" charset="0"/>
              </a:rPr>
              <a:t>A</a:t>
            </a:r>
            <a:endParaRPr sz="1800" dirty="0">
              <a:latin typeface="Arial" panose="020B0604020202020204" pitchFamily="34" charset="0"/>
              <a:cs typeface="Arial" panose="020B0604020202020204" pitchFamily="34" charset="0"/>
            </a:endParaRPr>
          </a:p>
        </p:txBody>
      </p:sp>
      <p:sp>
        <p:nvSpPr>
          <p:cNvPr id="4" name="object 4"/>
          <p:cNvSpPr txBox="1">
            <a:spLocks noGrp="1"/>
          </p:cNvSpPr>
          <p:nvPr>
            <p:ph type="title"/>
          </p:nvPr>
        </p:nvSpPr>
        <p:spPr>
          <a:xfrm>
            <a:off x="4161282" y="128076"/>
            <a:ext cx="2848610" cy="617348"/>
          </a:xfrm>
          <a:prstGeom prst="rect">
            <a:avLst/>
          </a:prstGeom>
        </p:spPr>
        <p:txBody>
          <a:bodyPr vert="horz" wrap="square" lIns="0" tIns="12065" rIns="0" bIns="0" rtlCol="0">
            <a:spAutoFit/>
          </a:bodyPr>
          <a:lstStyle/>
          <a:p>
            <a:pPr marL="927100" marR="5080" indent="-915035">
              <a:lnSpc>
                <a:spcPct val="113500"/>
              </a:lnSpc>
              <a:spcBef>
                <a:spcPts val="95"/>
              </a:spcBef>
            </a:pPr>
            <a:r>
              <a:rPr sz="1800" dirty="0"/>
              <a:t>CSE7</a:t>
            </a:r>
            <a:r>
              <a:rPr lang="en-IN" sz="1800" dirty="0"/>
              <a:t>3</a:t>
            </a:r>
            <a:r>
              <a:rPr sz="1800" dirty="0"/>
              <a:t>0</a:t>
            </a:r>
            <a:r>
              <a:rPr lang="en-IN" sz="1800" dirty="0"/>
              <a:t>2</a:t>
            </a:r>
            <a:r>
              <a:rPr sz="1800" dirty="0"/>
              <a:t>-</a:t>
            </a:r>
            <a:r>
              <a:rPr sz="1800" spc="-80" dirty="0"/>
              <a:t> </a:t>
            </a:r>
            <a:r>
              <a:rPr lang="en-IN" sz="1800" spc="-80" dirty="0"/>
              <a:t>University</a:t>
            </a:r>
            <a:r>
              <a:rPr sz="1800" spc="-30" dirty="0"/>
              <a:t> </a:t>
            </a:r>
            <a:r>
              <a:rPr sz="1800" spc="-10" dirty="0"/>
              <a:t>Project </a:t>
            </a:r>
            <a:r>
              <a:rPr sz="1800" dirty="0"/>
              <a:t>Review-</a:t>
            </a:r>
            <a:r>
              <a:rPr lang="en-US" sz="1800" spc="-50" dirty="0"/>
              <a:t>4</a:t>
            </a:r>
            <a:endParaRPr sz="1800" dirty="0"/>
          </a:p>
        </p:txBody>
      </p:sp>
      <p:graphicFrame>
        <p:nvGraphicFramePr>
          <p:cNvPr id="5" name="object 5"/>
          <p:cNvGraphicFramePr>
            <a:graphicFrameLocks noGrp="1"/>
          </p:cNvGraphicFramePr>
          <p:nvPr>
            <p:extLst>
              <p:ext uri="{D42A27DB-BD31-4B8C-83A1-F6EECF244321}">
                <p14:modId xmlns:p14="http://schemas.microsoft.com/office/powerpoint/2010/main" val="2317534228"/>
              </p:ext>
            </p:extLst>
          </p:nvPr>
        </p:nvGraphicFramePr>
        <p:xfrm>
          <a:off x="609600" y="3048000"/>
          <a:ext cx="5350588" cy="1587010"/>
        </p:xfrm>
        <a:graphic>
          <a:graphicData uri="http://schemas.openxmlformats.org/drawingml/2006/table">
            <a:tbl>
              <a:tblPr firstRow="1" bandRow="1">
                <a:tableStyleId>{3C2FFA5D-87B4-456A-9821-1D502468CF0F}</a:tableStyleId>
              </a:tblPr>
              <a:tblGrid>
                <a:gridCol w="2789594">
                  <a:extLst>
                    <a:ext uri="{9D8B030D-6E8A-4147-A177-3AD203B41FA5}">
                      <a16:colId xmlns:a16="http://schemas.microsoft.com/office/drawing/2014/main" val="20000"/>
                    </a:ext>
                  </a:extLst>
                </a:gridCol>
                <a:gridCol w="2560994">
                  <a:extLst>
                    <a:ext uri="{9D8B030D-6E8A-4147-A177-3AD203B41FA5}">
                      <a16:colId xmlns:a16="http://schemas.microsoft.com/office/drawing/2014/main" val="20001"/>
                    </a:ext>
                  </a:extLst>
                </a:gridCol>
              </a:tblGrid>
              <a:tr h="336613">
                <a:tc>
                  <a:txBody>
                    <a:bodyPr/>
                    <a:lstStyle/>
                    <a:p>
                      <a:pPr marL="91440" algn="ctr">
                        <a:lnSpc>
                          <a:spcPct val="100000"/>
                        </a:lnSpc>
                        <a:spcBef>
                          <a:spcPts val="345"/>
                        </a:spcBef>
                      </a:pPr>
                      <a:r>
                        <a:rPr lang="en-IN" sz="1400" dirty="0"/>
                        <a:t>Roll Number</a:t>
                      </a:r>
                      <a:endParaRPr sz="1400" dirty="0">
                        <a:latin typeface="Arial MT"/>
                        <a:cs typeface="Arial MT"/>
                      </a:endParaRPr>
                    </a:p>
                  </a:txBody>
                  <a:tcPr marL="0" marR="0" marT="43815" marB="0"/>
                </a:tc>
                <a:tc>
                  <a:txBody>
                    <a:bodyPr/>
                    <a:lstStyle/>
                    <a:p>
                      <a:pPr marL="2540" algn="ctr">
                        <a:lnSpc>
                          <a:spcPct val="100000"/>
                        </a:lnSpc>
                        <a:spcBef>
                          <a:spcPts val="345"/>
                        </a:spcBef>
                      </a:pPr>
                      <a:r>
                        <a:rPr lang="en-US" sz="1400" dirty="0"/>
                        <a:t>Student Name</a:t>
                      </a:r>
                      <a:endParaRPr sz="1400" dirty="0">
                        <a:latin typeface="Arial MT"/>
                        <a:cs typeface="Arial MT"/>
                      </a:endParaRPr>
                    </a:p>
                  </a:txBody>
                  <a:tcPr marL="0" marR="0" marT="43815" marB="0"/>
                </a:tc>
                <a:extLst>
                  <a:ext uri="{0D108BD9-81ED-4DB2-BD59-A6C34878D82A}">
                    <a16:rowId xmlns:a16="http://schemas.microsoft.com/office/drawing/2014/main" val="10000"/>
                  </a:ext>
                </a:extLst>
              </a:tr>
              <a:tr h="401354">
                <a:tc>
                  <a:txBody>
                    <a:bodyPr/>
                    <a:lstStyle/>
                    <a:p>
                      <a:pPr marL="91440" algn="ctr">
                        <a:lnSpc>
                          <a:spcPct val="100000"/>
                        </a:lnSpc>
                        <a:spcBef>
                          <a:spcPts val="345"/>
                        </a:spcBef>
                      </a:pPr>
                      <a:r>
                        <a:rPr lang="en-IN" sz="1400" dirty="0"/>
                        <a:t>20221CSE0234</a:t>
                      </a:r>
                      <a:endParaRPr sz="1400" dirty="0">
                        <a:latin typeface="Arial MT"/>
                        <a:cs typeface="Arial MT"/>
                      </a:endParaRPr>
                    </a:p>
                  </a:txBody>
                  <a:tcPr marL="0" marR="0" marT="43815" marB="0"/>
                </a:tc>
                <a:tc>
                  <a:txBody>
                    <a:bodyPr/>
                    <a:lstStyle/>
                    <a:p>
                      <a:pPr marL="635" algn="ctr">
                        <a:lnSpc>
                          <a:spcPct val="100000"/>
                        </a:lnSpc>
                        <a:spcBef>
                          <a:spcPts val="345"/>
                        </a:spcBef>
                      </a:pPr>
                      <a:r>
                        <a:rPr lang="en-IN" sz="1400" dirty="0"/>
                        <a:t>Syed Thousif</a:t>
                      </a:r>
                      <a:endParaRPr sz="1400" dirty="0">
                        <a:latin typeface="Arial MT"/>
                        <a:cs typeface="Arial MT"/>
                      </a:endParaRPr>
                    </a:p>
                  </a:txBody>
                  <a:tcPr marL="0" marR="0" marT="43815" marB="0"/>
                </a:tc>
                <a:extLst>
                  <a:ext uri="{0D108BD9-81ED-4DB2-BD59-A6C34878D82A}">
                    <a16:rowId xmlns:a16="http://schemas.microsoft.com/office/drawing/2014/main" val="3245246806"/>
                  </a:ext>
                </a:extLst>
              </a:tr>
              <a:tr h="401354">
                <a:tc>
                  <a:txBody>
                    <a:bodyPr/>
                    <a:lstStyle/>
                    <a:p>
                      <a:pPr marL="91440" algn="ctr">
                        <a:lnSpc>
                          <a:spcPct val="100000"/>
                        </a:lnSpc>
                        <a:spcBef>
                          <a:spcPts val="345"/>
                        </a:spcBef>
                      </a:pPr>
                      <a:r>
                        <a:rPr lang="en-US" sz="1400" spc="-10" dirty="0"/>
                        <a:t>20221CSE0217</a:t>
                      </a:r>
                      <a:endParaRPr sz="1400" dirty="0">
                        <a:latin typeface="Arial MT"/>
                        <a:cs typeface="Arial MT"/>
                      </a:endParaRPr>
                    </a:p>
                  </a:txBody>
                  <a:tcPr marL="0" marR="0" marT="43815" marB="0"/>
                </a:tc>
                <a:tc>
                  <a:txBody>
                    <a:bodyPr/>
                    <a:lstStyle/>
                    <a:p>
                      <a:pPr marL="635" algn="ctr">
                        <a:lnSpc>
                          <a:spcPct val="100000"/>
                        </a:lnSpc>
                        <a:spcBef>
                          <a:spcPts val="345"/>
                        </a:spcBef>
                      </a:pPr>
                      <a:r>
                        <a:rPr lang="en-US" sz="1400" dirty="0" err="1"/>
                        <a:t>Gajjula</a:t>
                      </a:r>
                      <a:r>
                        <a:rPr lang="en-US" sz="1400" dirty="0"/>
                        <a:t> Ashok Kumar Reddy</a:t>
                      </a:r>
                      <a:endParaRPr sz="1400" dirty="0">
                        <a:latin typeface="Arial MT"/>
                        <a:cs typeface="Arial MT"/>
                      </a:endParaRPr>
                    </a:p>
                  </a:txBody>
                  <a:tcPr marL="0" marR="0" marT="43815" marB="0"/>
                </a:tc>
                <a:extLst>
                  <a:ext uri="{0D108BD9-81ED-4DB2-BD59-A6C34878D82A}">
                    <a16:rowId xmlns:a16="http://schemas.microsoft.com/office/drawing/2014/main" val="10001"/>
                  </a:ext>
                </a:extLst>
              </a:tr>
              <a:tr h="447689">
                <a:tc>
                  <a:txBody>
                    <a:bodyPr/>
                    <a:lstStyle/>
                    <a:p>
                      <a:pPr marL="91440" algn="ctr">
                        <a:lnSpc>
                          <a:spcPct val="100000"/>
                        </a:lnSpc>
                        <a:spcBef>
                          <a:spcPts val="350"/>
                        </a:spcBef>
                      </a:pPr>
                      <a:r>
                        <a:rPr lang="en-US" sz="1400" spc="-10" dirty="0"/>
                        <a:t>20221CSE0211</a:t>
                      </a:r>
                      <a:endParaRPr sz="1400" dirty="0">
                        <a:latin typeface="Arial MT"/>
                        <a:cs typeface="Arial MT"/>
                      </a:endParaRPr>
                    </a:p>
                  </a:txBody>
                  <a:tcPr marL="0" marR="0" marT="44450" marB="0"/>
                </a:tc>
                <a:tc>
                  <a:txBody>
                    <a:bodyPr/>
                    <a:lstStyle/>
                    <a:p>
                      <a:pPr marL="1270" algn="ctr">
                        <a:lnSpc>
                          <a:spcPct val="100000"/>
                        </a:lnSpc>
                        <a:spcBef>
                          <a:spcPts val="350"/>
                        </a:spcBef>
                      </a:pPr>
                      <a:r>
                        <a:rPr lang="en-US" sz="1400" dirty="0" err="1"/>
                        <a:t>Kambam</a:t>
                      </a:r>
                      <a:r>
                        <a:rPr lang="en-US" sz="1400" dirty="0"/>
                        <a:t> Nithin Kumar Reddy</a:t>
                      </a:r>
                      <a:endParaRPr sz="1400" dirty="0">
                        <a:latin typeface="Arial MT"/>
                        <a:cs typeface="Arial MT"/>
                      </a:endParaRPr>
                    </a:p>
                  </a:txBody>
                  <a:tcPr marL="0" marR="0" marT="44450" marB="0"/>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875881"/>
          </a:xfrm>
          <a:prstGeom prst="rect">
            <a:avLst/>
          </a:prstGeom>
        </p:spPr>
        <p:txBody>
          <a:bodyPr vert="horz" wrap="square" lIns="0" tIns="13970" rIns="0" bIns="0" rtlCol="0">
            <a:spAutoFit/>
          </a:bodyPr>
          <a:lstStyle/>
          <a:p>
            <a:pPr marL="12700">
              <a:lnSpc>
                <a:spcPct val="100000"/>
              </a:lnSpc>
              <a:spcBef>
                <a:spcPts val="110"/>
              </a:spcBef>
            </a:pPr>
            <a:r>
              <a:rPr lang="en-IN" spc="-10" dirty="0"/>
              <a:t>Concentrate On These </a:t>
            </a:r>
            <a:br>
              <a:rPr lang="en-IN" spc="-10" dirty="0"/>
            </a:br>
            <a:endParaRPr spc="-10" dirty="0"/>
          </a:p>
        </p:txBody>
      </p:sp>
      <p:sp>
        <p:nvSpPr>
          <p:cNvPr id="3" name="object 3"/>
          <p:cNvSpPr txBox="1"/>
          <p:nvPr/>
        </p:nvSpPr>
        <p:spPr>
          <a:xfrm>
            <a:off x="762000" y="1371600"/>
            <a:ext cx="10361930" cy="1942070"/>
          </a:xfrm>
          <a:prstGeom prst="rect">
            <a:avLst/>
          </a:prstGeom>
        </p:spPr>
        <p:txBody>
          <a:bodyPr vert="horz" wrap="square" lIns="0" tIns="12065" rIns="0" bIns="0" rtlCol="0">
            <a:spAutoFit/>
          </a:bodyPr>
          <a:lstStyle/>
          <a:p>
            <a:pPr marL="355600" marR="5080" indent="-342900">
              <a:lnSpc>
                <a:spcPct val="200599"/>
              </a:lnSpc>
              <a:buSzPct val="109090"/>
              <a:buFont typeface="Wingdings"/>
              <a:buChar char=""/>
              <a:tabLst>
                <a:tab pos="355600" algn="l"/>
              </a:tabLst>
            </a:pPr>
            <a:r>
              <a:rPr lang="en-US" sz="2200" dirty="0">
                <a:latin typeface="Verdana"/>
                <a:cs typeface="Verdana"/>
              </a:rPr>
              <a:t>80</a:t>
            </a:r>
            <a:r>
              <a:rPr sz="2200" dirty="0">
                <a:latin typeface="Verdana"/>
                <a:cs typeface="Verdana"/>
              </a:rPr>
              <a:t>%</a:t>
            </a:r>
            <a:r>
              <a:rPr sz="2200" spc="315" dirty="0">
                <a:latin typeface="Verdana"/>
                <a:cs typeface="Verdana"/>
              </a:rPr>
              <a:t> </a:t>
            </a:r>
            <a:r>
              <a:rPr sz="2200" dirty="0">
                <a:latin typeface="Verdana"/>
                <a:cs typeface="Verdana"/>
              </a:rPr>
              <a:t>Report</a:t>
            </a:r>
            <a:r>
              <a:rPr sz="2200" spc="300" dirty="0">
                <a:latin typeface="Verdana"/>
                <a:cs typeface="Verdana"/>
              </a:rPr>
              <a:t> </a:t>
            </a:r>
            <a:r>
              <a:rPr sz="2200" dirty="0">
                <a:latin typeface="Verdana"/>
                <a:cs typeface="Verdana"/>
              </a:rPr>
              <a:t>Softcopy</a:t>
            </a:r>
            <a:r>
              <a:rPr sz="2200" spc="340" dirty="0">
                <a:latin typeface="Verdana"/>
                <a:cs typeface="Verdana"/>
              </a:rPr>
              <a:t> </a:t>
            </a:r>
            <a:r>
              <a:rPr sz="2200" spc="-10" dirty="0">
                <a:latin typeface="Verdana"/>
                <a:cs typeface="Verdana"/>
              </a:rPr>
              <a:t>Submission-</a:t>
            </a:r>
            <a:r>
              <a:rPr sz="2200" dirty="0">
                <a:latin typeface="Verdana"/>
                <a:cs typeface="Verdana"/>
              </a:rPr>
              <a:t>Draft</a:t>
            </a:r>
            <a:r>
              <a:rPr sz="2200" spc="305" dirty="0">
                <a:latin typeface="Verdana"/>
                <a:cs typeface="Verdana"/>
              </a:rPr>
              <a:t> </a:t>
            </a:r>
            <a:r>
              <a:rPr sz="2200" dirty="0">
                <a:latin typeface="Verdana"/>
                <a:cs typeface="Verdana"/>
              </a:rPr>
              <a:t>(Abstract,</a:t>
            </a:r>
            <a:r>
              <a:rPr sz="2200" spc="305" dirty="0">
                <a:latin typeface="Verdana"/>
                <a:cs typeface="Verdana"/>
              </a:rPr>
              <a:t> </a:t>
            </a:r>
            <a:r>
              <a:rPr sz="2200" dirty="0">
                <a:latin typeface="Verdana"/>
                <a:cs typeface="Verdana"/>
              </a:rPr>
              <a:t>Literature</a:t>
            </a:r>
            <a:r>
              <a:rPr sz="2200" spc="335" dirty="0">
                <a:latin typeface="Verdana"/>
                <a:cs typeface="Verdana"/>
              </a:rPr>
              <a:t> </a:t>
            </a:r>
            <a:r>
              <a:rPr sz="2200" spc="-10" dirty="0">
                <a:latin typeface="Verdana"/>
                <a:cs typeface="Verdana"/>
              </a:rPr>
              <a:t>Review, </a:t>
            </a:r>
            <a:r>
              <a:rPr sz="2200" dirty="0">
                <a:latin typeface="Verdana"/>
                <a:cs typeface="Verdana"/>
              </a:rPr>
              <a:t>System</a:t>
            </a:r>
            <a:r>
              <a:rPr sz="2200" spc="-20" dirty="0">
                <a:latin typeface="Verdana"/>
                <a:cs typeface="Verdana"/>
              </a:rPr>
              <a:t> </a:t>
            </a:r>
            <a:r>
              <a:rPr sz="2200" dirty="0">
                <a:latin typeface="Verdana"/>
                <a:cs typeface="Verdana"/>
              </a:rPr>
              <a:t>Design.</a:t>
            </a:r>
            <a:r>
              <a:rPr sz="2200" spc="-50" dirty="0">
                <a:latin typeface="Verdana"/>
                <a:cs typeface="Verdana"/>
              </a:rPr>
              <a:t> </a:t>
            </a:r>
            <a:r>
              <a:rPr sz="2200" dirty="0">
                <a:latin typeface="Verdana"/>
                <a:cs typeface="Verdana"/>
              </a:rPr>
              <a:t>Architecture,</a:t>
            </a:r>
            <a:r>
              <a:rPr sz="2200" spc="-70" dirty="0">
                <a:latin typeface="Verdana"/>
                <a:cs typeface="Verdana"/>
              </a:rPr>
              <a:t> </a:t>
            </a:r>
            <a:r>
              <a:rPr sz="2200" dirty="0">
                <a:latin typeface="Verdana"/>
                <a:cs typeface="Verdana"/>
              </a:rPr>
              <a:t>Algorithm</a:t>
            </a:r>
            <a:r>
              <a:rPr sz="2200" spc="-110" dirty="0">
                <a:latin typeface="Verdana"/>
                <a:cs typeface="Verdana"/>
              </a:rPr>
              <a:t> </a:t>
            </a:r>
            <a:r>
              <a:rPr sz="2200" dirty="0">
                <a:latin typeface="Verdana"/>
                <a:cs typeface="Verdana"/>
              </a:rPr>
              <a:t>Details</a:t>
            </a:r>
            <a:r>
              <a:rPr sz="2200" spc="-100" dirty="0">
                <a:latin typeface="Verdana"/>
                <a:cs typeface="Verdana"/>
              </a:rPr>
              <a:t> </a:t>
            </a:r>
            <a:r>
              <a:rPr sz="2200" dirty="0">
                <a:latin typeface="Verdana"/>
                <a:cs typeface="Verdana"/>
              </a:rPr>
              <a:t>Module</a:t>
            </a:r>
            <a:r>
              <a:rPr sz="2200" spc="-50" dirty="0">
                <a:latin typeface="Verdana"/>
                <a:cs typeface="Verdana"/>
              </a:rPr>
              <a:t> </a:t>
            </a:r>
            <a:r>
              <a:rPr sz="2200" spc="-10" dirty="0">
                <a:latin typeface="Verdana"/>
                <a:cs typeface="Verdana"/>
              </a:rPr>
              <a:t>Description)</a:t>
            </a:r>
            <a:endParaRPr lang="en-IN" sz="2200" spc="-10" dirty="0">
              <a:latin typeface="Verdana"/>
              <a:cs typeface="Verdana"/>
            </a:endParaRPr>
          </a:p>
          <a:p>
            <a:pPr marL="355600" marR="5080" indent="-342900">
              <a:lnSpc>
                <a:spcPct val="200599"/>
              </a:lnSpc>
              <a:buSzPct val="109090"/>
              <a:buFont typeface="Wingdings"/>
              <a:buChar char=""/>
              <a:tabLst>
                <a:tab pos="355600" algn="l"/>
              </a:tabLst>
            </a:pPr>
            <a:r>
              <a:rPr lang="en-IN" sz="2200" spc="-10" dirty="0">
                <a:latin typeface="Verdana"/>
                <a:cs typeface="Verdana"/>
              </a:rPr>
              <a:t>100% IEEE paper Should Be Done</a:t>
            </a:r>
            <a:endParaRPr sz="2200" dirty="0">
              <a:latin typeface="Verdana"/>
              <a:cs typeface="Verda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5E3BC-2A87-8954-AEEE-8DB6EAB1CF9E}"/>
              </a:ext>
            </a:extLst>
          </p:cNvPr>
          <p:cNvSpPr>
            <a:spLocks noGrp="1"/>
          </p:cNvSpPr>
          <p:nvPr>
            <p:ph type="title"/>
          </p:nvPr>
        </p:nvSpPr>
        <p:spPr>
          <a:xfrm>
            <a:off x="891946" y="283286"/>
            <a:ext cx="5189855" cy="430887"/>
          </a:xfrm>
        </p:spPr>
        <p:txBody>
          <a:bodyPr/>
          <a:lstStyle/>
          <a:p>
            <a:r>
              <a:rPr lang="en-IN" dirty="0"/>
              <a:t>Content</a:t>
            </a:r>
          </a:p>
        </p:txBody>
      </p:sp>
      <p:sp>
        <p:nvSpPr>
          <p:cNvPr id="3" name="Text Placeholder 2">
            <a:extLst>
              <a:ext uri="{FF2B5EF4-FFF2-40B4-BE49-F238E27FC236}">
                <a16:creationId xmlns:a16="http://schemas.microsoft.com/office/drawing/2014/main" id="{826755B5-C1E1-8DDA-505B-CAEC69813C1B}"/>
              </a:ext>
            </a:extLst>
          </p:cNvPr>
          <p:cNvSpPr>
            <a:spLocks noGrp="1"/>
          </p:cNvSpPr>
          <p:nvPr>
            <p:ph type="body" idx="1"/>
          </p:nvPr>
        </p:nvSpPr>
        <p:spPr>
          <a:xfrm>
            <a:off x="770636" y="1128216"/>
            <a:ext cx="10427970" cy="4555093"/>
          </a:xfrm>
        </p:spPr>
        <p:txBody>
          <a:bodyPr/>
          <a:lstStyle/>
          <a:p>
            <a:pPr marL="285750" indent="-285750">
              <a:buFont typeface="Arial" panose="020B0604020202020204" pitchFamily="34" charset="0"/>
              <a:buChar char="•"/>
            </a:pPr>
            <a:r>
              <a:rPr lang="en-IN" sz="1800" dirty="0"/>
              <a:t>Objectives</a:t>
            </a:r>
          </a:p>
          <a:p>
            <a:pPr marL="285750" indent="-285750">
              <a:buFont typeface="Arial" panose="020B0604020202020204" pitchFamily="34" charset="0"/>
              <a:buChar char="•"/>
            </a:pPr>
            <a:r>
              <a:rPr lang="en-IN" sz="1800" dirty="0"/>
              <a:t>Technology Stack</a:t>
            </a:r>
          </a:p>
          <a:p>
            <a:pPr marL="285750" indent="-285750">
              <a:buFont typeface="Arial" panose="020B0604020202020204" pitchFamily="34" charset="0"/>
              <a:buChar char="•"/>
            </a:pPr>
            <a:r>
              <a:rPr lang="en-IN" sz="1800" dirty="0"/>
              <a:t>System Architecture</a:t>
            </a:r>
          </a:p>
          <a:p>
            <a:pPr marL="285750" indent="-285750">
              <a:buFont typeface="Arial" panose="020B0604020202020204" pitchFamily="34" charset="0"/>
              <a:buChar char="•"/>
            </a:pPr>
            <a:r>
              <a:rPr lang="en-IN" sz="1800" dirty="0"/>
              <a:t>Key Features</a:t>
            </a:r>
          </a:p>
          <a:p>
            <a:pPr marL="285750" indent="-285750">
              <a:buFont typeface="Arial" panose="020B0604020202020204" pitchFamily="34" charset="0"/>
              <a:buChar char="•"/>
            </a:pPr>
            <a:r>
              <a:rPr lang="en-IN" sz="1800" dirty="0"/>
              <a:t>Code Structure</a:t>
            </a:r>
          </a:p>
          <a:p>
            <a:pPr marL="285750" indent="-285750">
              <a:buFont typeface="Arial" panose="020B0604020202020204" pitchFamily="34" charset="0"/>
              <a:buChar char="•"/>
            </a:pPr>
            <a:r>
              <a:rPr lang="en-IN" sz="1800" dirty="0"/>
              <a:t>Database Design</a:t>
            </a:r>
          </a:p>
          <a:p>
            <a:pPr marL="285750" indent="-285750">
              <a:buFont typeface="Arial" panose="020B0604020202020204" pitchFamily="34" charset="0"/>
              <a:buChar char="•"/>
            </a:pPr>
            <a:r>
              <a:rPr lang="en-IN" sz="1800" dirty="0"/>
              <a:t>User Interface</a:t>
            </a:r>
          </a:p>
          <a:p>
            <a:pPr marL="285750" indent="-285750">
              <a:buFont typeface="Arial" panose="020B0604020202020204" pitchFamily="34" charset="0"/>
              <a:buChar char="•"/>
            </a:pPr>
            <a:r>
              <a:rPr lang="en-IN" sz="1800" dirty="0"/>
              <a:t>Results &amp; Performance</a:t>
            </a:r>
          </a:p>
          <a:p>
            <a:pPr marL="285750" indent="-285750">
              <a:buFont typeface="Arial" panose="020B0604020202020204" pitchFamily="34" charset="0"/>
              <a:buChar char="•"/>
            </a:pPr>
            <a:r>
              <a:rPr lang="en-IN" sz="1800" dirty="0"/>
              <a:t>Conclusion</a:t>
            </a:r>
          </a:p>
          <a:p>
            <a:pPr marL="285750" indent="-285750">
              <a:buFont typeface="Arial" panose="020B0604020202020204" pitchFamily="34" charset="0"/>
              <a:buChar char="•"/>
            </a:pPr>
            <a:r>
              <a:rPr lang="en-IN" sz="1800" dirty="0" err="1"/>
              <a:t>Github</a:t>
            </a:r>
            <a:r>
              <a:rPr lang="en-IN" sz="1800" spc="-70" dirty="0"/>
              <a:t> </a:t>
            </a:r>
            <a:r>
              <a:rPr lang="en-IN" sz="1800" spc="-20" dirty="0"/>
              <a:t>Link</a:t>
            </a:r>
          </a:p>
          <a:p>
            <a:pPr marL="285750" indent="-285750">
              <a:buFont typeface="Arial" panose="020B0604020202020204" pitchFamily="34" charset="0"/>
              <a:buChar char="•"/>
            </a:pPr>
            <a:r>
              <a:rPr lang="en-IN" sz="1800" dirty="0"/>
              <a:t>References</a:t>
            </a:r>
            <a:r>
              <a:rPr lang="en-IN" sz="1800" spc="-55" dirty="0"/>
              <a:t> </a:t>
            </a:r>
            <a:r>
              <a:rPr lang="en-IN" sz="1800" dirty="0"/>
              <a:t>(IEEE</a:t>
            </a:r>
            <a:r>
              <a:rPr lang="en-IN" sz="1800" spc="-85" dirty="0"/>
              <a:t> </a:t>
            </a:r>
            <a:r>
              <a:rPr lang="en-IN" sz="1800" dirty="0"/>
              <a:t>Paper</a:t>
            </a:r>
            <a:r>
              <a:rPr lang="en-IN" sz="1800" spc="-80" dirty="0"/>
              <a:t> </a:t>
            </a:r>
            <a:r>
              <a:rPr lang="en-IN" sz="1800" spc="-10" dirty="0"/>
              <a:t>format)</a:t>
            </a:r>
            <a:endParaRPr lang="en-IN" sz="1800" spc="-20" dirty="0"/>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992939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Objectives</a:t>
            </a:r>
          </a:p>
        </p:txBody>
      </p:sp>
      <p:sp>
        <p:nvSpPr>
          <p:cNvPr id="3" name="Rectangle 1">
            <a:extLst>
              <a:ext uri="{FF2B5EF4-FFF2-40B4-BE49-F238E27FC236}">
                <a16:creationId xmlns:a16="http://schemas.microsoft.com/office/drawing/2014/main" id="{7CF4783C-3CF8-F0D1-0BEB-16ECCEEFAE8B}"/>
              </a:ext>
            </a:extLst>
          </p:cNvPr>
          <p:cNvSpPr>
            <a:spLocks noChangeArrowheads="1"/>
          </p:cNvSpPr>
          <p:nvPr/>
        </p:nvSpPr>
        <p:spPr bwMode="auto">
          <a:xfrm>
            <a:off x="609600" y="785542"/>
            <a:ext cx="1196340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Develop an </a:t>
            </a:r>
            <a:r>
              <a:rPr kumimoji="0" lang="en-US" altLang="en-US" sz="2000" b="1" i="0" u="none" strike="noStrike" cap="none" normalizeH="0" baseline="0" dirty="0">
                <a:ln>
                  <a:noFill/>
                </a:ln>
                <a:solidFill>
                  <a:schemeClr val="tx1"/>
                </a:solidFill>
                <a:effectLst/>
                <a:latin typeface="Arial" panose="020B0604020202020204" pitchFamily="34" charset="0"/>
              </a:rPr>
              <a:t>AI-based traffic congestion prediction system</a:t>
            </a:r>
            <a:r>
              <a:rPr kumimoji="0" lang="en-US" altLang="en-US" sz="2000" b="0" i="0" u="none" strike="noStrike" cap="none" normalizeH="0" baseline="0" dirty="0">
                <a:ln>
                  <a:noFill/>
                </a:ln>
                <a:solidFill>
                  <a:schemeClr val="tx1"/>
                </a:solidFill>
                <a:effectLst/>
                <a:latin typeface="Arial" panose="020B0604020202020204" pitchFamily="34" charset="0"/>
              </a:rPr>
              <a:t> using machine learning.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Implement </a:t>
            </a:r>
            <a:r>
              <a:rPr kumimoji="0" lang="en-US" altLang="en-US" sz="2000" b="1" i="0" u="none" strike="noStrike" cap="none" normalizeH="0" baseline="0" dirty="0">
                <a:ln>
                  <a:noFill/>
                </a:ln>
                <a:solidFill>
                  <a:schemeClr val="tx1"/>
                </a:solidFill>
                <a:effectLst/>
                <a:latin typeface="Arial" panose="020B0604020202020204" pitchFamily="34" charset="0"/>
              </a:rPr>
              <a:t>smart parking detection</a:t>
            </a:r>
            <a:r>
              <a:rPr kumimoji="0" lang="en-US" altLang="en-US" sz="2000" b="0" i="0" u="none" strike="noStrike" cap="none" normalizeH="0" baseline="0" dirty="0">
                <a:ln>
                  <a:noFill/>
                </a:ln>
                <a:solidFill>
                  <a:schemeClr val="tx1"/>
                </a:solidFill>
                <a:effectLst/>
                <a:latin typeface="Arial" panose="020B0604020202020204" pitchFamily="34" charset="0"/>
              </a:rPr>
              <a:t> using computer vision techniques.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Improve </a:t>
            </a:r>
            <a:r>
              <a:rPr kumimoji="0" lang="en-US" altLang="en-US" sz="2000" b="1" i="0" u="none" strike="noStrike" cap="none" normalizeH="0" baseline="0" dirty="0">
                <a:ln>
                  <a:noFill/>
                </a:ln>
                <a:solidFill>
                  <a:schemeClr val="tx1"/>
                </a:solidFill>
                <a:effectLst/>
                <a:latin typeface="Arial" panose="020B0604020202020204" pitchFamily="34" charset="0"/>
              </a:rPr>
              <a:t>traffic signal control</a:t>
            </a:r>
            <a:r>
              <a:rPr kumimoji="0" lang="en-US" altLang="en-US" sz="2000" b="0" i="0" u="none" strike="noStrike" cap="none" normalizeH="0" baseline="0" dirty="0">
                <a:ln>
                  <a:noFill/>
                </a:ln>
                <a:solidFill>
                  <a:schemeClr val="tx1"/>
                </a:solidFill>
                <a:effectLst/>
                <a:latin typeface="Arial" panose="020B0604020202020204" pitchFamily="34" charset="0"/>
              </a:rPr>
              <a:t> through intelligent congestion analysis.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Provide </a:t>
            </a:r>
            <a:r>
              <a:rPr kumimoji="0" lang="en-US" altLang="en-US" sz="2000" b="1" i="0" u="none" strike="noStrike" cap="none" normalizeH="0" baseline="0" dirty="0">
                <a:ln>
                  <a:noFill/>
                </a:ln>
                <a:solidFill>
                  <a:schemeClr val="tx1"/>
                </a:solidFill>
                <a:effectLst/>
                <a:latin typeface="Arial" panose="020B0604020202020204" pitchFamily="34" charset="0"/>
              </a:rPr>
              <a:t>real-time traffic updates and parking availability</a:t>
            </a:r>
            <a:r>
              <a:rPr kumimoji="0" lang="en-US" altLang="en-US" sz="2000" b="0" i="0" u="none" strike="noStrike" cap="none" normalizeH="0" baseline="0" dirty="0">
                <a:ln>
                  <a:noFill/>
                </a:ln>
                <a:solidFill>
                  <a:schemeClr val="tx1"/>
                </a:solidFill>
                <a:effectLst/>
                <a:latin typeface="Arial" panose="020B0604020202020204" pitchFamily="34" charset="0"/>
              </a:rPr>
              <a:t> to users.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Support </a:t>
            </a:r>
            <a:r>
              <a:rPr kumimoji="0" lang="en-US" altLang="en-US" sz="2000" b="1" i="0" u="none" strike="noStrike" cap="none" normalizeH="0" baseline="0" dirty="0">
                <a:ln>
                  <a:noFill/>
                </a:ln>
                <a:solidFill>
                  <a:schemeClr val="tx1"/>
                </a:solidFill>
                <a:effectLst/>
                <a:latin typeface="Arial" panose="020B0604020202020204" pitchFamily="34" charset="0"/>
              </a:rPr>
              <a:t>emergency vehicle prioritization</a:t>
            </a:r>
            <a:r>
              <a:rPr kumimoji="0" lang="en-US" altLang="en-US" sz="2000" b="0" i="0" u="none" strike="noStrike" cap="none" normalizeH="0" baseline="0" dirty="0">
                <a:ln>
                  <a:noFill/>
                </a:ln>
                <a:solidFill>
                  <a:schemeClr val="tx1"/>
                </a:solidFill>
                <a:effectLst/>
                <a:latin typeface="Arial" panose="020B0604020202020204" pitchFamily="34" charset="0"/>
              </a:rPr>
              <a:t> for faster response.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07B5-5E05-132A-9E6C-35AF27EAAC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4C2D81-9C37-411C-8031-9820C76D82CD}"/>
              </a:ext>
            </a:extLst>
          </p:cNvPr>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Technology Stack</a:t>
            </a:r>
          </a:p>
        </p:txBody>
      </p:sp>
      <p:sp>
        <p:nvSpPr>
          <p:cNvPr id="3" name="Rectangle 1">
            <a:extLst>
              <a:ext uri="{FF2B5EF4-FFF2-40B4-BE49-F238E27FC236}">
                <a16:creationId xmlns:a16="http://schemas.microsoft.com/office/drawing/2014/main" id="{93250D25-0219-A8E6-3BA0-C435324499CD}"/>
              </a:ext>
            </a:extLst>
          </p:cNvPr>
          <p:cNvSpPr>
            <a:spLocks noChangeArrowheads="1"/>
          </p:cNvSpPr>
          <p:nvPr/>
        </p:nvSpPr>
        <p:spPr bwMode="auto">
          <a:xfrm>
            <a:off x="685800" y="1066800"/>
            <a:ext cx="43434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IN" sz="2000" b="1" dirty="0"/>
              <a:t>Programming &amp; Framework</a:t>
            </a:r>
            <a:endParaRPr lang="en-IN" sz="2000" dirty="0"/>
          </a:p>
          <a:p>
            <a:r>
              <a:rPr lang="en-IN" sz="2000" dirty="0"/>
              <a:t>     Python </a:t>
            </a:r>
          </a:p>
          <a:p>
            <a:r>
              <a:rPr lang="en-IN" sz="2000" dirty="0"/>
              <a:t>     Flask (Web Framework) </a:t>
            </a:r>
          </a:p>
          <a:p>
            <a:pPr marL="342900" indent="-342900">
              <a:buFont typeface="Arial" panose="020B0604020202020204" pitchFamily="34" charset="0"/>
              <a:buChar char="•"/>
            </a:pPr>
            <a:r>
              <a:rPr lang="en-IN" sz="2000" b="1" dirty="0"/>
              <a:t>Machine Learning</a:t>
            </a:r>
            <a:endParaRPr lang="en-IN" sz="2000" dirty="0"/>
          </a:p>
          <a:p>
            <a:r>
              <a:rPr lang="en-IN" sz="2000" dirty="0"/>
              <a:t>     Random Forest Algorithm </a:t>
            </a:r>
          </a:p>
          <a:p>
            <a:r>
              <a:rPr lang="en-IN" sz="2000" dirty="0"/>
              <a:t>     Scikit-learn, NumPy, Pandas </a:t>
            </a:r>
          </a:p>
          <a:p>
            <a:pPr marL="342900" indent="-342900">
              <a:buFont typeface="Arial" panose="020B0604020202020204" pitchFamily="34" charset="0"/>
              <a:buChar char="•"/>
            </a:pPr>
            <a:r>
              <a:rPr lang="en-IN" sz="2000" b="1" dirty="0"/>
              <a:t>Computer Vision</a:t>
            </a:r>
            <a:endParaRPr lang="en-IN" sz="2000" dirty="0"/>
          </a:p>
          <a:p>
            <a:r>
              <a:rPr lang="en-IN" sz="2000" dirty="0"/>
              <a:t>     OpenCV </a:t>
            </a:r>
          </a:p>
          <a:p>
            <a:pPr marL="342900" indent="-342900">
              <a:buFont typeface="Arial" panose="020B0604020202020204" pitchFamily="34" charset="0"/>
              <a:buChar char="•"/>
            </a:pPr>
            <a:r>
              <a:rPr lang="en-IN" sz="2000" b="1" dirty="0"/>
              <a:t>Frontend</a:t>
            </a:r>
            <a:endParaRPr lang="en-IN" sz="2000" dirty="0"/>
          </a:p>
          <a:p>
            <a:r>
              <a:rPr lang="en-IN" sz="2000" dirty="0"/>
              <a:t>     HTML, CSS, JavaScript </a:t>
            </a:r>
          </a:p>
          <a:p>
            <a:pPr marL="342900" indent="-342900">
              <a:buFont typeface="Arial" panose="020B0604020202020204" pitchFamily="34" charset="0"/>
              <a:buChar char="•"/>
            </a:pPr>
            <a:r>
              <a:rPr lang="en-IN" sz="2000" b="1" dirty="0"/>
              <a:t>Tools</a:t>
            </a:r>
            <a:endParaRPr lang="en-IN" sz="2000" dirty="0"/>
          </a:p>
          <a:p>
            <a:r>
              <a:rPr lang="en-IN" sz="2000" dirty="0"/>
              <a:t>     VS Code, GitHub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8617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System Architecture</a:t>
            </a:r>
          </a:p>
        </p:txBody>
      </p:sp>
      <p:sp>
        <p:nvSpPr>
          <p:cNvPr id="4" name="Rectangle 1">
            <a:extLst>
              <a:ext uri="{FF2B5EF4-FFF2-40B4-BE49-F238E27FC236}">
                <a16:creationId xmlns:a16="http://schemas.microsoft.com/office/drawing/2014/main" id="{300C2045-B24A-5F20-4960-FEAFE162335C}"/>
              </a:ext>
            </a:extLst>
          </p:cNvPr>
          <p:cNvSpPr>
            <a:spLocks noChangeArrowheads="1"/>
          </p:cNvSpPr>
          <p:nvPr/>
        </p:nvSpPr>
        <p:spPr bwMode="auto">
          <a:xfrm>
            <a:off x="304800" y="1018402"/>
            <a:ext cx="7467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collected from </a:t>
            </a:r>
            <a:r>
              <a:rPr kumimoji="0" lang="en-US" altLang="en-US" sz="1800" b="1" i="0" u="none" strike="noStrike" cap="none" normalizeH="0" baseline="0" dirty="0">
                <a:ln>
                  <a:noFill/>
                </a:ln>
                <a:solidFill>
                  <a:schemeClr val="tx1"/>
                </a:solidFill>
                <a:effectLst/>
                <a:latin typeface="Arial" panose="020B0604020202020204" pitchFamily="34" charset="0"/>
              </a:rPr>
              <a:t>IoT sensors, traffic cameras, GPS, and historical datasets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preprocessing and feature extraction in the </a:t>
            </a:r>
            <a:r>
              <a:rPr kumimoji="0" lang="en-US" altLang="en-US" sz="1800" b="1" i="0" u="none" strike="noStrike" cap="none" normalizeH="0" baseline="0" dirty="0">
                <a:ln>
                  <a:noFill/>
                </a:ln>
                <a:solidFill>
                  <a:schemeClr val="tx1"/>
                </a:solidFill>
                <a:effectLst/>
                <a:latin typeface="Arial" panose="020B0604020202020204" pitchFamily="34" charset="0"/>
              </a:rPr>
              <a:t>processing layer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Random Forest model predicts traffic congestion levels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Computer vision module detects available parking slots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Results displayed through </a:t>
            </a:r>
            <a:r>
              <a:rPr kumimoji="0" lang="en-US" altLang="en-US" sz="1800" b="1" i="0" u="none" strike="noStrike" cap="none" normalizeH="0" baseline="0" dirty="0">
                <a:ln>
                  <a:noFill/>
                </a:ln>
                <a:solidFill>
                  <a:schemeClr val="tx1"/>
                </a:solidFill>
                <a:effectLst/>
                <a:latin typeface="Arial" panose="020B0604020202020204" pitchFamily="34" charset="0"/>
              </a:rPr>
              <a:t>user dashboard and admin monitoring interface</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9" name="Picture 8">
            <a:extLst>
              <a:ext uri="{FF2B5EF4-FFF2-40B4-BE49-F238E27FC236}">
                <a16:creationId xmlns:a16="http://schemas.microsoft.com/office/drawing/2014/main" id="{596DCD8E-043E-CB06-DDC0-3957A27317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1000" y="1018402"/>
            <a:ext cx="3597823" cy="50255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Key Features</a:t>
            </a:r>
          </a:p>
        </p:txBody>
      </p:sp>
      <p:sp>
        <p:nvSpPr>
          <p:cNvPr id="5" name="Rectangle 2">
            <a:extLst>
              <a:ext uri="{FF2B5EF4-FFF2-40B4-BE49-F238E27FC236}">
                <a16:creationId xmlns:a16="http://schemas.microsoft.com/office/drawing/2014/main" id="{EF82E265-33E4-2F22-9C7F-348391B9C857}"/>
              </a:ext>
            </a:extLst>
          </p:cNvPr>
          <p:cNvSpPr>
            <a:spLocks noChangeArrowheads="1"/>
          </p:cNvSpPr>
          <p:nvPr/>
        </p:nvSpPr>
        <p:spPr bwMode="auto">
          <a:xfrm>
            <a:off x="609600" y="1051934"/>
            <a:ext cx="710905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Real-time traffic congestion prediction</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Smart parking slot detection</a:t>
            </a:r>
            <a:r>
              <a:rPr kumimoji="0" lang="en-US" altLang="en-US" sz="2000" b="0" i="0" u="none" strike="noStrike" cap="none" normalizeH="0" baseline="0" dirty="0">
                <a:ln>
                  <a:noFill/>
                </a:ln>
                <a:solidFill>
                  <a:schemeClr val="tx1"/>
                </a:solidFill>
                <a:effectLst/>
                <a:latin typeface="Arial" panose="020B0604020202020204" pitchFamily="34" charset="0"/>
              </a:rPr>
              <a:t> using computer vision.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Dynamic traffic signal optimization</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Emergency vehicle routing and signal priority</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Real-time monitoring through dashboard interface</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91946" y="283286"/>
            <a:ext cx="5189855" cy="444994"/>
          </a:xfrm>
          <a:prstGeom prst="rect">
            <a:avLst/>
          </a:prstGeom>
        </p:spPr>
        <p:txBody>
          <a:bodyPr vert="horz" wrap="square" lIns="0" tIns="13970" rIns="0" bIns="0" rtlCol="0">
            <a:spAutoFit/>
          </a:bodyPr>
          <a:lstStyle/>
          <a:p>
            <a:r>
              <a:rPr lang="en-IN" dirty="0"/>
              <a:t>Code Structure</a:t>
            </a:r>
          </a:p>
        </p:txBody>
      </p:sp>
      <p:sp>
        <p:nvSpPr>
          <p:cNvPr id="2" name="Rectangle 1">
            <a:extLst>
              <a:ext uri="{FF2B5EF4-FFF2-40B4-BE49-F238E27FC236}">
                <a16:creationId xmlns:a16="http://schemas.microsoft.com/office/drawing/2014/main" id="{FC52B50C-A135-4EBC-AD27-F8EE4EC5BD16}"/>
              </a:ext>
            </a:extLst>
          </p:cNvPr>
          <p:cNvSpPr>
            <a:spLocks noChangeArrowheads="1"/>
          </p:cNvSpPr>
          <p:nvPr/>
        </p:nvSpPr>
        <p:spPr bwMode="auto">
          <a:xfrm>
            <a:off x="609600" y="990600"/>
            <a:ext cx="7760458"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IN" sz="2000" b="1" dirty="0"/>
              <a:t>Main File</a:t>
            </a:r>
            <a:endParaRPr lang="en-IN" sz="2000" dirty="0"/>
          </a:p>
          <a:p>
            <a:r>
              <a:rPr lang="en-IN" sz="2000" dirty="0"/>
              <a:t>Project.py – Contains routes, ML model loading, and system logic. </a:t>
            </a:r>
          </a:p>
          <a:p>
            <a:pPr marL="342900" indent="-342900">
              <a:buFont typeface="Arial" panose="020B0604020202020204" pitchFamily="34" charset="0"/>
              <a:buChar char="•"/>
            </a:pPr>
            <a:r>
              <a:rPr lang="en-IN" sz="2000" b="1" dirty="0"/>
              <a:t>Flask Routes</a:t>
            </a:r>
            <a:endParaRPr lang="en-IN" sz="2000" dirty="0"/>
          </a:p>
          <a:p>
            <a:r>
              <a:rPr lang="en-IN" sz="2000" dirty="0"/>
              <a:t>/register, /login, /logout – user management </a:t>
            </a:r>
          </a:p>
          <a:p>
            <a:r>
              <a:rPr lang="en-IN" sz="2000" dirty="0"/>
              <a:t>/ – main dashboard </a:t>
            </a:r>
          </a:p>
          <a:p>
            <a:r>
              <a:rPr lang="en-IN" sz="2000" dirty="0"/>
              <a:t>/predict – traffic congestion prediction </a:t>
            </a:r>
          </a:p>
          <a:p>
            <a:r>
              <a:rPr lang="en-IN" sz="2000" dirty="0"/>
              <a:t>/</a:t>
            </a:r>
            <a:r>
              <a:rPr lang="en-IN" sz="2000" dirty="0" err="1"/>
              <a:t>parking_status</a:t>
            </a:r>
            <a:r>
              <a:rPr lang="en-IN" sz="2000" dirty="0"/>
              <a:t> – parking slot detection </a:t>
            </a:r>
          </a:p>
          <a:p>
            <a:pPr marL="342900" indent="-342900">
              <a:buFont typeface="Arial" panose="020B0604020202020204" pitchFamily="34" charset="0"/>
              <a:buChar char="•"/>
            </a:pPr>
            <a:r>
              <a:rPr lang="en-IN" sz="2000" b="1" dirty="0"/>
              <a:t>Core Functions</a:t>
            </a:r>
            <a:endParaRPr lang="en-IN" sz="2000" dirty="0"/>
          </a:p>
          <a:p>
            <a:r>
              <a:rPr lang="en-IN" sz="2000" dirty="0" err="1"/>
              <a:t>predict_congestion</a:t>
            </a:r>
            <a:r>
              <a:rPr lang="en-IN" sz="2000" dirty="0"/>
              <a:t>() </a:t>
            </a:r>
          </a:p>
          <a:p>
            <a:r>
              <a:rPr lang="en-IN" sz="2000" dirty="0" err="1"/>
              <a:t>detect_parking_slots</a:t>
            </a:r>
            <a:r>
              <a:rPr lang="en-IN" sz="2000" dirty="0"/>
              <a:t>() </a:t>
            </a:r>
          </a:p>
          <a:p>
            <a:r>
              <a:rPr lang="en-IN" sz="2000" dirty="0" err="1"/>
              <a:t>optimize_signal</a:t>
            </a:r>
            <a:r>
              <a:rPr lang="en-IN" sz="20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0329AD-B122-9C40-5CD1-F915F44F3496}"/>
              </a:ext>
            </a:extLst>
          </p:cNvPr>
          <p:cNvSpPr txBox="1"/>
          <p:nvPr/>
        </p:nvSpPr>
        <p:spPr>
          <a:xfrm>
            <a:off x="685800" y="457200"/>
            <a:ext cx="7315200" cy="461665"/>
          </a:xfrm>
          <a:prstGeom prst="rect">
            <a:avLst/>
          </a:prstGeom>
          <a:noFill/>
        </p:spPr>
        <p:txBody>
          <a:bodyPr wrap="square">
            <a:spAutoFit/>
          </a:bodyPr>
          <a:lstStyle/>
          <a:p>
            <a:r>
              <a:rPr lang="en-IN" sz="2400" b="1" dirty="0"/>
              <a:t>Database Design</a:t>
            </a:r>
          </a:p>
        </p:txBody>
      </p:sp>
      <p:sp>
        <p:nvSpPr>
          <p:cNvPr id="5" name="TextBox 4">
            <a:extLst>
              <a:ext uri="{FF2B5EF4-FFF2-40B4-BE49-F238E27FC236}">
                <a16:creationId xmlns:a16="http://schemas.microsoft.com/office/drawing/2014/main" id="{6B1E52E2-309F-405A-4D73-2F503C1C5E41}"/>
              </a:ext>
            </a:extLst>
          </p:cNvPr>
          <p:cNvSpPr txBox="1"/>
          <p:nvPr/>
        </p:nvSpPr>
        <p:spPr>
          <a:xfrm>
            <a:off x="381000" y="990600"/>
            <a:ext cx="9296400" cy="2862322"/>
          </a:xfrm>
          <a:prstGeom prst="rect">
            <a:avLst/>
          </a:prstGeom>
          <a:noFill/>
        </p:spPr>
        <p:txBody>
          <a:bodyPr wrap="square">
            <a:spAutoFit/>
          </a:bodyPr>
          <a:lstStyle/>
          <a:p>
            <a:pPr marL="342900" indent="-342900">
              <a:buFont typeface="Arial" panose="020B0604020202020204" pitchFamily="34" charset="0"/>
              <a:buChar char="•"/>
            </a:pPr>
            <a:r>
              <a:rPr lang="en-US" sz="2000" dirty="0"/>
              <a:t>The system database stores </a:t>
            </a:r>
            <a:r>
              <a:rPr lang="en-US" sz="2000" b="1" dirty="0"/>
              <a:t>traffic data, user information, and prediction history</a:t>
            </a:r>
            <a:r>
              <a:rPr lang="en-US" sz="2000" dirty="0"/>
              <a:t>.</a:t>
            </a:r>
          </a:p>
          <a:p>
            <a:pPr marL="342900" indent="-342900">
              <a:buFont typeface="Arial" panose="020B0604020202020204" pitchFamily="34" charset="0"/>
              <a:buChar char="•"/>
            </a:pPr>
            <a:r>
              <a:rPr lang="en-US" sz="2000" b="1" dirty="0"/>
              <a:t>Tables / Collections</a:t>
            </a:r>
            <a:endParaRPr lang="en-US" sz="2000" dirty="0"/>
          </a:p>
          <a:p>
            <a:r>
              <a:rPr lang="en-US" sz="2000" b="1" dirty="0"/>
              <a:t>     1. Users</a:t>
            </a:r>
            <a:r>
              <a:rPr lang="en-US" sz="2000" dirty="0"/>
              <a:t> – login credentials and profile information </a:t>
            </a:r>
          </a:p>
          <a:p>
            <a:r>
              <a:rPr lang="en-US" sz="2000" b="1" dirty="0"/>
              <a:t>     2.Traffic Data</a:t>
            </a:r>
            <a:r>
              <a:rPr lang="en-US" sz="2000" dirty="0"/>
              <a:t> – vehicle count, speed, queue length </a:t>
            </a:r>
          </a:p>
          <a:p>
            <a:r>
              <a:rPr lang="en-US" sz="2000" b="1" dirty="0"/>
              <a:t>     3. Parking Status</a:t>
            </a:r>
            <a:r>
              <a:rPr lang="en-US" sz="2000" dirty="0"/>
              <a:t> – slot availability and occupancy </a:t>
            </a:r>
          </a:p>
          <a:p>
            <a:r>
              <a:rPr lang="en-US" sz="2000" b="1" dirty="0"/>
              <a:t>     4. Prediction History</a:t>
            </a:r>
            <a:r>
              <a:rPr lang="en-US" sz="2000" dirty="0"/>
              <a:t> – previous traffic predictions and  analysis results </a:t>
            </a:r>
          </a:p>
          <a:p>
            <a:pPr marL="342900" indent="-342900">
              <a:buFont typeface="Arial" panose="020B0604020202020204" pitchFamily="34" charset="0"/>
              <a:buChar char="•"/>
            </a:pPr>
            <a:r>
              <a:rPr lang="en-US" sz="2000" dirty="0"/>
              <a:t>This structure supports </a:t>
            </a:r>
            <a:r>
              <a:rPr lang="en-US" sz="2000" b="1" dirty="0"/>
              <a:t>efficient storage and retrieval of real-time traffic data</a:t>
            </a:r>
            <a:r>
              <a:rPr lang="en-US" sz="2000" dirty="0"/>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848F-1A89-C2FE-6F63-A91BCD1448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256D6B-9607-770F-BB49-24DEFB80D8A9}"/>
              </a:ext>
            </a:extLst>
          </p:cNvPr>
          <p:cNvSpPr txBox="1"/>
          <p:nvPr/>
        </p:nvSpPr>
        <p:spPr>
          <a:xfrm>
            <a:off x="685800" y="457200"/>
            <a:ext cx="7315200" cy="461665"/>
          </a:xfrm>
          <a:prstGeom prst="rect">
            <a:avLst/>
          </a:prstGeom>
          <a:noFill/>
        </p:spPr>
        <p:txBody>
          <a:bodyPr wrap="square">
            <a:spAutoFit/>
          </a:bodyPr>
          <a:lstStyle/>
          <a:p>
            <a:r>
              <a:rPr lang="en-IN" sz="2400" b="1" dirty="0"/>
              <a:t>User Interface</a:t>
            </a:r>
          </a:p>
        </p:txBody>
      </p:sp>
      <p:sp>
        <p:nvSpPr>
          <p:cNvPr id="2" name="Rectangle 1">
            <a:extLst>
              <a:ext uri="{FF2B5EF4-FFF2-40B4-BE49-F238E27FC236}">
                <a16:creationId xmlns:a16="http://schemas.microsoft.com/office/drawing/2014/main" id="{B8A434A2-29DD-F7D2-7411-82235A67224F}"/>
              </a:ext>
            </a:extLst>
          </p:cNvPr>
          <p:cNvSpPr>
            <a:spLocks noChangeArrowheads="1"/>
          </p:cNvSpPr>
          <p:nvPr/>
        </p:nvSpPr>
        <p:spPr bwMode="auto">
          <a:xfrm>
            <a:off x="533400" y="838200"/>
            <a:ext cx="118872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Interactive </a:t>
            </a:r>
            <a:r>
              <a:rPr kumimoji="0" lang="en-US" altLang="en-US" sz="2000" b="1" i="0" u="none" strike="noStrike" cap="none" normalizeH="0" baseline="0" dirty="0">
                <a:ln>
                  <a:noFill/>
                </a:ln>
                <a:solidFill>
                  <a:schemeClr val="tx1"/>
                </a:solidFill>
                <a:effectLst/>
                <a:latin typeface="Arial" panose="020B0604020202020204" pitchFamily="34" charset="0"/>
              </a:rPr>
              <a:t>dashboard showing traffic conditions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Displays </a:t>
            </a:r>
            <a:r>
              <a:rPr kumimoji="0" lang="en-US" altLang="en-US" sz="2000" b="1" i="0" u="none" strike="noStrike" cap="none" normalizeH="0" baseline="0" dirty="0">
                <a:ln>
                  <a:noFill/>
                </a:ln>
                <a:solidFill>
                  <a:schemeClr val="tx1"/>
                </a:solidFill>
                <a:effectLst/>
                <a:latin typeface="Arial" panose="020B0604020202020204" pitchFamily="34" charset="0"/>
              </a:rPr>
              <a:t>available parking slots in real time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Provides </a:t>
            </a:r>
            <a:r>
              <a:rPr kumimoji="0" lang="en-US" altLang="en-US" sz="2000" b="1" i="0" u="none" strike="noStrike" cap="none" normalizeH="0" baseline="0" dirty="0">
                <a:ln>
                  <a:noFill/>
                </a:ln>
                <a:solidFill>
                  <a:schemeClr val="tx1"/>
                </a:solidFill>
                <a:effectLst/>
                <a:latin typeface="Arial" panose="020B0604020202020204" pitchFamily="34" charset="0"/>
              </a:rPr>
              <a:t>route suggestions based on congestion prediction</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Admin interface for </a:t>
            </a:r>
            <a:r>
              <a:rPr kumimoji="0" lang="en-US" altLang="en-US" sz="2000" b="1" i="0" u="none" strike="noStrike" cap="none" normalizeH="0" baseline="0" dirty="0">
                <a:ln>
                  <a:noFill/>
                </a:ln>
                <a:solidFill>
                  <a:schemeClr val="tx1"/>
                </a:solidFill>
                <a:effectLst/>
                <a:latin typeface="Arial" panose="020B0604020202020204" pitchFamily="34" charset="0"/>
              </a:rPr>
              <a:t>traffic monitoring and parking management</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Designed using </a:t>
            </a:r>
            <a:r>
              <a:rPr kumimoji="0" lang="en-US" altLang="en-US" sz="2000" b="1" i="0" u="none" strike="noStrike" cap="none" normalizeH="0" baseline="0" dirty="0">
                <a:ln>
                  <a:noFill/>
                </a:ln>
                <a:solidFill>
                  <a:schemeClr val="tx1"/>
                </a:solidFill>
                <a:effectLst/>
                <a:latin typeface="Arial" panose="020B0604020202020204" pitchFamily="34" charset="0"/>
              </a:rPr>
              <a:t>HTML, CSS, and JavaScript for responsive interaction</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69754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AA6FE-2905-B17C-D0BF-20431F314A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23744E-B7C0-6736-DEF3-36C0CAD8EBA6}"/>
              </a:ext>
            </a:extLst>
          </p:cNvPr>
          <p:cNvSpPr txBox="1"/>
          <p:nvPr/>
        </p:nvSpPr>
        <p:spPr>
          <a:xfrm>
            <a:off x="685800" y="457200"/>
            <a:ext cx="7315200" cy="461665"/>
          </a:xfrm>
          <a:prstGeom prst="rect">
            <a:avLst/>
          </a:prstGeom>
          <a:noFill/>
        </p:spPr>
        <p:txBody>
          <a:bodyPr wrap="square">
            <a:spAutoFit/>
          </a:bodyPr>
          <a:lstStyle/>
          <a:p>
            <a:r>
              <a:rPr lang="en-IN" sz="2400" b="1" dirty="0"/>
              <a:t> Results &amp; Performance</a:t>
            </a:r>
          </a:p>
        </p:txBody>
      </p:sp>
      <p:sp>
        <p:nvSpPr>
          <p:cNvPr id="2" name="Rectangle 1">
            <a:extLst>
              <a:ext uri="{FF2B5EF4-FFF2-40B4-BE49-F238E27FC236}">
                <a16:creationId xmlns:a16="http://schemas.microsoft.com/office/drawing/2014/main" id="{31A6EFAA-B3F2-3B44-DA12-87D118B0E0BC}"/>
              </a:ext>
            </a:extLst>
          </p:cNvPr>
          <p:cNvSpPr>
            <a:spLocks noChangeArrowheads="1"/>
          </p:cNvSpPr>
          <p:nvPr/>
        </p:nvSpPr>
        <p:spPr bwMode="auto">
          <a:xfrm>
            <a:off x="457200" y="1066800"/>
            <a:ext cx="95249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dirty="0"/>
              <a:t>Improved </a:t>
            </a:r>
            <a:r>
              <a:rPr lang="en-US" sz="2000" b="1" dirty="0"/>
              <a:t>traffic flow efficiency and reduced congestion levels</a:t>
            </a:r>
            <a:r>
              <a:rPr lang="en-US" sz="2000" dirty="0"/>
              <a:t>. </a:t>
            </a:r>
          </a:p>
          <a:p>
            <a:pPr marL="342900" indent="-342900">
              <a:buFont typeface="Arial" panose="020B0604020202020204" pitchFamily="34" charset="0"/>
              <a:buChar char="•"/>
            </a:pPr>
            <a:r>
              <a:rPr lang="en-US" sz="2000" dirty="0"/>
              <a:t>Increase in </a:t>
            </a:r>
            <a:r>
              <a:rPr lang="en-US" sz="2000" b="1" dirty="0"/>
              <a:t>average vehicle speed after system implementation</a:t>
            </a:r>
            <a:r>
              <a:rPr lang="en-US" sz="2000" dirty="0"/>
              <a:t>. </a:t>
            </a:r>
          </a:p>
          <a:p>
            <a:pPr marL="342900" indent="-342900">
              <a:buFont typeface="Arial" panose="020B0604020202020204" pitchFamily="34" charset="0"/>
              <a:buChar char="•"/>
            </a:pPr>
            <a:r>
              <a:rPr lang="en-US" sz="2000" dirty="0"/>
              <a:t>Reduction in </a:t>
            </a:r>
            <a:r>
              <a:rPr lang="en-US" sz="2000" b="1" dirty="0"/>
              <a:t>vehicle queue length at intersections</a:t>
            </a:r>
            <a:r>
              <a:rPr lang="en-US" sz="2000" dirty="0"/>
              <a:t>. </a:t>
            </a:r>
          </a:p>
          <a:p>
            <a:pPr marL="342900" indent="-342900">
              <a:buFont typeface="Arial" panose="020B0604020202020204" pitchFamily="34" charset="0"/>
              <a:buChar char="•"/>
            </a:pPr>
            <a:r>
              <a:rPr lang="en-US" sz="2000" dirty="0"/>
              <a:t>Decrease in </a:t>
            </a:r>
            <a:r>
              <a:rPr lang="en-US" sz="2000" b="1" dirty="0"/>
              <a:t>CO₂ emissions due to optimized traffic flow</a:t>
            </a:r>
            <a:r>
              <a:rPr lang="en-US" sz="2000" dirty="0"/>
              <a:t>. </a:t>
            </a:r>
          </a:p>
          <a:p>
            <a:pPr marL="342900" indent="-342900">
              <a:buFont typeface="Arial" panose="020B0604020202020204" pitchFamily="34" charset="0"/>
              <a:buChar char="•"/>
            </a:pPr>
            <a:r>
              <a:rPr lang="en-US" sz="2000" dirty="0"/>
              <a:t>Machine learning model achieved </a:t>
            </a:r>
            <a:r>
              <a:rPr lang="en-US" sz="2000" b="1" dirty="0"/>
              <a:t>high prediction accuracy for congestion detection</a:t>
            </a:r>
            <a:r>
              <a:rPr lang="en-US" sz="2000" dirty="0"/>
              <a:t>. </a:t>
            </a:r>
          </a:p>
        </p:txBody>
      </p:sp>
    </p:spTree>
    <p:extLst>
      <p:ext uri="{BB962C8B-B14F-4D97-AF65-F5344CB8AC3E}">
        <p14:creationId xmlns:p14="http://schemas.microsoft.com/office/powerpoint/2010/main" val="1780852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5DA6-0A8A-E620-A8DD-7575740B9B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559C6C-A0D7-60F9-429F-D203563C7D2E}"/>
              </a:ext>
            </a:extLst>
          </p:cNvPr>
          <p:cNvSpPr txBox="1"/>
          <p:nvPr/>
        </p:nvSpPr>
        <p:spPr>
          <a:xfrm>
            <a:off x="685800" y="457200"/>
            <a:ext cx="7315200" cy="461665"/>
          </a:xfrm>
          <a:prstGeom prst="rect">
            <a:avLst/>
          </a:prstGeom>
          <a:noFill/>
        </p:spPr>
        <p:txBody>
          <a:bodyPr wrap="square">
            <a:spAutoFit/>
          </a:bodyPr>
          <a:lstStyle/>
          <a:p>
            <a:r>
              <a:rPr lang="en-IN" sz="2400" b="1" dirty="0"/>
              <a:t>Conclusion</a:t>
            </a:r>
          </a:p>
        </p:txBody>
      </p:sp>
      <p:sp>
        <p:nvSpPr>
          <p:cNvPr id="2" name="Rectangle 1">
            <a:extLst>
              <a:ext uri="{FF2B5EF4-FFF2-40B4-BE49-F238E27FC236}">
                <a16:creationId xmlns:a16="http://schemas.microsoft.com/office/drawing/2014/main" id="{FB05A670-0444-D379-407F-10F63B10F1A6}"/>
              </a:ext>
            </a:extLst>
          </p:cNvPr>
          <p:cNvSpPr>
            <a:spLocks noChangeArrowheads="1"/>
          </p:cNvSpPr>
          <p:nvPr/>
        </p:nvSpPr>
        <p:spPr bwMode="auto">
          <a:xfrm>
            <a:off x="457200" y="1143000"/>
            <a:ext cx="9448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The proposed </a:t>
            </a:r>
            <a:r>
              <a:rPr lang="en-US" sz="2000" b="1" dirty="0"/>
              <a:t>Smart AI-Based Traffic and Parking Management System</a:t>
            </a:r>
            <a:r>
              <a:rPr lang="en-US" sz="2000" dirty="0"/>
              <a:t> provides an intelligent solution for urban traffic challenges. By integrating machine learning and computer vision techniques, the system improves traffic prediction accuracy, optimizes signal control, and enhances parking utilization. The results demonstrate its potential to support </a:t>
            </a:r>
            <a:r>
              <a:rPr lang="en-US" sz="2000" b="1" dirty="0"/>
              <a:t>efficient transportation management and smart city infrastructure</a:t>
            </a:r>
            <a:r>
              <a:rPr lang="en-US" sz="2000"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6604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93217" rIns="0" bIns="0" rtlCol="0">
            <a:spAutoFit/>
          </a:bodyPr>
          <a:lstStyle/>
          <a:p>
            <a:pPr marL="163195">
              <a:lnSpc>
                <a:spcPct val="100000"/>
              </a:lnSpc>
              <a:spcBef>
                <a:spcPts val="110"/>
              </a:spcBef>
            </a:pPr>
            <a:r>
              <a:rPr dirty="0"/>
              <a:t>Github</a:t>
            </a:r>
            <a:r>
              <a:rPr spc="-70" dirty="0"/>
              <a:t> </a:t>
            </a:r>
            <a:r>
              <a:rPr spc="-20" dirty="0"/>
              <a:t>Link</a:t>
            </a:r>
          </a:p>
        </p:txBody>
      </p:sp>
      <p:sp>
        <p:nvSpPr>
          <p:cNvPr id="6" name="object 6"/>
          <p:cNvSpPr txBox="1"/>
          <p:nvPr/>
        </p:nvSpPr>
        <p:spPr>
          <a:xfrm>
            <a:off x="609600" y="1066800"/>
            <a:ext cx="11049000" cy="3338735"/>
          </a:xfrm>
          <a:prstGeom prst="rect">
            <a:avLst/>
          </a:prstGeom>
        </p:spPr>
        <p:txBody>
          <a:bodyPr vert="horz" wrap="square" lIns="0" tIns="14605" rIns="0" bIns="0" rtlCol="0">
            <a:spAutoFit/>
          </a:bodyPr>
          <a:lstStyle/>
          <a:p>
            <a:r>
              <a:rPr lang="fr-FR" sz="2400" b="1" dirty="0"/>
              <a:t>Project Source Code:</a:t>
            </a:r>
          </a:p>
          <a:p>
            <a:pPr marL="558900" indent="-342900">
              <a:buFont typeface="Arial" panose="020B0604020202020204" pitchFamily="34" charset="0"/>
              <a:buChar char="•"/>
            </a:pPr>
            <a:r>
              <a:rPr lang="fr-FR" sz="2400" b="1" dirty="0"/>
              <a:t>GitHub Repository</a:t>
            </a:r>
            <a:br>
              <a:rPr lang="fr-FR" sz="2400" dirty="0"/>
            </a:br>
            <a:r>
              <a:rPr lang="fr-FR" sz="2400" dirty="0">
                <a:hlinkClick r:id="rId2"/>
              </a:rPr>
              <a:t>https://github.com/SThousif/Smart-Traffic-Management-System-for-Urban-Congestion </a:t>
            </a:r>
            <a:endParaRPr lang="fr-FR" sz="2400" dirty="0"/>
          </a:p>
          <a:p>
            <a:pPr marL="558900" indent="-342900">
              <a:buFont typeface="Arial" panose="020B0604020202020204" pitchFamily="34" charset="0"/>
              <a:buChar char="•"/>
            </a:pPr>
            <a:r>
              <a:rPr lang="fr-FR" sz="2400" b="1" dirty="0"/>
              <a:t>Includes:</a:t>
            </a:r>
          </a:p>
          <a:p>
            <a:pPr marL="216000"/>
            <a:r>
              <a:rPr lang="fr-FR" sz="2400" dirty="0"/>
              <a:t>    Source code </a:t>
            </a:r>
          </a:p>
          <a:p>
            <a:pPr marL="216000"/>
            <a:r>
              <a:rPr lang="fr-FR" sz="2400" dirty="0"/>
              <a:t>    Dataset </a:t>
            </a:r>
          </a:p>
          <a:p>
            <a:pPr marL="216000"/>
            <a:r>
              <a:rPr lang="fr-FR" sz="2400" dirty="0"/>
              <a:t>    Model files </a:t>
            </a:r>
          </a:p>
          <a:p>
            <a:pPr marL="216000"/>
            <a:r>
              <a:rPr lang="fr-FR" sz="2400" dirty="0"/>
              <a:t>    Documentation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References</a:t>
            </a:r>
            <a:r>
              <a:rPr spc="-55" dirty="0"/>
              <a:t> </a:t>
            </a:r>
            <a:r>
              <a:rPr dirty="0"/>
              <a:t>(IEEE</a:t>
            </a:r>
            <a:r>
              <a:rPr spc="-85" dirty="0"/>
              <a:t> </a:t>
            </a:r>
            <a:r>
              <a:rPr dirty="0"/>
              <a:t>Paper</a:t>
            </a:r>
            <a:r>
              <a:rPr spc="-80" dirty="0"/>
              <a:t> </a:t>
            </a:r>
            <a:r>
              <a:rPr spc="-10" dirty="0"/>
              <a:t>format)</a:t>
            </a:r>
          </a:p>
        </p:txBody>
      </p:sp>
      <p:sp>
        <p:nvSpPr>
          <p:cNvPr id="3" name="object 3"/>
          <p:cNvSpPr txBox="1">
            <a:spLocks noGrp="1"/>
          </p:cNvSpPr>
          <p:nvPr>
            <p:ph type="body" idx="1"/>
          </p:nvPr>
        </p:nvSpPr>
        <p:spPr>
          <a:xfrm>
            <a:off x="304800" y="990600"/>
            <a:ext cx="10668000" cy="4228081"/>
          </a:xfrm>
          <a:prstGeom prst="rect">
            <a:avLst/>
          </a:prstGeom>
        </p:spPr>
        <p:txBody>
          <a:bodyPr vert="horz" wrap="square" lIns="0" tIns="72390" rIns="0" bIns="0" rtlCol="0">
            <a:spAutoFit/>
          </a:bodyPr>
          <a:lstStyle/>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 Y. Kim, H. Lee, and J. Park, “Deep learning–based adaptive traffic signal control for large-scale urban networks,” </a:t>
            </a:r>
            <a:r>
              <a:rPr lang="en-IN" sz="1500" i="1" dirty="0">
                <a:latin typeface="Arial" panose="020B0604020202020204" pitchFamily="34" charset="0"/>
                <a:cs typeface="Arial" panose="020B0604020202020204" pitchFamily="34" charset="0"/>
              </a:rPr>
              <a:t>IEEE Access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2026</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[2] S. Rahman and M. Hossain, “Smart traffic congestion prediction using artificial intelligence and IoT,” </a:t>
            </a:r>
            <a:r>
              <a:rPr lang="en-IN" sz="1500" i="1" dirty="0">
                <a:latin typeface="Arial" panose="020B0604020202020204" pitchFamily="34" charset="0"/>
                <a:cs typeface="Arial" panose="020B0604020202020204" pitchFamily="34" charset="0"/>
              </a:rPr>
              <a:t>IEEE Open Journal of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2026</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[3] M. Rajagopal, R. Sivasakthivel, and G. Anitha, “An intelligent transportation system for traffic flow prediction using graph neural networks,” </a:t>
            </a:r>
            <a:r>
              <a:rPr lang="en-IN" sz="1500" i="1" dirty="0">
                <a:latin typeface="Arial" panose="020B0604020202020204" pitchFamily="34" charset="0"/>
                <a:cs typeface="Arial" panose="020B0604020202020204" pitchFamily="34" charset="0"/>
              </a:rPr>
              <a:t>IEEE Transactions on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2025</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[4] Y. Huang, Y. Dong, Y. Tang, and L. Li, “Parking availability prediction via fusing multi-source data with a self-supervised learning enhanced </a:t>
            </a:r>
            <a:r>
              <a:rPr lang="en-IN" sz="1500" dirty="0" err="1">
                <a:latin typeface="Arial" panose="020B0604020202020204" pitchFamily="34" charset="0"/>
                <a:cs typeface="Arial" panose="020B0604020202020204" pitchFamily="34" charset="0"/>
              </a:rPr>
              <a:t>spatio</a:t>
            </a:r>
            <a:r>
              <a:rPr lang="en-IN" sz="1500" dirty="0">
                <a:latin typeface="Arial" panose="020B0604020202020204" pitchFamily="34" charset="0"/>
                <a:cs typeface="Arial" panose="020B0604020202020204" pitchFamily="34" charset="0"/>
              </a:rPr>
              <a:t>-temporal transformer,” </a:t>
            </a:r>
            <a:r>
              <a:rPr lang="en-IN" sz="1500" i="1" dirty="0">
                <a:latin typeface="Arial" panose="020B0604020202020204" pitchFamily="34" charset="0"/>
                <a:cs typeface="Arial" panose="020B0604020202020204" pitchFamily="34" charset="0"/>
              </a:rPr>
              <a:t>IEEE Transactions on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2025</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[5] C. Zhang, J. Wang, and Y. Liu, “Real-time traffic flow prediction using random forest and sensor data fusion,” </a:t>
            </a:r>
            <a:r>
              <a:rPr lang="en-IN" sz="1500" i="1" dirty="0">
                <a:latin typeface="Arial" panose="020B0604020202020204" pitchFamily="34" charset="0"/>
                <a:cs typeface="Arial" panose="020B0604020202020204" pitchFamily="34" charset="0"/>
              </a:rPr>
              <a:t>IEEE Access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2025</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[6] S. Alam, M. Luqman, and S. Ali, “Multi-source data-driven traffic congestion detection using artificial intelligence,” </a:t>
            </a:r>
            <a:r>
              <a:rPr lang="en-IN" sz="1500" i="1" dirty="0">
                <a:latin typeface="Arial" panose="020B0604020202020204" pitchFamily="34" charset="0"/>
                <a:cs typeface="Arial" panose="020B0604020202020204" pitchFamily="34" charset="0"/>
              </a:rPr>
              <a:t>IEEE Access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2025</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[7] R. Abduljabbar, H. Dia, and S. Liyanage, “Machine learning–based traffic flow prediction models for smart and sustainable traffic management,” </a:t>
            </a:r>
            <a:r>
              <a:rPr lang="en-IN" sz="1500" i="1" dirty="0">
                <a:latin typeface="Arial" panose="020B0604020202020204" pitchFamily="34" charset="0"/>
                <a:cs typeface="Arial" panose="020B0604020202020204" pitchFamily="34" charset="0"/>
              </a:rPr>
              <a:t>IEEE Open Journal of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2024</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[8] A. Rahmani, A. Al-Fuqaha, and M. </a:t>
            </a:r>
            <a:r>
              <a:rPr lang="en-IN" sz="1500" dirty="0" err="1">
                <a:latin typeface="Arial" panose="020B0604020202020204" pitchFamily="34" charset="0"/>
                <a:cs typeface="Arial" panose="020B0604020202020204" pitchFamily="34" charset="0"/>
              </a:rPr>
              <a:t>Guizani</a:t>
            </a:r>
            <a:r>
              <a:rPr lang="en-IN" sz="1500" dirty="0">
                <a:latin typeface="Arial" panose="020B0604020202020204" pitchFamily="34" charset="0"/>
                <a:cs typeface="Arial" panose="020B0604020202020204" pitchFamily="34" charset="0"/>
              </a:rPr>
              <a:t>, “AI-enabled intelligent traffic signal management for smart cities,” </a:t>
            </a:r>
            <a:r>
              <a:rPr lang="en-IN" sz="1500" i="1" dirty="0">
                <a:latin typeface="Arial" panose="020B0604020202020204" pitchFamily="34" charset="0"/>
                <a:cs typeface="Arial" panose="020B0604020202020204" pitchFamily="34" charset="0"/>
              </a:rPr>
              <a:t>IEEE Access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2024</a:t>
            </a:r>
            <a:r>
              <a:rPr lang="en-IN" sz="1500" dirty="0">
                <a:latin typeface="Arial" panose="020B0604020202020204" pitchFamily="34" charset="0"/>
                <a:cs typeface="Arial" panose="020B0604020202020204" pitchFamily="34" charset="0"/>
              </a:rPr>
              <a:t>.</a:t>
            </a:r>
          </a:p>
          <a:p>
            <a:pPr>
              <a:buFont typeface="Wingdings" panose="05000000000000000000" pitchFamily="2" charset="2"/>
              <a:buChar char="§"/>
            </a:pPr>
            <a:endParaRPr lang="en-IN" sz="1500" dirty="0">
              <a:latin typeface="Arial" panose="020B0604020202020204" pitchFamily="34" charset="0"/>
              <a:ea typeface="Cambria" panose="02040503050406030204" pitchFamily="18"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83476-5089-4C1D-DA7A-7893593F2EF7}"/>
              </a:ext>
            </a:extLst>
          </p:cNvPr>
          <p:cNvSpPr>
            <a:spLocks noGrp="1"/>
          </p:cNvSpPr>
          <p:nvPr>
            <p:ph type="title"/>
          </p:nvPr>
        </p:nvSpPr>
        <p:spPr>
          <a:xfrm>
            <a:off x="891946" y="283286"/>
            <a:ext cx="5189855" cy="430887"/>
          </a:xfrm>
        </p:spPr>
        <p:txBody>
          <a:bodyPr/>
          <a:lstStyle/>
          <a:p>
            <a:r>
              <a:rPr lang="en-IN" dirty="0"/>
              <a:t>References</a:t>
            </a:r>
            <a:r>
              <a:rPr lang="en-IN" spc="-55" dirty="0"/>
              <a:t> </a:t>
            </a:r>
            <a:r>
              <a:rPr lang="en-IN" dirty="0"/>
              <a:t>(IEEE</a:t>
            </a:r>
            <a:r>
              <a:rPr lang="en-IN" spc="-85" dirty="0"/>
              <a:t> </a:t>
            </a:r>
            <a:r>
              <a:rPr lang="en-IN" dirty="0"/>
              <a:t>Paper</a:t>
            </a:r>
            <a:r>
              <a:rPr lang="en-IN" spc="-80" dirty="0"/>
              <a:t> </a:t>
            </a:r>
            <a:r>
              <a:rPr lang="en-IN" spc="-10" dirty="0"/>
              <a:t>format)</a:t>
            </a:r>
            <a:endParaRPr lang="en-IN" dirty="0"/>
          </a:p>
        </p:txBody>
      </p:sp>
      <p:sp>
        <p:nvSpPr>
          <p:cNvPr id="3" name="Text Placeholder 2">
            <a:extLst>
              <a:ext uri="{FF2B5EF4-FFF2-40B4-BE49-F238E27FC236}">
                <a16:creationId xmlns:a16="http://schemas.microsoft.com/office/drawing/2014/main" id="{C5756717-ECE2-F9D6-53E2-149E6AABC9A9}"/>
              </a:ext>
            </a:extLst>
          </p:cNvPr>
          <p:cNvSpPr>
            <a:spLocks noGrp="1"/>
          </p:cNvSpPr>
          <p:nvPr>
            <p:ph type="body" idx="1"/>
          </p:nvPr>
        </p:nvSpPr>
        <p:spPr>
          <a:xfrm>
            <a:off x="457200" y="1066800"/>
            <a:ext cx="9973564" cy="3924151"/>
          </a:xfrm>
        </p:spPr>
        <p:txBody>
          <a:bodyPr/>
          <a:lstStyle/>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[9] T. </a:t>
            </a:r>
            <a:r>
              <a:rPr lang="en-IN" sz="1500" dirty="0" err="1">
                <a:latin typeface="Arial" panose="020B0604020202020204" pitchFamily="34" charset="0"/>
                <a:cs typeface="Arial" panose="020B0604020202020204" pitchFamily="34" charset="0"/>
              </a:rPr>
              <a:t>Bouraffa</a:t>
            </a:r>
            <a:r>
              <a:rPr lang="en-IN" sz="1500" dirty="0">
                <a:latin typeface="Arial" panose="020B0604020202020204" pitchFamily="34" charset="0"/>
                <a:cs typeface="Arial" panose="020B0604020202020204" pitchFamily="34" charset="0"/>
              </a:rPr>
              <a:t>, E. Wessman, and A. Nouri, “Vision-based traffic event detection using deep learning,” in </a:t>
            </a:r>
            <a:r>
              <a:rPr lang="en-IN" sz="1500" i="1" dirty="0">
                <a:latin typeface="Arial" panose="020B0604020202020204" pitchFamily="34" charset="0"/>
                <a:cs typeface="Arial" panose="020B0604020202020204" pitchFamily="34" charset="0"/>
              </a:rPr>
              <a:t>Proc. IEEE International Conference on Intelligent Transportation Systems (ITSC)</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2024</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[10] L. </a:t>
            </a:r>
            <a:r>
              <a:rPr lang="en-IN" sz="1500" dirty="0" err="1">
                <a:latin typeface="Arial" panose="020B0604020202020204" pitchFamily="34" charset="0"/>
                <a:cs typeface="Arial" panose="020B0604020202020204" pitchFamily="34" charset="0"/>
              </a:rPr>
              <a:t>Falaschetti</a:t>
            </a:r>
            <a:r>
              <a:rPr lang="en-IN" sz="1500" dirty="0">
                <a:latin typeface="Arial" panose="020B0604020202020204" pitchFamily="34" charset="0"/>
                <a:cs typeface="Arial" panose="020B0604020202020204" pitchFamily="34" charset="0"/>
              </a:rPr>
              <a:t> et al., “Embedded real-time vehicle detection for intelligent traffic control systems,” </a:t>
            </a:r>
            <a:r>
              <a:rPr lang="en-IN" sz="1500" i="1" dirty="0">
                <a:latin typeface="Arial" panose="020B0604020202020204" pitchFamily="34" charset="0"/>
                <a:cs typeface="Arial" panose="020B0604020202020204" pitchFamily="34" charset="0"/>
              </a:rPr>
              <a:t>IEEE Transactions on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2024</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[11] H. Li, X. Pang, and Z. Chen, “Graph neural networks in intelligent transportation systems: A survey,” </a:t>
            </a:r>
            <a:r>
              <a:rPr lang="en-IN" sz="1500" i="1" dirty="0">
                <a:latin typeface="Arial" panose="020B0604020202020204" pitchFamily="34" charset="0"/>
                <a:cs typeface="Arial" panose="020B0604020202020204" pitchFamily="34" charset="0"/>
              </a:rPr>
              <a:t>IEEE Transactions on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2023</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[12] W. Wang, R. Patel, and S. Rao, “Reinforcement learning for adaptive traffic signal optimization,” </a:t>
            </a:r>
            <a:r>
              <a:rPr lang="en-IN" sz="1500" i="1" dirty="0">
                <a:latin typeface="Arial" panose="020B0604020202020204" pitchFamily="34" charset="0"/>
                <a:cs typeface="Arial" panose="020B0604020202020204" pitchFamily="34" charset="0"/>
              </a:rPr>
              <a:t>IEEE Intelligent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2023</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[13] J. Chen, X. Li, and W. Zhang, “Vehicle prioritization using deep learning for real-time traffic signals,” </a:t>
            </a:r>
            <a:r>
              <a:rPr lang="en-IN" sz="1500" i="1" dirty="0">
                <a:latin typeface="Arial" panose="020B0604020202020204" pitchFamily="34" charset="0"/>
                <a:cs typeface="Arial" panose="020B0604020202020204" pitchFamily="34" charset="0"/>
              </a:rPr>
              <a:t>IEEE Transactions on Intelligent Transportation Systems</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2023</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IN" sz="1500" dirty="0">
                <a:latin typeface="Arial" panose="020B0604020202020204" pitchFamily="34" charset="0"/>
                <a:cs typeface="Arial" panose="020B0604020202020204" pitchFamily="34" charset="0"/>
              </a:rPr>
              <a:t>[14] A. Das, S. Roy, and P. Kumar, “Deep learning–based traffic anomaly detection for intelligent transportation systems,” in </a:t>
            </a:r>
            <a:r>
              <a:rPr lang="en-IN" sz="1500" i="1" dirty="0">
                <a:latin typeface="Arial" panose="020B0604020202020204" pitchFamily="34" charset="0"/>
                <a:cs typeface="Arial" panose="020B0604020202020204" pitchFamily="34" charset="0"/>
              </a:rPr>
              <a:t>Proc. IEEE International Conference on Machine Learning and Applications (ICMLA)</a:t>
            </a:r>
            <a:r>
              <a:rPr lang="en-IN" sz="1500" dirty="0">
                <a:latin typeface="Arial" panose="020B0604020202020204" pitchFamily="34" charset="0"/>
                <a:cs typeface="Arial" panose="020B0604020202020204" pitchFamily="34" charset="0"/>
              </a:rPr>
              <a:t>, </a:t>
            </a:r>
            <a:r>
              <a:rPr lang="en-IN" sz="1500" b="1" dirty="0">
                <a:latin typeface="Arial" panose="020B0604020202020204" pitchFamily="34" charset="0"/>
                <a:cs typeface="Arial" panose="020B0604020202020204" pitchFamily="34" charset="0"/>
              </a:rPr>
              <a:t>2023</a:t>
            </a:r>
            <a:r>
              <a:rPr lang="en-IN" sz="1500" dirty="0">
                <a:latin typeface="Arial" panose="020B0604020202020204" pitchFamily="34" charset="0"/>
                <a:cs typeface="Arial" panose="020B0604020202020204" pitchFamily="34" charset="0"/>
              </a:rPr>
              <a:t>.</a:t>
            </a:r>
          </a:p>
          <a:p>
            <a:pPr marL="3619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[15] Y. </a:t>
            </a:r>
            <a:r>
              <a:rPr lang="en-US" sz="1500" dirty="0" err="1">
                <a:latin typeface="Arial" panose="020B0604020202020204" pitchFamily="34" charset="0"/>
                <a:cs typeface="Arial" panose="020B0604020202020204" pitchFamily="34" charset="0"/>
              </a:rPr>
              <a:t>Lv</a:t>
            </a:r>
            <a:r>
              <a:rPr lang="en-US" sz="1500" dirty="0">
                <a:latin typeface="Arial" panose="020B0604020202020204" pitchFamily="34" charset="0"/>
                <a:cs typeface="Arial" panose="020B0604020202020204" pitchFamily="34" charset="0"/>
              </a:rPr>
              <a:t>, Y. Duan, W. Kang, Z. Li, and F.-Y. Wang,</a:t>
            </a:r>
            <a:br>
              <a:rPr lang="en-US" sz="1500" dirty="0">
                <a:latin typeface="Arial" panose="020B0604020202020204" pitchFamily="34" charset="0"/>
                <a:cs typeface="Arial" panose="020B0604020202020204" pitchFamily="34" charset="0"/>
              </a:rPr>
            </a:br>
            <a:r>
              <a:rPr lang="en-US" sz="1500" dirty="0">
                <a:latin typeface="Arial" panose="020B0604020202020204" pitchFamily="34" charset="0"/>
                <a:cs typeface="Arial" panose="020B0604020202020204" pitchFamily="34" charset="0"/>
              </a:rPr>
              <a:t>“Traffic flow prediction with big data: A deep learning approach,” </a:t>
            </a:r>
            <a:r>
              <a:rPr lang="en-US" sz="1500" i="1" dirty="0">
                <a:latin typeface="Arial" panose="020B0604020202020204" pitchFamily="34" charset="0"/>
                <a:cs typeface="Arial" panose="020B0604020202020204" pitchFamily="34" charset="0"/>
              </a:rPr>
              <a:t>IEEE Transactions on Intelligent Transportation Systems</a:t>
            </a:r>
            <a:r>
              <a:rPr lang="en-US" sz="1500" dirty="0">
                <a:latin typeface="Arial" panose="020B0604020202020204" pitchFamily="34" charset="0"/>
                <a:cs typeface="Arial" panose="020B0604020202020204" pitchFamily="34" charset="0"/>
              </a:rPr>
              <a:t>, </a:t>
            </a:r>
            <a:r>
              <a:rPr lang="en-US" sz="1500" b="1" dirty="0">
                <a:latin typeface="Arial" panose="020B0604020202020204" pitchFamily="34" charset="0"/>
                <a:cs typeface="Arial" panose="020B0604020202020204" pitchFamily="34" charset="0"/>
              </a:rPr>
              <a:t>2023</a:t>
            </a:r>
            <a:r>
              <a:rPr lang="en-US" sz="1500" dirty="0">
                <a:latin typeface="Arial" panose="020B0604020202020204" pitchFamily="34" charset="0"/>
                <a:cs typeface="Arial" panose="020B0604020202020204" pitchFamily="34" charset="0"/>
              </a:rPr>
              <a:t>.</a:t>
            </a:r>
            <a:endParaRPr lang="en-IN" sz="1500" dirty="0">
              <a:latin typeface="Arial" panose="020B0604020202020204" pitchFamily="34" charset="0"/>
              <a:cs typeface="Arial" panose="020B0604020202020204" pitchFamily="34" charset="0"/>
            </a:endParaRPr>
          </a:p>
          <a:p>
            <a:endParaRPr lang="en-IN" sz="1500" dirty="0">
              <a:latin typeface="Arial" panose="020B0604020202020204" pitchFamily="34" charset="0"/>
              <a:cs typeface="Arial" panose="020B0604020202020204" pitchFamily="34" charset="0"/>
            </a:endParaRPr>
          </a:p>
          <a:p>
            <a:endParaRPr lang="en-IN"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0551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796" y="1440180"/>
            <a:ext cx="3895344" cy="39364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TotalTime>
  <Words>1250</Words>
  <Application>Microsoft Office PowerPoint</Application>
  <PresentationFormat>Widescreen</PresentationFormat>
  <Paragraphs>132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Cambria</vt:lpstr>
      <vt:lpstr>Verdana</vt:lpstr>
      <vt:lpstr>Wingdings</vt:lpstr>
      <vt:lpstr>Office Theme</vt:lpstr>
      <vt:lpstr>CSE7302- University Project Review-4</vt:lpstr>
      <vt:lpstr>Concentrate On These  </vt:lpstr>
      <vt:lpstr>Content</vt:lpstr>
      <vt:lpstr>Objectives</vt:lpstr>
      <vt:lpstr>Technology Stack</vt:lpstr>
      <vt:lpstr>System Architecture</vt:lpstr>
      <vt:lpstr>Key Features</vt:lpstr>
      <vt:lpstr>Code Structure</vt:lpstr>
      <vt:lpstr>PowerPoint Presentation</vt:lpstr>
      <vt:lpstr>PowerPoint Presentation</vt:lpstr>
      <vt:lpstr>PowerPoint Presentation</vt:lpstr>
      <vt:lpstr>PowerPoint Presentation</vt:lpstr>
      <vt:lpstr>Github Link</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 Thousif</dc:creator>
  <cp:lastModifiedBy>Syed Thousif</cp:lastModifiedBy>
  <cp:revision>17</cp:revision>
  <dcterms:created xsi:type="dcterms:W3CDTF">2025-09-23T06:48:19Z</dcterms:created>
  <dcterms:modified xsi:type="dcterms:W3CDTF">2026-04-06T17:34:45Z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2025-09-20T00:00:00Z</vt:filetime>
  </property>
  <property fmtid="{D5CDD505-2E9C-101B-9397-08002B2CF9AE}" pid="3" name="Creator">
    <vt:lpwstr>Microsoft® PowerPoint® 2016</vt:lpwstr>
  </property>
  <property fmtid="{D5CDD505-2E9C-101B-9397-08002B2CF9AE}" pid="4" name="LastSaved">
    <vt:filetime>2025-09-23T00:00:00Z</vt:filetime>
  </property>
  <property fmtid="{D5CDD505-2E9C-101B-9397-08002B2CF9AE}" pid="5" name="Producer">
    <vt:lpwstr>www.ilovepdf.com</vt:lpwstr>
  </property>
</Properties>
</file>