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69" r:id="rId3"/>
    <p:sldId id="257" r:id="rId4"/>
    <p:sldId id="274" r:id="rId5"/>
    <p:sldId id="278" r:id="rId6"/>
    <p:sldId id="281" r:id="rId7"/>
    <p:sldId id="282" r:id="rId8"/>
    <p:sldId id="273" r:id="rId9"/>
    <p:sldId id="268" r:id="rId10"/>
    <p:sldId id="272" r:id="rId11"/>
    <p:sldId id="271" r:id="rId12"/>
    <p:sldId id="276" r:id="rId13"/>
    <p:sldId id="277" r:id="rId14"/>
    <p:sldId id="279" r:id="rId15"/>
    <p:sldId id="280" r:id="rId16"/>
    <p:sldId id="26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82950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/>
              <a:t>Smart Traffic Management System for Urban Congestion 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 : CSE_14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507223" y="2235290"/>
            <a:ext cx="4487271" cy="275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Dr./Mr./Ms./Prof. </a:t>
            </a:r>
            <a:r>
              <a:rPr lang="en-IN" sz="1700" dirty="0"/>
              <a:t>Ms. Kummara Sruthi &amp;</a:t>
            </a: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IN" sz="1700" dirty="0"/>
              <a:t>Ms. Tigulla Rajitha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2981414951"/>
              </p:ext>
            </p:extLst>
          </p:nvPr>
        </p:nvGraphicFramePr>
        <p:xfrm>
          <a:off x="553394" y="2423592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1576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57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57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57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157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rgbClr val="17365D"/>
              </a:buClr>
              <a:buSzPct val="100000"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CSE7302- University Project</a:t>
            </a:r>
            <a:endParaRPr lang="en-GB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Review-2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: </a:t>
            </a:r>
            <a:r>
              <a:rPr lang="en-US" sz="1800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School of Computer Science &amp; Engineering</a:t>
            </a:r>
            <a:endParaRPr lang="en-US" sz="1800" i="0" u="none" strike="noStrike" cap="none" dirty="0">
              <a:solidFill>
                <a:schemeClr val="tx1"/>
              </a:solidFill>
              <a:latin typeface="+mj-lt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 : </a:t>
            </a:r>
            <a:r>
              <a:rPr lang="en-IN" sz="1800" dirty="0"/>
              <a:t>Dr. Asif Mohammed 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 : </a:t>
            </a:r>
            <a:r>
              <a:rPr lang="en-IN" sz="1800" dirty="0"/>
              <a:t>Dr.Jayavadivel Ravi , Mr. Muthuraju V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 : </a:t>
            </a:r>
            <a:r>
              <a:rPr lang="en-US" sz="1800" i="0" u="none" strike="noStrike" cap="none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Dr.Sampath A K , Dr. Geetha A </a:t>
            </a:r>
            <a:endParaRPr sz="1800" i="0" u="none" strike="noStrike" cap="none" dirty="0">
              <a:solidFill>
                <a:schemeClr val="tx1"/>
              </a:solidFill>
              <a:latin typeface="+mj-lt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F0D9EFE-1851-B473-BF97-2EF872E56F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656142"/>
              </p:ext>
            </p:extLst>
          </p:nvPr>
        </p:nvGraphicFramePr>
        <p:xfrm>
          <a:off x="197505" y="2423592"/>
          <a:ext cx="6084762" cy="1483360"/>
        </p:xfrm>
        <a:graphic>
          <a:graphicData uri="http://schemas.openxmlformats.org/drawingml/2006/table">
            <a:tbl>
              <a:tblPr firstRow="1" bandRow="1"/>
              <a:tblGrid>
                <a:gridCol w="3042381">
                  <a:extLst>
                    <a:ext uri="{9D8B030D-6E8A-4147-A177-3AD203B41FA5}">
                      <a16:colId xmlns:a16="http://schemas.microsoft.com/office/drawing/2014/main" val="1175655910"/>
                    </a:ext>
                  </a:extLst>
                </a:gridCol>
                <a:gridCol w="3042381">
                  <a:extLst>
                    <a:ext uri="{9D8B030D-6E8A-4147-A177-3AD203B41FA5}">
                      <a16:colId xmlns:a16="http://schemas.microsoft.com/office/drawing/2014/main" val="2815580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5445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20221CSE0234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Syed Thousif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631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20221CSE0217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Gujjula Ashok Vardhan Reddy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153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20221CSE0211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Kambam Nithin Kumar Reddy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307058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6D9EB74C-1FA1-AAFD-9D49-71B0643C2690}"/>
              </a:ext>
            </a:extLst>
          </p:cNvPr>
          <p:cNvSpPr/>
          <p:nvPr/>
        </p:nvSpPr>
        <p:spPr>
          <a:xfrm>
            <a:off x="7507223" y="2235290"/>
            <a:ext cx="4391131" cy="23829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 : SIH25050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190500" algn="just">
              <a:spcBef>
                <a:spcPts val="0"/>
              </a:spcBef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Organization: </a:t>
            </a:r>
            <a:r>
              <a:rPr lang="en-IN" sz="2000" dirty="0">
                <a:solidFill>
                  <a:srgbClr val="000000"/>
                </a:solidFill>
                <a:latin typeface="Calibri" panose="020F0502020204030204" pitchFamily="34" charset="0"/>
              </a:rPr>
              <a:t>Government of Odisha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Title 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 Traffic Management System for Urban Congestion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950976"/>
            <a:ext cx="10668000" cy="4892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Drawbacks /Existing Methods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Method &amp; Feasibility Study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Architecture Diagram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Modules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Hardware &amp; Software Details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085730-F82C-73F9-BA42-E6B02CA5F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344" y="979540"/>
            <a:ext cx="1157516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Increasing traffic congestion and inefficient parking are major challenges in urban areas due to rapid vehicle growth.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traffic control systems are static and unable to handle real-time traffic conditions effectively.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proposed Smart AI-Based Traffic and Parking Management System uses machine learning and computer vision technologies.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analyzes historical and live traffic data to predict congestion and optimize traffic flow.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vision is used to detect available parking slots in real time.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reserve parking spaces in advance, reducing unnecessary vehicle movement.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provides priority routing and signal optimization for emergency vehicles.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the proposed solution improves traffic efficiency, reduces congestion, enhances parking utilization, and supports smart city transportation initiatives.</a:t>
            </a:r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B50C5-98A3-8FB5-9891-B81D6CB78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91EC0EB-4C93-4C98-4FAB-92ECBB0040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143268"/>
              </p:ext>
            </p:extLst>
          </p:nvPr>
        </p:nvGraphicFramePr>
        <p:xfrm>
          <a:off x="812800" y="1318260"/>
          <a:ext cx="10668000" cy="46024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3139832179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926382239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34108159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69393306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5439654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Author(s) &amp; Year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Title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Methodology / Framework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Limitations / Gaps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Relevance to Our Project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7743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b="1"/>
                        <a:t>Y. Kim et al. (2026)</a:t>
                      </a:r>
                      <a:endParaRPr lang="da-DK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Deep Learning–Based Adaptive Traffic Signal Control for Large-Scale Urban 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Deep learning–based adaptive signal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computational and training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Supports adaptive traffic signal optimization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3794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b="1"/>
                        <a:t>S. Rahman et al. (2026)</a:t>
                      </a:r>
                      <a:endParaRPr lang="da-DK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Smart Traffic Congestion Prediction Using Artificial Intelligence and IoT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 integrated with IoT sensor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Strong dependency on sensor infrastructure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Aligns with real-time AI-based congestion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2023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b="1"/>
                        <a:t>M. Rajagopal et al. (2025)</a:t>
                      </a:r>
                      <a:endParaRPr lang="da-DK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Intelligent Transportation System for Traffic Flow Prediction Using GNN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Graph Neural Networks for traffic modeling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computational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Shows advanced prediction; our project uses simpler ML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5317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Y. Huang et al. (2025)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Parking Availability Prediction Using Spatio-Temporal Transformer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Transformer-based spatio-temporal deep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Complex model, large data requirement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Supports smart parking availability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9843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C. Zhang et al. (2025)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Real-Time Traffic Flow Prediction Using 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Random Forest with sensor data fusion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temporal dependency modeling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Closely related to our RF-based traffic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0998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4639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DF5A8-6482-640E-EAC3-D3229FCA1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67F2C03-BEE6-4C38-65B4-BCD50EBC0F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125757"/>
              </p:ext>
            </p:extLst>
          </p:nvPr>
        </p:nvGraphicFramePr>
        <p:xfrm>
          <a:off x="812800" y="1424940"/>
          <a:ext cx="10668000" cy="43891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32362763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198032423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517884365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42496049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6060524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Author(s) &amp; Year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Title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Methodology / Framework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Limitations / Gaps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Relevance to Our Project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3517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b="1"/>
                        <a:t>S. Alam et al. (2025)</a:t>
                      </a:r>
                      <a:endParaRPr lang="da-DK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Multi-Source Data-Driven Traffic Congestion Detection Using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 using multi-source urban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integration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Supports multi-source congestion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0527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R. Abduljabbar et al. (2024)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ML-Based Traffic Flow Prediction Models for Smart Cities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Comparative study of ML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Focuses only on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Helps in ML model selection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7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b="1"/>
                        <a:t>A. Rahmani et al. (2024)</a:t>
                      </a:r>
                      <a:endParaRPr lang="da-DK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AI-Enabled Intelligent Traffic Signal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ML-based smart traffic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emergency handling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Aligns with intelligent traffic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9990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/>
                        <a:t>T. Bouraffa et al. (2024)</a:t>
                      </a:r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Vision-Based Traffic Event Detection Using Deep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CNN-based video 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processing requirements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Useful for camera-based traffic monitoring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8029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/>
                        <a:t>L. Falaschetti et al. (2024)</a:t>
                      </a:r>
                      <a:endParaRPr lang="it-IT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Embedded Real-Time Vehicle Detection for Traffic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Embedded deep learning (YOLO)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Hardware-dependent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Supports vehicle detection module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6293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0676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376A2-2267-66A7-582C-B8550DF1C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09754F-697B-D33D-BA73-946AB61EC4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453"/>
              </p:ext>
            </p:extLst>
          </p:nvPr>
        </p:nvGraphicFramePr>
        <p:xfrm>
          <a:off x="812800" y="1638300"/>
          <a:ext cx="10668000" cy="39624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611275349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997823134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11520252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3400716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2550707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Author(s) &amp; Year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Title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Methodology / Framework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Limitations / Gaps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Relevance to Our Project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907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/>
                        <a:t>H. Li et al. (2023)</a:t>
                      </a:r>
                      <a:endParaRPr lang="it-IT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Graph Neural Networks in Intelligent Transportation Systems: A Survey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Survey of AI techniques in 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Mostly theoretical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Provides background for AI traffic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1299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b="1"/>
                        <a:t>W. Wang et al. (2023)</a:t>
                      </a:r>
                      <a:endParaRPr lang="da-DK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Reinforcement Learning for Adaptive Traffic Signal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Reinforcement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Long training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Supports adaptive signal timing logic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0160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b="1"/>
                        <a:t>J. Chen et al. (2023)</a:t>
                      </a:r>
                      <a:endParaRPr lang="da-DK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Vehicle Prioritization Using Deep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CNN-based vehicle prioritization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Parking not addressed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Relevant for emergency vehicle handling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0492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A. Das et al. (2023)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Deep Learning-Based Traffic Anomaly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DL-based anomaly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Requires large datasets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Useful for incident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6703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b="1"/>
                        <a:t>Y. Lv et al. (2023)</a:t>
                      </a:r>
                      <a:endParaRPr lang="da-DK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Traffic Flow Prediction with Big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Deep learning on big traffic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training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Foundation for modern traffic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1349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699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52BB79-9E7C-1123-76AB-A1DF5D6E0A0F}"/>
              </a:ext>
            </a:extLst>
          </p:cNvPr>
          <p:cNvSpPr txBox="1"/>
          <p:nvPr/>
        </p:nvSpPr>
        <p:spPr>
          <a:xfrm>
            <a:off x="704088" y="1161288"/>
            <a:ext cx="1077671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/>
              <a:t>To ensure high camera quality for capturing clear and detailed visuals under different lighting and weather conditions.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/>
              <a:t>To enable real-time (dynamic time) monitoring for instant detection, processing, and response to on-road situations.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/>
              <a:t>To provide intelligent security alerts by automatically identifying suspicious activities or abnormal events.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/>
              <a:t>To accurately detect and prioritize emergency vehicles (ambulance, fire engine, police) for faster response and traffic management.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/>
              <a:t>To enhance public safety and emergency response efficiency through automated monitoring and alert mechanisms.</a:t>
            </a: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Drawbacks &amp; Overcome </a:t>
            </a:r>
            <a:endParaRPr lang="en-US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09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2999"/>
            <a:ext cx="10668000" cy="4512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F1A8F23-CE7F-4711-E475-41D97DA372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831339"/>
              </p:ext>
            </p:extLst>
          </p:nvPr>
        </p:nvGraphicFramePr>
        <p:xfrm>
          <a:off x="812800" y="1379218"/>
          <a:ext cx="10668000" cy="4099563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312014561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1650568771"/>
                    </a:ext>
                  </a:extLst>
                </a:gridCol>
              </a:tblGrid>
              <a:tr h="4618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Drawbacks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Ways to Improve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8634914"/>
                  </a:ext>
                </a:extLst>
              </a:tr>
              <a:tr h="6062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Traffic predictions may not always be accurate during sudden events like accidents or roadblocks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Include live alerts from traffic police, GPS apps, and social media updates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6357343"/>
                  </a:ext>
                </a:extLst>
              </a:tr>
              <a:tr h="6062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Camera-based parking detection may fail in rain, fog, or poor lighting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 better camera quality and combine camera data with sensor-based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2624516"/>
                  </a:ext>
                </a:extLst>
              </a:tr>
              <a:tr h="6062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Initial setup requires cameras, sensors, and network infrastructure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Start with small pilot areas and expand gradually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9738572"/>
                  </a:ext>
                </a:extLst>
              </a:tr>
              <a:tr h="6062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System performance depends on continuous internet availability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 local processing (edge computing) for basic functions during network issues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7090055"/>
                  </a:ext>
                </a:extLst>
              </a:tr>
              <a:tr h="6062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Emergency vehicle detection may be delayed in very crowded traffic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Integrate GPS tracking for emergency vehicles for faster identification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708892"/>
                  </a:ext>
                </a:extLst>
              </a:tr>
              <a:tr h="6062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Regularly retrain models using new and diverse traffic data</a:t>
                      </a:r>
                    </a:p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Machine learning models may need frequent updates to stay accurate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1311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Method &amp; Feasibility Study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ADB1D98-4727-F9DC-65F9-C055B02A5F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020470"/>
              </p:ext>
            </p:extLst>
          </p:nvPr>
        </p:nvGraphicFramePr>
        <p:xfrm>
          <a:off x="812800" y="965200"/>
          <a:ext cx="10141712" cy="6583680"/>
        </p:xfrm>
        <a:graphic>
          <a:graphicData uri="http://schemas.openxmlformats.org/drawingml/2006/table">
            <a:tbl>
              <a:tblPr/>
              <a:tblGrid>
                <a:gridCol w="10141712">
                  <a:extLst>
                    <a:ext uri="{9D8B030D-6E8A-4147-A177-3AD203B41FA5}">
                      <a16:colId xmlns:a16="http://schemas.microsoft.com/office/drawing/2014/main" val="1707389604"/>
                    </a:ext>
                  </a:extLst>
                </a:gridCol>
              </a:tblGrid>
              <a:tr h="384747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300" b="1" dirty="0"/>
                        <a:t>Machine Learning–Based Traffic Prediction (Random Forest)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en-US" sz="2000" b="0" dirty="0"/>
                        <a:t>Collects real-time and historical traffic data from cameras and sensors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en-US" sz="2000" b="0" dirty="0"/>
                        <a:t>Splits data into multiple parts and builds many decision trees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en-US" sz="2000" b="0" dirty="0"/>
                        <a:t>Each tree predicts traffic congestion independently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en-US" sz="2000" b="0" dirty="0"/>
                        <a:t>Final prediction is based on the majority vote of all trees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300" b="1" dirty="0"/>
                        <a:t>What We Achieve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en-US" sz="2000" b="0" dirty="0"/>
                        <a:t>Early traffic congestion prediction for better route planning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en-US" sz="2000" b="0" dirty="0"/>
                        <a:t>Adaptive traffic signal control in real time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en-US" sz="2000" b="0" dirty="0"/>
                        <a:t>High accuracy with large traffic datasets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en-US" sz="2000" b="0" dirty="0"/>
                        <a:t>Reduced travel time, fuel consumption, and congestion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3361967"/>
                  </a:ext>
                </a:extLst>
              </a:tr>
              <a:tr h="27190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8586249"/>
                  </a:ext>
                </a:extLst>
              </a:tr>
              <a:tr h="27190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6618378"/>
                  </a:ext>
                </a:extLst>
              </a:tr>
              <a:tr h="27190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1496854"/>
                  </a:ext>
                </a:extLst>
              </a:tr>
              <a:tr h="27190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4635543"/>
                  </a:ext>
                </a:extLst>
              </a:tr>
              <a:tr h="27190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824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Architecture Diagram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0EF61CA1-12F8-F724-DB23-78A9F8255B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435608" cy="1435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028D30-1E9C-346A-F163-85866F5C9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3462" y="1067308"/>
            <a:ext cx="7085076" cy="4723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693CA-56BA-DB3C-611A-39CA8F07F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518249"/>
            <a:ext cx="10668000" cy="487500"/>
          </a:xfrm>
        </p:spPr>
        <p:txBody>
          <a:bodyPr/>
          <a:lstStyle/>
          <a:p>
            <a:r>
              <a:rPr lang="en-US" dirty="0"/>
              <a:t>Modules</a:t>
            </a:r>
            <a:br>
              <a:rPr lang="en-US" dirty="0"/>
            </a:br>
            <a:endParaRPr lang="en-IN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57E31C0-CBD6-959E-75E3-C027A5695B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922883"/>
            <a:ext cx="9172448" cy="5416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</a:t>
            </a:r>
          </a:p>
          <a:p>
            <a:pPr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Traffic Prediction</a:t>
            </a:r>
          </a:p>
          <a:p>
            <a:pPr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Parking Detection</a:t>
            </a:r>
          </a:p>
          <a:p>
            <a:pPr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Module</a:t>
            </a:r>
          </a:p>
          <a:p>
            <a:pPr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Module</a:t>
            </a:r>
          </a:p>
          <a:p>
            <a:pPr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Traffic Prediction</a:t>
            </a:r>
          </a:p>
          <a:p>
            <a:pPr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Parking Slot Detection</a:t>
            </a:r>
          </a:p>
          <a:p>
            <a:pPr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Route Recommendation</a:t>
            </a:r>
          </a:p>
          <a:p>
            <a:pPr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Traffic Signal Optimization</a:t>
            </a:r>
          </a:p>
          <a:p>
            <a:pPr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Admin &amp; User Modules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814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D22F-C291-0312-3B92-24E465C83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576072"/>
            <a:ext cx="10668000" cy="186066"/>
          </a:xfrm>
        </p:spPr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Hardware &amp; Software Details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456DB-4B26-81BD-D30E-5EF658C8F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033273"/>
            <a:ext cx="10668000" cy="4953000"/>
          </a:xfrm>
        </p:spPr>
        <p:txBody>
          <a:bodyPr>
            <a:normAutofit fontScale="70000" lnSpcReduction="20000"/>
          </a:bodyPr>
          <a:lstStyle/>
          <a:p>
            <a:pPr marL="76200" indent="0">
              <a:lnSpc>
                <a:spcPct val="150000"/>
              </a:lnSpc>
              <a:buNone/>
            </a:pPr>
            <a:r>
              <a:rPr lang="en-IN" sz="2300" b="1" dirty="0"/>
              <a:t>Hardware Requirements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Processor: Intel i5 or above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RAM: 8 GB (16 GB recommended)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Storage: 256 GB SSD or higher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Camera: CCTV / Web Camera (for traffic &amp; parking detection)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Internet connection (stable broadband)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2300" b="1" dirty="0"/>
              <a:t>Software Requirements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OS: Windows 10 / Linux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Programming: Python, HTML, CSS, JavaScript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Framework: Flask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 Database: MySQL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Libraries: OpenCV, NumPy, Pandas, Scikit-learn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Tools: VS Code / Web Browser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49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AD55A-2905-725B-ED64-58E5096EE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20076-5716-1621-ABC1-28A5409EA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922868"/>
            <a:ext cx="10105136" cy="5505364"/>
          </a:xfrm>
        </p:spPr>
        <p:txBody>
          <a:bodyPr>
            <a:normAutofit fontScale="55000" lnSpcReduction="20000"/>
          </a:bodyPr>
          <a:lstStyle/>
          <a:p>
            <a:pPr marL="76200" indent="0">
              <a:lnSpc>
                <a:spcPct val="120000"/>
              </a:lnSpc>
              <a:buNone/>
            </a:pPr>
            <a:r>
              <a:rPr lang="en-IN" sz="2800" dirty="0"/>
              <a:t>[1] Y. Kim, H. Lee, and J. Park, “Deep learning–based adaptive traffic signal control for large-scale urban networks,” </a:t>
            </a:r>
            <a:r>
              <a:rPr lang="en-IN" sz="2800" i="1" dirty="0"/>
              <a:t>IEEE Access</a:t>
            </a:r>
            <a:r>
              <a:rPr lang="en-IN" sz="2800" dirty="0"/>
              <a:t>, </a:t>
            </a:r>
            <a:r>
              <a:rPr lang="en-IN" sz="2800" b="1" dirty="0"/>
              <a:t>2026</a:t>
            </a:r>
            <a:r>
              <a:rPr lang="en-IN" sz="2800" dirty="0"/>
              <a:t>.</a:t>
            </a:r>
          </a:p>
          <a:p>
            <a:pPr marL="76200" indent="0">
              <a:lnSpc>
                <a:spcPct val="120000"/>
              </a:lnSpc>
              <a:buNone/>
            </a:pPr>
            <a:r>
              <a:rPr lang="en-IN" sz="2800" dirty="0"/>
              <a:t>[2] S. Rahman and M. Hossain, “Smart traffic congestion prediction using artificial intelligence and IoT,” </a:t>
            </a:r>
            <a:r>
              <a:rPr lang="en-IN" sz="2800" i="1" dirty="0"/>
              <a:t>IEEE Open Journal of Intelligent Transportation Systems</a:t>
            </a:r>
            <a:r>
              <a:rPr lang="en-IN" sz="2800" dirty="0"/>
              <a:t>, </a:t>
            </a:r>
            <a:r>
              <a:rPr lang="en-IN" sz="2800" b="1" dirty="0"/>
              <a:t>2026</a:t>
            </a:r>
            <a:r>
              <a:rPr lang="en-IN" sz="2800" dirty="0"/>
              <a:t>.</a:t>
            </a:r>
          </a:p>
          <a:p>
            <a:pPr marL="76200" indent="0">
              <a:lnSpc>
                <a:spcPct val="120000"/>
              </a:lnSpc>
              <a:buNone/>
            </a:pPr>
            <a:r>
              <a:rPr lang="en-IN" sz="2800" dirty="0"/>
              <a:t>[3] M. Rajagopal, R. Sivasakthivel, and G. Anitha, “An intelligent transportation system for traffic flow prediction using graph neural networks,” </a:t>
            </a:r>
            <a:r>
              <a:rPr lang="en-IN" sz="2800" i="1" dirty="0"/>
              <a:t>IEEE Transactions on Intelligent Transportation Systems</a:t>
            </a:r>
            <a:r>
              <a:rPr lang="en-IN" sz="2800" dirty="0"/>
              <a:t>, </a:t>
            </a:r>
            <a:r>
              <a:rPr lang="en-IN" sz="2800" b="1" dirty="0"/>
              <a:t>2025</a:t>
            </a:r>
            <a:r>
              <a:rPr lang="en-IN" sz="2800" dirty="0"/>
              <a:t>.</a:t>
            </a:r>
          </a:p>
          <a:p>
            <a:pPr marL="76200" indent="0">
              <a:lnSpc>
                <a:spcPct val="120000"/>
              </a:lnSpc>
              <a:buNone/>
            </a:pPr>
            <a:r>
              <a:rPr lang="en-IN" sz="2800" dirty="0"/>
              <a:t>[4] Y. Huang, Y. Dong, Y. Tang, and L. Li, “Parking availability prediction via fusing multi-source data with a self-supervised learning enhanced </a:t>
            </a:r>
            <a:r>
              <a:rPr lang="en-IN" sz="2800" dirty="0" err="1"/>
              <a:t>spatio</a:t>
            </a:r>
            <a:r>
              <a:rPr lang="en-IN" sz="2800" dirty="0"/>
              <a:t>-temporal transformer,” </a:t>
            </a:r>
            <a:r>
              <a:rPr lang="en-IN" sz="2800" i="1" dirty="0"/>
              <a:t>IEEE Transactions on Intelligent Transportation Systems</a:t>
            </a:r>
            <a:r>
              <a:rPr lang="en-IN" sz="2800" dirty="0"/>
              <a:t>, </a:t>
            </a:r>
            <a:r>
              <a:rPr lang="en-IN" sz="2800" b="1" dirty="0"/>
              <a:t>2025</a:t>
            </a:r>
            <a:r>
              <a:rPr lang="en-IN" sz="2800" dirty="0"/>
              <a:t>.</a:t>
            </a:r>
          </a:p>
          <a:p>
            <a:pPr marL="76200" indent="0">
              <a:lnSpc>
                <a:spcPct val="120000"/>
              </a:lnSpc>
              <a:buNone/>
            </a:pPr>
            <a:r>
              <a:rPr lang="en-IN" sz="2800" dirty="0"/>
              <a:t>[5] C. Zhang, J. Wang, and Y. Liu, “Real-time traffic flow prediction using random forest and sensor data fusion,” </a:t>
            </a:r>
            <a:r>
              <a:rPr lang="en-IN" sz="2800" i="1" dirty="0"/>
              <a:t>IEEE Access</a:t>
            </a:r>
            <a:r>
              <a:rPr lang="en-IN" sz="2800" dirty="0"/>
              <a:t>, </a:t>
            </a:r>
            <a:r>
              <a:rPr lang="en-IN" sz="2800" b="1" dirty="0"/>
              <a:t>2025</a:t>
            </a:r>
            <a:r>
              <a:rPr lang="en-IN" sz="2800" dirty="0"/>
              <a:t>.</a:t>
            </a:r>
          </a:p>
          <a:p>
            <a:pPr marL="76200" indent="0">
              <a:lnSpc>
                <a:spcPct val="120000"/>
              </a:lnSpc>
              <a:buNone/>
            </a:pPr>
            <a:r>
              <a:rPr lang="en-IN" sz="2800" dirty="0"/>
              <a:t>[6] S. Alam, M. Luqman, and S. Ali, “Multi-source data-driven traffic congestion detection using artificial intelligence,” </a:t>
            </a:r>
            <a:r>
              <a:rPr lang="en-IN" sz="2800" i="1" dirty="0"/>
              <a:t>IEEE Access</a:t>
            </a:r>
            <a:r>
              <a:rPr lang="en-IN" sz="2800" dirty="0"/>
              <a:t>, </a:t>
            </a:r>
            <a:r>
              <a:rPr lang="en-IN" sz="2800" b="1" dirty="0"/>
              <a:t>2025</a:t>
            </a:r>
            <a:r>
              <a:rPr lang="en-IN" sz="2800" dirty="0"/>
              <a:t>.</a:t>
            </a:r>
          </a:p>
          <a:p>
            <a:pPr marL="76200" indent="0">
              <a:lnSpc>
                <a:spcPct val="120000"/>
              </a:lnSpc>
              <a:buNone/>
            </a:pPr>
            <a:r>
              <a:rPr lang="en-IN" sz="2800" dirty="0"/>
              <a:t>[7] R. Abduljabbar, H. Dia, and S. Liyanage, “Machine learning–based traffic flow prediction models for smart and sustainable traffic management,” </a:t>
            </a:r>
            <a:r>
              <a:rPr lang="en-IN" sz="2800" i="1" dirty="0"/>
              <a:t>IEEE Open Journal of Intelligent Transportation Systems</a:t>
            </a:r>
            <a:r>
              <a:rPr lang="en-IN" sz="2800" dirty="0"/>
              <a:t>, </a:t>
            </a:r>
            <a:r>
              <a:rPr lang="en-IN" sz="2800" b="1" dirty="0"/>
              <a:t>2024</a:t>
            </a:r>
            <a:r>
              <a:rPr lang="en-IN" sz="2800" dirty="0"/>
              <a:t>.</a:t>
            </a:r>
          </a:p>
          <a:p>
            <a:pPr marL="76200" indent="0">
              <a:lnSpc>
                <a:spcPct val="120000"/>
              </a:lnSpc>
              <a:buNone/>
            </a:pPr>
            <a:r>
              <a:rPr lang="en-IN" sz="2700" dirty="0"/>
              <a:t>[8] A. Rahmani, A. Al-Fuqaha, and M. </a:t>
            </a:r>
            <a:r>
              <a:rPr lang="en-IN" sz="2700" dirty="0" err="1"/>
              <a:t>Guizani</a:t>
            </a:r>
            <a:r>
              <a:rPr lang="en-IN" sz="2700" dirty="0"/>
              <a:t>, “AI-enabled intelligent traffic signal management for smart cities,” </a:t>
            </a:r>
            <a:r>
              <a:rPr lang="en-IN" sz="2700" i="1" dirty="0"/>
              <a:t>IEEE Access</a:t>
            </a:r>
            <a:r>
              <a:rPr lang="en-IN" sz="2700" dirty="0"/>
              <a:t>, </a:t>
            </a:r>
            <a:r>
              <a:rPr lang="en-IN" sz="2700" b="1" dirty="0"/>
              <a:t>2024</a:t>
            </a:r>
            <a:r>
              <a:rPr lang="en-IN" sz="27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9679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75D52-86F0-852A-5F67-6EAF184BB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70D310-557B-CB3C-5B47-4425204A9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075266"/>
            <a:ext cx="11091333" cy="4707468"/>
          </a:xfrm>
        </p:spPr>
        <p:txBody>
          <a:bodyPr>
            <a:normAutofit/>
          </a:bodyPr>
          <a:lstStyle/>
          <a:p>
            <a:pPr marL="76200" indent="0">
              <a:buNone/>
            </a:pPr>
            <a:r>
              <a:rPr lang="en-IN" sz="1500" dirty="0"/>
              <a:t>[9] T. </a:t>
            </a:r>
            <a:r>
              <a:rPr lang="en-IN" sz="1500" dirty="0" err="1"/>
              <a:t>Bouraffa</a:t>
            </a:r>
            <a:r>
              <a:rPr lang="en-IN" sz="1500" dirty="0"/>
              <a:t>, E. Wessman, and A. Nouri, “Vision-based traffic event detection using deep learning,” in </a:t>
            </a:r>
            <a:r>
              <a:rPr lang="en-IN" sz="1500" i="1" dirty="0"/>
              <a:t>Proc. IEEE International Conference on Intelligent Transportation Systems (ITSC)</a:t>
            </a:r>
            <a:r>
              <a:rPr lang="en-IN" sz="1500" dirty="0"/>
              <a:t>, </a:t>
            </a:r>
            <a:r>
              <a:rPr lang="en-IN" sz="1500" b="1" dirty="0"/>
              <a:t>2024</a:t>
            </a:r>
            <a:r>
              <a:rPr lang="en-IN" sz="1500" dirty="0"/>
              <a:t>.</a:t>
            </a:r>
          </a:p>
          <a:p>
            <a:pPr marL="76200" indent="0">
              <a:buNone/>
            </a:pPr>
            <a:r>
              <a:rPr lang="en-IN" sz="1500" dirty="0"/>
              <a:t>[10] L. </a:t>
            </a:r>
            <a:r>
              <a:rPr lang="en-IN" sz="1500" dirty="0" err="1"/>
              <a:t>Falaschetti</a:t>
            </a:r>
            <a:r>
              <a:rPr lang="en-IN" sz="1500" dirty="0"/>
              <a:t> et al., “Embedded real-time vehicle detection for intelligent traffic control systems,” </a:t>
            </a:r>
            <a:r>
              <a:rPr lang="en-IN" sz="1500" i="1" dirty="0"/>
              <a:t>IEEE Transactions on Intelligent Transportation Systems</a:t>
            </a:r>
            <a:r>
              <a:rPr lang="en-IN" sz="1500" dirty="0"/>
              <a:t>, </a:t>
            </a:r>
            <a:r>
              <a:rPr lang="en-IN" sz="1500" b="1" dirty="0"/>
              <a:t>2024</a:t>
            </a:r>
            <a:r>
              <a:rPr lang="en-IN" sz="1500" dirty="0"/>
              <a:t>.</a:t>
            </a:r>
          </a:p>
          <a:p>
            <a:pPr marL="76200" indent="0">
              <a:buNone/>
            </a:pPr>
            <a:r>
              <a:rPr lang="en-IN" sz="1500" dirty="0"/>
              <a:t>[11] H. Li, X. Pang, and Z. Chen, “Graph neural networks in intelligent transportation systems: A survey,” </a:t>
            </a:r>
            <a:r>
              <a:rPr lang="en-IN" sz="1500" i="1" dirty="0"/>
              <a:t>IEEE Transactions on Intelligent Transportation Systems</a:t>
            </a:r>
            <a:r>
              <a:rPr lang="en-IN" sz="1500" dirty="0"/>
              <a:t>, </a:t>
            </a:r>
            <a:r>
              <a:rPr lang="en-IN" sz="1500" b="1" dirty="0"/>
              <a:t>2023</a:t>
            </a:r>
            <a:r>
              <a:rPr lang="en-IN" sz="1500" dirty="0"/>
              <a:t>.</a:t>
            </a:r>
          </a:p>
          <a:p>
            <a:pPr marL="76200" indent="0">
              <a:buNone/>
            </a:pPr>
            <a:r>
              <a:rPr lang="en-IN" sz="1500" dirty="0"/>
              <a:t>[12] W. Wang, R. Patel, and S. Rao, “Reinforcement learning for adaptive traffic signal optimization,” </a:t>
            </a:r>
            <a:r>
              <a:rPr lang="en-IN" sz="1500" i="1" dirty="0"/>
              <a:t>IEEE Intelligent Systems</a:t>
            </a:r>
            <a:r>
              <a:rPr lang="en-IN" sz="1500" dirty="0"/>
              <a:t>, </a:t>
            </a:r>
            <a:r>
              <a:rPr lang="en-IN" sz="1500" b="1" dirty="0"/>
              <a:t>2023</a:t>
            </a:r>
            <a:r>
              <a:rPr lang="en-IN" sz="1500" dirty="0"/>
              <a:t>.</a:t>
            </a:r>
          </a:p>
          <a:p>
            <a:pPr marL="76200" indent="0">
              <a:buNone/>
            </a:pPr>
            <a:r>
              <a:rPr lang="en-IN" sz="1500" dirty="0"/>
              <a:t>[13] J. Chen, X. Li, and W. Zhang, “Vehicle prioritization using deep learning for real-time traffic signals,” </a:t>
            </a:r>
            <a:r>
              <a:rPr lang="en-IN" sz="1500" i="1" dirty="0"/>
              <a:t>IEEE Transactions on Intelligent Transportation Systems</a:t>
            </a:r>
            <a:r>
              <a:rPr lang="en-IN" sz="1500" dirty="0"/>
              <a:t>, </a:t>
            </a:r>
            <a:r>
              <a:rPr lang="en-IN" sz="1500" b="1" dirty="0"/>
              <a:t>2023</a:t>
            </a:r>
            <a:r>
              <a:rPr lang="en-IN" sz="1500" dirty="0"/>
              <a:t>.</a:t>
            </a:r>
          </a:p>
          <a:p>
            <a:pPr marL="76200" indent="0">
              <a:buNone/>
            </a:pPr>
            <a:r>
              <a:rPr lang="en-IN" sz="1500" dirty="0"/>
              <a:t>[14] A. Das, S. Roy, and P. Kumar, “Deep learning–based traffic anomaly detection for intelligent transportation systems,” in </a:t>
            </a:r>
            <a:r>
              <a:rPr lang="en-IN" sz="1500" i="1" dirty="0"/>
              <a:t>Proc. IEEE International Conference on Machine Learning and Applications (ICMLA)</a:t>
            </a:r>
            <a:r>
              <a:rPr lang="en-IN" sz="1500" dirty="0"/>
              <a:t>, </a:t>
            </a:r>
            <a:r>
              <a:rPr lang="en-IN" sz="1500" b="1" dirty="0"/>
              <a:t>2023</a:t>
            </a:r>
            <a:r>
              <a:rPr lang="en-IN" sz="1500" dirty="0"/>
              <a:t>.</a:t>
            </a:r>
          </a:p>
          <a:p>
            <a:pPr marL="76200" indent="0">
              <a:buNone/>
            </a:pPr>
            <a:r>
              <a:rPr lang="en-US" sz="1500" dirty="0"/>
              <a:t>[15] Y. </a:t>
            </a:r>
            <a:r>
              <a:rPr lang="en-US" sz="1500" dirty="0" err="1"/>
              <a:t>Lv</a:t>
            </a:r>
            <a:r>
              <a:rPr lang="en-US" sz="1500" dirty="0"/>
              <a:t>, Y. Duan, W. Kang, Z. Li, and F.-Y. Wang,</a:t>
            </a:r>
            <a:br>
              <a:rPr lang="en-US" sz="1500" dirty="0"/>
            </a:br>
            <a:r>
              <a:rPr lang="en-US" sz="1500" dirty="0"/>
              <a:t>“Traffic flow prediction with big data: A deep learning approach,” </a:t>
            </a:r>
            <a:r>
              <a:rPr lang="en-US" sz="1500" i="1" dirty="0"/>
              <a:t>IEEE Transactions on Intelligent Transportation Systems</a:t>
            </a:r>
            <a:r>
              <a:rPr lang="en-US" sz="1500" dirty="0"/>
              <a:t>, </a:t>
            </a:r>
            <a:r>
              <a:rPr lang="en-US" sz="1500" b="1" dirty="0"/>
              <a:t>2023</a:t>
            </a:r>
            <a:r>
              <a:rPr lang="en-US" sz="1500" dirty="0"/>
              <a:t>.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3511539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</TotalTime>
  <Words>1804</Words>
  <Application>Microsoft Office PowerPoint</Application>
  <PresentationFormat>Widescreen</PresentationFormat>
  <Paragraphs>221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Cambria</vt:lpstr>
      <vt:lpstr>Verdana</vt:lpstr>
      <vt:lpstr>Wingdings</vt:lpstr>
      <vt:lpstr>Bioinformatics</vt:lpstr>
      <vt:lpstr>Smart Traffic Management System for Urban Congestion </vt:lpstr>
      <vt:lpstr>Problem Statement Number : SIH25050</vt:lpstr>
      <vt:lpstr>Content</vt:lpstr>
      <vt:lpstr>Abstract</vt:lpstr>
      <vt:lpstr>Literature Survey</vt:lpstr>
      <vt:lpstr>Literature Survey</vt:lpstr>
      <vt:lpstr>Literature Survey</vt:lpstr>
      <vt:lpstr>Objectives</vt:lpstr>
      <vt:lpstr>Drawbacks &amp; Overcome </vt:lpstr>
      <vt:lpstr>Proposed Method &amp; Feasibility Study</vt:lpstr>
      <vt:lpstr>Architecture Diagram</vt:lpstr>
      <vt:lpstr>Modules </vt:lpstr>
      <vt:lpstr>Hardware &amp; Software Details </vt:lpstr>
      <vt:lpstr>References (IEEE Paper format)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Syed Thousif</cp:lastModifiedBy>
  <cp:revision>55</cp:revision>
  <dcterms:modified xsi:type="dcterms:W3CDTF">2026-02-03T17:41:34Z</dcterms:modified>
</cp:coreProperties>
</file>